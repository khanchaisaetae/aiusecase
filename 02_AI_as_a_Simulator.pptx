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84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tile sx="100000" sy="10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8900" cy="6858000"/>
          </a:xfrm>
          <a:prstGeom prst="rect">
            <a:avLst/>
          </a:prstGeom>
        </p:spPr>
      </p:pic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0" y="0"/>
            <a:ext cx="3175000" cy="2857500"/>
          </a:xfrm>
          <a:prstGeom prst="rect">
            <a:avLst/>
          </a:prstGeom>
        </p:spPr>
      </p:pic>
      <p:pic>
        <p:nvPicPr>
          <p:cNvPr id="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0"/>
            <a:ext cx="2413000" cy="2222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0" y="4635500"/>
            <a:ext cx="1460500" cy="1460500"/>
          </a:xfrm>
          <a:custGeom>
            <a:avLst/>
            <a:gdLst/>
            <a:ahLst/>
            <a:cxnLst/>
            <a:rect l="l" t="t" r="r" b="b"/>
            <a:pathLst>
              <a:path w="1460500" h="1460500">
                <a:moveTo>
                  <a:pt x="730250" y="0"/>
                </a:moveTo>
                <a:lnTo>
                  <a:pt x="730250" y="0"/>
                </a:lnTo>
                <a:cubicBezTo>
                  <a:pt x="1130853" y="0"/>
                  <a:pt x="1460500" y="329647"/>
                  <a:pt x="1460500" y="730250"/>
                </a:cubicBezTo>
                <a:lnTo>
                  <a:pt x="1460500" y="730250"/>
                </a:lnTo>
                <a:cubicBezTo>
                  <a:pt x="1460500" y="1130853"/>
                  <a:pt x="1130853" y="1460500"/>
                  <a:pt x="730250" y="1460500"/>
                </a:cubicBezTo>
                <a:lnTo>
                  <a:pt x="730250" y="1460500"/>
                </a:lnTo>
                <a:cubicBezTo>
                  <a:pt x="329647" y="1460500"/>
                  <a:pt x="0" y="1130853"/>
                  <a:pt x="0" y="730250"/>
                </a:cubicBezTo>
                <a:lnTo>
                  <a:pt x="0" y="730250"/>
                </a:lnTo>
                <a:cubicBezTo>
                  <a:pt x="0" y="329647"/>
                  <a:pt x="329647" y="0"/>
                  <a:pt x="730250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4400" y="5486400"/>
            <a:ext cx="1778000" cy="7620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762000" y="1450380"/>
            <a:ext cx="2115741" cy="412750"/>
          </a:xfrm>
          <a:custGeom>
            <a:avLst/>
            <a:gdLst/>
            <a:ahLst/>
            <a:cxnLst/>
            <a:rect l="l" t="t" r="r" b="b"/>
            <a:pathLst>
              <a:path w="2115741" h="412750">
                <a:moveTo>
                  <a:pt x="206375" y="0"/>
                </a:moveTo>
                <a:lnTo>
                  <a:pt x="1909365" y="0"/>
                </a:lnTo>
                <a:cubicBezTo>
                  <a:pt x="2022579" y="0"/>
                  <a:pt x="2115741" y="93161"/>
                  <a:pt x="2115741" y="206375"/>
                </a:cubicBezTo>
                <a:lnTo>
                  <a:pt x="2115741" y="206375"/>
                </a:lnTo>
                <a:cubicBezTo>
                  <a:pt x="2115741" y="319589"/>
                  <a:pt x="2022579" y="412750"/>
                  <a:pt x="1909365" y="412750"/>
                </a:cubicBezTo>
                <a:lnTo>
                  <a:pt x="206375" y="412750"/>
                </a:lnTo>
                <a:cubicBezTo>
                  <a:pt x="93161" y="412750"/>
                  <a:pt x="0" y="319589"/>
                  <a:pt x="0" y="206375"/>
                </a:cubicBezTo>
                <a:lnTo>
                  <a:pt x="0" y="206375"/>
                </a:lnTo>
                <a:cubicBezTo>
                  <a:pt x="0" y="93161"/>
                  <a:pt x="93161" y="0"/>
                  <a:pt x="206375" y="0"/>
                </a:cubicBezTo>
                <a:close/>
              </a:path>
            </a:pathLst>
          </a:custGeom>
          <a:solidFill>
            <a:srgbClr val="FFFFFF">
              <a:alpha val="11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1216025" y="1545630"/>
            <a:ext cx="6984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5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ชั่วโมงที่ 2</a:t>
            </a:r>
            <a:endParaRPr lang="th" sz="1200" dirty="0"/>
          </a:p>
        </p:txBody>
      </p:sp>
      <p:sp>
        <p:nvSpPr>
          <p:cNvPr id="8" name="Text 3"/>
          <p:cNvSpPr/>
          <p:nvPr/>
        </p:nvSpPr>
        <p:spPr>
          <a:xfrm>
            <a:off x="1999952" y="1545630"/>
            <a:ext cx="8721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5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|</a:t>
            </a:r>
            <a:endParaRPr lang="th" sz="1200" dirty="0"/>
          </a:p>
        </p:txBody>
      </p:sp>
      <p:sp>
        <p:nvSpPr>
          <p:cNvPr id="9" name="Text 4"/>
          <p:cNvSpPr/>
          <p:nvPr/>
        </p:nvSpPr>
        <p:spPr>
          <a:xfrm>
            <a:off x="2172692" y="1545630"/>
            <a:ext cx="5081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5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Hour 2</a:t>
            </a:r>
            <a:endParaRPr lang="th" sz="1200" dirty="0"/>
          </a:p>
        </p:txBody>
      </p:sp>
      <p:sp>
        <p:nvSpPr>
          <p:cNvPr id="10" name="Text 5"/>
          <p:cNvSpPr/>
          <p:nvPr/>
        </p:nvSpPr>
        <p:spPr>
          <a:xfrm>
            <a:off x="958850" y="1574205"/>
            <a:ext cx="15557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5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</a:t>
            </a:r>
            <a:endParaRPr lang="th" sz="1200" dirty="0"/>
          </a:p>
        </p:txBody>
      </p:sp>
      <p:grpSp>
        <p:nvGrpSpPr>
          <p:cNvPr id="11" name="ma"/>
          <p:cNvGrpSpPr/>
          <p:nvPr/>
        </p:nvGrpSpPr>
        <p:grpSpPr>
          <a:xfrm>
            <a:off x="762000" y="2021880"/>
            <a:ext cx="5058470" cy="1502370"/>
            <a:chOff x="762000" y="2021880"/>
            <a:chExt cx="5058470" cy="1502370"/>
          </a:xfrm>
        </p:grpSpPr>
        <p:sp>
          <p:nvSpPr>
            <p:cNvPr id="12" name="Text 0"/>
            <p:cNvSpPr/>
            <p:nvPr/>
          </p:nvSpPr>
          <p:spPr>
            <a:xfrm>
              <a:off x="762000" y="2021880"/>
              <a:ext cx="5058470" cy="8318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4800" b="1" i="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AI as a Simulator</a:t>
              </a:r>
              <a:endParaRPr lang="th" sz="4800" dirty="0"/>
            </a:p>
          </p:txBody>
        </p:sp>
        <p:sp>
          <p:nvSpPr>
            <p:cNvPr id="13" name="Text 1"/>
            <p:cNvSpPr/>
            <p:nvPr/>
          </p:nvSpPr>
          <p:spPr>
            <a:xfrm>
              <a:off x="762000" y="2692400"/>
              <a:ext cx="450850" cy="8318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4800" b="1" i="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&amp;</a:t>
              </a:r>
              <a:endParaRPr lang="th" sz="4800" dirty="0"/>
            </a:p>
          </p:txBody>
        </p:sp>
        <p:sp>
          <p:nvSpPr>
            <p:cNvPr id="14" name="Text 2"/>
            <p:cNvSpPr/>
            <p:nvPr/>
          </p:nvSpPr>
          <p:spPr>
            <a:xfrm>
              <a:off x="1365052" y="2692400"/>
              <a:ext cx="4340523" cy="8318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4800" b="1" i="0" dirty="0">
                  <a:solidFill>
                    <a:srgbClr val="F59E0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Socratic Coach</a:t>
              </a:r>
              <a:endParaRPr lang="th" sz="4800" dirty="0"/>
            </a:p>
          </p:txBody>
        </p:sp>
      </p:grpSp>
      <p:sp>
        <p:nvSpPr>
          <p:cNvPr id="15" name="Text 6"/>
          <p:cNvSpPr/>
          <p:nvPr/>
        </p:nvSpPr>
        <p:spPr>
          <a:xfrm>
            <a:off x="762000" y="3642320"/>
            <a:ext cx="4718248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FFFFFF">
                    <a:alpha val="86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ออกแบบ AI ให้เป็นคู่ซ้อมจำลองสถานการณ์</a:t>
            </a:r>
            <a:endParaRPr lang="th" sz="2000" dirty="0"/>
          </a:p>
        </p:txBody>
      </p:sp>
      <p:sp>
        <p:nvSpPr>
          <p:cNvPr id="16" name="Text 7"/>
          <p:cNvSpPr/>
          <p:nvPr/>
        </p:nvSpPr>
        <p:spPr>
          <a:xfrm>
            <a:off x="762000" y="4010620"/>
            <a:ext cx="3989288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FFFFFF">
                    <a:alpha val="86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และโค้ชกระตุ้นคิดด้วยการตั้งคำถาม</a:t>
            </a:r>
            <a:endParaRPr lang="th" sz="2000" dirty="0"/>
          </a:p>
        </p:txBody>
      </p:sp>
      <p:sp>
        <p:nvSpPr>
          <p:cNvPr id="17" name="Shape 8"/>
          <p:cNvSpPr/>
          <p:nvPr/>
        </p:nvSpPr>
        <p:spPr>
          <a:xfrm>
            <a:off x="762000" y="465197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01" y="0"/>
                  <a:pt x="952500" y="8599"/>
                  <a:pt x="952500" y="19050"/>
                </a:cubicBezTo>
                <a:lnTo>
                  <a:pt x="952500" y="19050"/>
                </a:lnTo>
                <a:cubicBezTo>
                  <a:pt x="952500" y="29501"/>
                  <a:pt x="943901" y="38100"/>
                  <a:pt x="933450" y="38100"/>
                </a:cubicBezTo>
                <a:lnTo>
                  <a:pt x="19050" y="38100"/>
                </a:lnTo>
                <a:cubicBezTo>
                  <a:pt x="8599" y="38100"/>
                  <a:pt x="0" y="29501"/>
                  <a:pt x="0" y="19050"/>
                </a:cubicBezTo>
                <a:lnTo>
                  <a:pt x="0" y="19050"/>
                </a:lnTo>
                <a:cubicBezTo>
                  <a:pt x="0" y="8599"/>
                  <a:pt x="8599" y="0"/>
                  <a:pt x="19050" y="0"/>
                </a:cubicBezTo>
                <a:close/>
              </a:path>
            </a:pathLst>
          </a:custGeom>
          <a:solidFill>
            <a:srgbClr val="F59E0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9"/>
          <p:cNvSpPr/>
          <p:nvPr/>
        </p:nvSpPr>
        <p:spPr>
          <a:xfrm>
            <a:off x="762000" y="4982170"/>
            <a:ext cx="1373783" cy="425450"/>
          </a:xfrm>
          <a:custGeom>
            <a:avLst/>
            <a:gdLst/>
            <a:ahLst/>
            <a:cxnLst/>
            <a:rect l="l" t="t" r="r" b="b"/>
            <a:pathLst>
              <a:path w="1373783" h="425450">
                <a:moveTo>
                  <a:pt x="212725" y="0"/>
                </a:moveTo>
                <a:lnTo>
                  <a:pt x="1161058" y="0"/>
                </a:lnTo>
                <a:cubicBezTo>
                  <a:pt x="1277755" y="0"/>
                  <a:pt x="1373783" y="96027"/>
                  <a:pt x="1373783" y="212725"/>
                </a:cubicBezTo>
                <a:lnTo>
                  <a:pt x="1373783" y="212725"/>
                </a:lnTo>
                <a:cubicBezTo>
                  <a:pt x="1373783" y="329423"/>
                  <a:pt x="1277755" y="425450"/>
                  <a:pt x="1161058" y="425450"/>
                </a:cubicBezTo>
                <a:lnTo>
                  <a:pt x="212725" y="425450"/>
                </a:lnTo>
                <a:cubicBezTo>
                  <a:pt x="96027" y="425450"/>
                  <a:pt x="0" y="329423"/>
                  <a:pt x="0" y="212725"/>
                </a:cubicBezTo>
                <a:lnTo>
                  <a:pt x="0" y="212725"/>
                </a:lnTo>
                <a:cubicBezTo>
                  <a:pt x="0" y="96027"/>
                  <a:pt x="96027" y="0"/>
                  <a:pt x="212725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0"/>
          <p:cNvSpPr/>
          <p:nvPr/>
        </p:nvSpPr>
        <p:spPr>
          <a:xfrm>
            <a:off x="1252934" y="5090120"/>
            <a:ext cx="6732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15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Role-Play</a:t>
            </a:r>
            <a:endParaRPr lang="th" sz="1200" dirty="0"/>
          </a:p>
        </p:txBody>
      </p:sp>
      <p:sp>
        <p:nvSpPr>
          <p:cNvPr id="20" name="Text 11"/>
          <p:cNvSpPr/>
          <p:nvPr/>
        </p:nvSpPr>
        <p:spPr>
          <a:xfrm>
            <a:off x="971550" y="5112345"/>
            <a:ext cx="19248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15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</a:t>
            </a:r>
            <a:endParaRPr lang="th" sz="1200" dirty="0"/>
          </a:p>
        </p:txBody>
      </p:sp>
      <p:sp>
        <p:nvSpPr>
          <p:cNvPr id="21" name="Shape 12"/>
          <p:cNvSpPr/>
          <p:nvPr/>
        </p:nvSpPr>
        <p:spPr>
          <a:xfrm>
            <a:off x="2262783" y="4982170"/>
            <a:ext cx="1484809" cy="425450"/>
          </a:xfrm>
          <a:custGeom>
            <a:avLst/>
            <a:gdLst/>
            <a:ahLst/>
            <a:cxnLst/>
            <a:rect l="l" t="t" r="r" b="b"/>
            <a:pathLst>
              <a:path w="1484809" h="425450">
                <a:moveTo>
                  <a:pt x="212725" y="0"/>
                </a:moveTo>
                <a:lnTo>
                  <a:pt x="1272083" y="0"/>
                </a:lnTo>
                <a:cubicBezTo>
                  <a:pt x="1388781" y="0"/>
                  <a:pt x="1484809" y="96027"/>
                  <a:pt x="1484809" y="212725"/>
                </a:cubicBezTo>
                <a:lnTo>
                  <a:pt x="1484809" y="212725"/>
                </a:lnTo>
                <a:cubicBezTo>
                  <a:pt x="1484809" y="329423"/>
                  <a:pt x="1388781" y="425450"/>
                  <a:pt x="1272083" y="425450"/>
                </a:cubicBezTo>
                <a:lnTo>
                  <a:pt x="212725" y="425450"/>
                </a:lnTo>
                <a:cubicBezTo>
                  <a:pt x="96027" y="425450"/>
                  <a:pt x="0" y="329423"/>
                  <a:pt x="0" y="212725"/>
                </a:cubicBezTo>
                <a:lnTo>
                  <a:pt x="0" y="212725"/>
                </a:lnTo>
                <a:cubicBezTo>
                  <a:pt x="0" y="96027"/>
                  <a:pt x="96027" y="0"/>
                  <a:pt x="212725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3"/>
          <p:cNvSpPr/>
          <p:nvPr/>
        </p:nvSpPr>
        <p:spPr>
          <a:xfrm>
            <a:off x="2753717" y="5090120"/>
            <a:ext cx="78432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15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Simulation</a:t>
            </a:r>
            <a:endParaRPr lang="th" sz="1200" dirty="0"/>
          </a:p>
        </p:txBody>
      </p:sp>
      <p:sp>
        <p:nvSpPr>
          <p:cNvPr id="23" name="Text 14"/>
          <p:cNvSpPr/>
          <p:nvPr/>
        </p:nvSpPr>
        <p:spPr>
          <a:xfrm>
            <a:off x="2472333" y="5112345"/>
            <a:ext cx="19248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15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</a:t>
            </a:r>
            <a:endParaRPr lang="th" sz="1200" dirty="0"/>
          </a:p>
        </p:txBody>
      </p:sp>
      <p:sp>
        <p:nvSpPr>
          <p:cNvPr id="24" name="Shape 15"/>
          <p:cNvSpPr/>
          <p:nvPr/>
        </p:nvSpPr>
        <p:spPr>
          <a:xfrm>
            <a:off x="3874591" y="4982170"/>
            <a:ext cx="1693863" cy="425450"/>
          </a:xfrm>
          <a:custGeom>
            <a:avLst/>
            <a:gdLst/>
            <a:ahLst/>
            <a:cxnLst/>
            <a:rect l="l" t="t" r="r" b="b"/>
            <a:pathLst>
              <a:path w="1693863" h="425450">
                <a:moveTo>
                  <a:pt x="212725" y="0"/>
                </a:moveTo>
                <a:lnTo>
                  <a:pt x="1481137" y="0"/>
                </a:lnTo>
                <a:cubicBezTo>
                  <a:pt x="1597835" y="0"/>
                  <a:pt x="1693863" y="96027"/>
                  <a:pt x="1693863" y="212725"/>
                </a:cubicBezTo>
                <a:lnTo>
                  <a:pt x="1693863" y="212725"/>
                </a:lnTo>
                <a:cubicBezTo>
                  <a:pt x="1693863" y="329423"/>
                  <a:pt x="1597835" y="425450"/>
                  <a:pt x="1481137" y="425450"/>
                </a:cubicBezTo>
                <a:lnTo>
                  <a:pt x="212725" y="425450"/>
                </a:lnTo>
                <a:cubicBezTo>
                  <a:pt x="96027" y="425450"/>
                  <a:pt x="0" y="329423"/>
                  <a:pt x="0" y="212725"/>
                </a:cubicBezTo>
                <a:lnTo>
                  <a:pt x="0" y="212725"/>
                </a:lnTo>
                <a:cubicBezTo>
                  <a:pt x="0" y="96027"/>
                  <a:pt x="96027" y="0"/>
                  <a:pt x="212725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4289326" y="5090120"/>
            <a:ext cx="10695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15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Socratic Coach</a:t>
            </a:r>
            <a:endParaRPr lang="th" sz="1200" dirty="0"/>
          </a:p>
        </p:txBody>
      </p:sp>
      <p:sp>
        <p:nvSpPr>
          <p:cNvPr id="26" name="Text 17"/>
          <p:cNvSpPr/>
          <p:nvPr/>
        </p:nvSpPr>
        <p:spPr>
          <a:xfrm>
            <a:off x="4084141" y="5112345"/>
            <a:ext cx="11628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15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</a:t>
            </a:r>
            <a:endParaRPr lang="th" sz="1200" dirty="0"/>
          </a:p>
        </p:txBody>
      </p:sp>
      <p:sp>
        <p:nvSpPr>
          <p:cNvPr id="27" name="Text 18"/>
          <p:cNvSpPr/>
          <p:nvPr/>
        </p:nvSpPr>
        <p:spPr>
          <a:xfrm>
            <a:off x="762000" y="6115050"/>
            <a:ext cx="7755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kern="0" spc="20" dirty="0">
                <a:solidFill>
                  <a:srgbClr val="FFFFFF">
                    <a:alpha val="6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สไลด์ที่ 5–8</a:t>
            </a:r>
            <a:endParaRPr lang="th" sz="1200" dirty="0"/>
          </a:p>
        </p:txBody>
      </p:sp>
      <p:sp>
        <p:nvSpPr>
          <p:cNvPr id="28" name="Text 19"/>
          <p:cNvSpPr/>
          <p:nvPr/>
        </p:nvSpPr>
        <p:spPr>
          <a:xfrm>
            <a:off x="1621830" y="6115050"/>
            <a:ext cx="4345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kern="0" spc="20" dirty="0">
                <a:solidFill>
                  <a:srgbClr val="FFFFFF">
                    <a:alpha val="6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th" sz="1200" dirty="0"/>
          </a:p>
        </p:txBody>
      </p:sp>
      <p:sp>
        <p:nvSpPr>
          <p:cNvPr id="29" name="Text 20"/>
          <p:cNvSpPr/>
          <p:nvPr/>
        </p:nvSpPr>
        <p:spPr>
          <a:xfrm>
            <a:off x="1749524" y="6115050"/>
            <a:ext cx="28391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kern="0" spc="20" dirty="0">
                <a:solidFill>
                  <a:srgbClr val="FFFFFF">
                    <a:alpha val="6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Workshop 2: Playtesting &amp; Refinement</a:t>
            </a:r>
            <a:endParaRPr lang="th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508000" y="609600"/>
            <a:ext cx="5828605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3200" b="1" i="0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จากโจทย์นิ่งๆ สู่สถานการณ์มีชีวิต</a:t>
            </a:r>
            <a:endParaRPr lang="th" sz="3200" dirty="0"/>
          </a:p>
        </p:txBody>
      </p:sp>
      <p:sp>
        <p:nvSpPr>
          <p:cNvPr id="2" name="Shape 1"/>
          <p:cNvSpPr/>
          <p:nvPr/>
        </p:nvSpPr>
        <p:spPr>
          <a:xfrm>
            <a:off x="508000" y="122297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01" y="0"/>
                  <a:pt x="762000" y="8599"/>
                  <a:pt x="762000" y="19050"/>
                </a:cubicBezTo>
                <a:lnTo>
                  <a:pt x="762000" y="19050"/>
                </a:lnTo>
                <a:cubicBezTo>
                  <a:pt x="762000" y="29501"/>
                  <a:pt x="753401" y="38100"/>
                  <a:pt x="742950" y="38100"/>
                </a:cubicBezTo>
                <a:lnTo>
                  <a:pt x="19050" y="38100"/>
                </a:lnTo>
                <a:cubicBezTo>
                  <a:pt x="8599" y="38100"/>
                  <a:pt x="0" y="29501"/>
                  <a:pt x="0" y="19050"/>
                </a:cubicBezTo>
                <a:lnTo>
                  <a:pt x="0" y="19050"/>
                </a:lnTo>
                <a:cubicBezTo>
                  <a:pt x="0" y="8599"/>
                  <a:pt x="8599" y="0"/>
                  <a:pt x="19050" y="0"/>
                </a:cubicBezTo>
                <a:close/>
              </a:path>
            </a:pathLst>
          </a:custGeom>
          <a:solidFill>
            <a:srgbClr val="F59E0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2"/>
          <p:cNvSpPr/>
          <p:nvPr/>
        </p:nvSpPr>
        <p:spPr>
          <a:xfrm>
            <a:off x="727770" y="381000"/>
            <a:ext cx="5646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SLIDE 5</a:t>
            </a:r>
            <a:endParaRPr lang="th" sz="1200" dirty="0"/>
          </a:p>
        </p:txBody>
      </p:sp>
      <p:sp>
        <p:nvSpPr>
          <p:cNvPr id="4" name="Text 3"/>
          <p:cNvSpPr/>
          <p:nvPr/>
        </p:nvSpPr>
        <p:spPr>
          <a:xfrm>
            <a:off x="1379240" y="381000"/>
            <a:ext cx="447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th" sz="1200" dirty="0"/>
          </a:p>
        </p:txBody>
      </p:sp>
      <p:sp>
        <p:nvSpPr>
          <p:cNvPr id="5" name="Text 4"/>
          <p:cNvSpPr/>
          <p:nvPr/>
        </p:nvSpPr>
        <p:spPr>
          <a:xfrm>
            <a:off x="1510705" y="381000"/>
            <a:ext cx="19715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ROLE-PLAY &amp; SIMULATION</a:t>
            </a:r>
            <a:endParaRPr lang="th" sz="1200" dirty="0"/>
          </a:p>
        </p:txBody>
      </p:sp>
      <p:sp>
        <p:nvSpPr>
          <p:cNvPr id="6" name="Text 5"/>
          <p:cNvSpPr/>
          <p:nvPr/>
        </p:nvSpPr>
        <p:spPr>
          <a:xfrm>
            <a:off x="508000" y="409575"/>
            <a:ext cx="14357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</a:t>
            </a:r>
            <a:endParaRPr lang="th" sz="1100" dirty="0"/>
          </a:p>
        </p:txBody>
      </p:sp>
      <p:sp>
        <p:nvSpPr>
          <p:cNvPr id="7" name="CSS box-shadow background"/>
          <p:cNvSpPr/>
          <p:nvPr/>
        </p:nvSpPr>
        <p:spPr>
          <a:xfrm>
            <a:off x="5746750" y="3175000"/>
            <a:ext cx="698500" cy="698500"/>
          </a:xfrm>
          <a:custGeom>
            <a:avLst/>
            <a:gdLst/>
            <a:ahLst/>
            <a:cxnLst/>
            <a:rect l="l" t="t" r="r" b="b"/>
            <a:pathLst>
              <a:path w="698500" h="698500">
                <a:moveTo>
                  <a:pt x="349250" y="0"/>
                </a:moveTo>
                <a:lnTo>
                  <a:pt x="349250" y="0"/>
                </a:lnTo>
                <a:cubicBezTo>
                  <a:pt x="540843" y="0"/>
                  <a:pt x="698500" y="157657"/>
                  <a:pt x="698500" y="349250"/>
                </a:cubicBezTo>
                <a:lnTo>
                  <a:pt x="698500" y="349250"/>
                </a:lnTo>
                <a:cubicBezTo>
                  <a:pt x="698500" y="540843"/>
                  <a:pt x="540843" y="698500"/>
                  <a:pt x="349250" y="698500"/>
                </a:cubicBezTo>
                <a:lnTo>
                  <a:pt x="349250" y="698500"/>
                </a:lnTo>
                <a:cubicBezTo>
                  <a:pt x="157657" y="698500"/>
                  <a:pt x="0" y="540843"/>
                  <a:pt x="0" y="349250"/>
                </a:cubicBezTo>
                <a:lnTo>
                  <a:pt x="0" y="349250"/>
                </a:lnTo>
                <a:cubicBezTo>
                  <a:pt x="0" y="157657"/>
                  <a:pt x="157657" y="0"/>
                  <a:pt x="349250" y="0"/>
                </a:cubicBezTo>
                <a:close/>
              </a:path>
            </a:pathLst>
          </a:custGeom>
          <a:solidFill>
            <a:srgbClr val="1E3A8A"/>
          </a:solidFill>
          <a:ln w="12700">
            <a:prstDash val="solid"/>
          </a:ln>
          <a:effectLst>
            <a:outerShdw blurRad="177800" dist="76200" dir="5400000" algn="bl" rotWithShape="0">
              <a:srgbClr val="1E3A8A">
                <a:alpha val="27843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7"/>
          <p:cNvSpPr/>
          <p:nvPr/>
        </p:nvSpPr>
        <p:spPr>
          <a:xfrm>
            <a:off x="5979319" y="3384550"/>
            <a:ext cx="23336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1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</a:t>
            </a:r>
            <a:endParaRPr lang="th" sz="2100" dirty="0"/>
          </a:p>
        </p:txBody>
      </p:sp>
      <p:sp>
        <p:nvSpPr>
          <p:cNvPr id="9" name="CSS box-shadow background"/>
          <p:cNvSpPr/>
          <p:nvPr/>
        </p:nvSpPr>
        <p:spPr>
          <a:xfrm>
            <a:off x="508000" y="1574800"/>
            <a:ext cx="4826000" cy="3898900"/>
          </a:xfrm>
          <a:custGeom>
            <a:avLst/>
            <a:gdLst/>
            <a:ahLst/>
            <a:cxnLst/>
            <a:rect l="l" t="t" r="r" b="b"/>
            <a:pathLst>
              <a:path w="4826000" h="3898900">
                <a:moveTo>
                  <a:pt x="127000" y="0"/>
                </a:moveTo>
                <a:lnTo>
                  <a:pt x="4699000" y="0"/>
                </a:lnTo>
                <a:cubicBezTo>
                  <a:pt x="4768670" y="0"/>
                  <a:pt x="4826000" y="57330"/>
                  <a:pt x="4826000" y="127000"/>
                </a:cubicBezTo>
                <a:lnTo>
                  <a:pt x="4826000" y="3771900"/>
                </a:lnTo>
                <a:cubicBezTo>
                  <a:pt x="4826000" y="3841570"/>
                  <a:pt x="4768670" y="3898900"/>
                  <a:pt x="4699000" y="3898900"/>
                </a:cubicBezTo>
                <a:lnTo>
                  <a:pt x="127000" y="3898900"/>
                </a:lnTo>
                <a:cubicBezTo>
                  <a:pt x="57330" y="3898900"/>
                  <a:pt x="0" y="3841570"/>
                  <a:pt x="0" y="37719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63500" dir="5400000" algn="bl" rotWithShape="0">
              <a:srgbClr val="16203A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574800"/>
            <a:ext cx="4826000" cy="3898900"/>
          </a:xfrm>
          <a:prstGeom prst="rect">
            <a:avLst/>
          </a:prstGeom>
        </p:spPr>
      </p:pic>
      <p:sp>
        <p:nvSpPr>
          <p:cNvPr id="11" name="Shape 9"/>
          <p:cNvSpPr/>
          <p:nvPr/>
        </p:nvSpPr>
        <p:spPr>
          <a:xfrm>
            <a:off x="806450" y="1841500"/>
            <a:ext cx="1163935" cy="349250"/>
          </a:xfrm>
          <a:custGeom>
            <a:avLst/>
            <a:gdLst/>
            <a:ahLst/>
            <a:cxnLst/>
            <a:rect l="l" t="t" r="r" b="b"/>
            <a:pathLst>
              <a:path w="1163935" h="349250">
                <a:moveTo>
                  <a:pt x="174625" y="0"/>
                </a:moveTo>
                <a:lnTo>
                  <a:pt x="989310" y="0"/>
                </a:lnTo>
                <a:cubicBezTo>
                  <a:pt x="1085107" y="0"/>
                  <a:pt x="1163935" y="78829"/>
                  <a:pt x="1163935" y="174625"/>
                </a:cubicBezTo>
                <a:lnTo>
                  <a:pt x="1163935" y="174625"/>
                </a:lnTo>
                <a:cubicBezTo>
                  <a:pt x="1163935" y="270421"/>
                  <a:pt x="1085107" y="349250"/>
                  <a:pt x="989310" y="349250"/>
                </a:cubicBezTo>
                <a:lnTo>
                  <a:pt x="174625" y="349250"/>
                </a:lnTo>
                <a:cubicBezTo>
                  <a:pt x="78829" y="349250"/>
                  <a:pt x="0" y="270421"/>
                  <a:pt x="0" y="174625"/>
                </a:cubicBezTo>
                <a:lnTo>
                  <a:pt x="0" y="174625"/>
                </a:lnTo>
                <a:cubicBezTo>
                  <a:pt x="0" y="78829"/>
                  <a:pt x="78829" y="0"/>
                  <a:pt x="174625" y="0"/>
                </a:cubicBezTo>
                <a:close/>
              </a:path>
            </a:pathLst>
          </a:custGeom>
          <a:solidFill>
            <a:srgbClr val="DC6B5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1550" y="1905000"/>
            <a:ext cx="83373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ข้อจำกัดเดิม</a:t>
            </a:r>
            <a:endParaRPr lang="th" sz="1200" dirty="0"/>
          </a:p>
        </p:txBody>
      </p:sp>
      <p:sp>
        <p:nvSpPr>
          <p:cNvPr id="13" name="Shape 11"/>
          <p:cNvSpPr/>
          <p:nvPr/>
        </p:nvSpPr>
        <p:spPr>
          <a:xfrm>
            <a:off x="806450" y="2317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603" y="0"/>
                  <a:pt x="457200" y="51597"/>
                  <a:pt x="457200" y="114300"/>
                </a:cubicBezTo>
                <a:lnTo>
                  <a:pt x="457200" y="342900"/>
                </a:lnTo>
                <a:cubicBezTo>
                  <a:pt x="457200" y="405603"/>
                  <a:pt x="405603" y="457200"/>
                  <a:pt x="342900" y="457200"/>
                </a:cubicBezTo>
                <a:lnTo>
                  <a:pt x="114300" y="457200"/>
                </a:lnTo>
                <a:cubicBezTo>
                  <a:pt x="51597" y="457200"/>
                  <a:pt x="0" y="405603"/>
                  <a:pt x="0" y="342900"/>
                </a:cubicBezTo>
                <a:lnTo>
                  <a:pt x="0" y="114300"/>
                </a:lnTo>
                <a:cubicBezTo>
                  <a:pt x="0" y="51597"/>
                  <a:pt x="51597" y="0"/>
                  <a:pt x="114300" y="0"/>
                </a:cubicBezTo>
                <a:close/>
              </a:path>
            </a:pathLst>
          </a:custGeom>
          <a:solidFill>
            <a:srgbClr val="FBE9E5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58850" y="2438400"/>
            <a:ext cx="1524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1" i="0" dirty="0">
                <a:solidFill>
                  <a:srgbClr val="DC6B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</a:t>
            </a:r>
            <a:endParaRPr lang="th" sz="1600" dirty="0"/>
          </a:p>
        </p:txBody>
      </p:sp>
      <p:sp>
        <p:nvSpPr>
          <p:cNvPr id="15" name="Text 13"/>
          <p:cNvSpPr/>
          <p:nvPr/>
        </p:nvSpPr>
        <p:spPr>
          <a:xfrm>
            <a:off x="806450" y="2876550"/>
            <a:ext cx="3315097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Case Study แบบข้อความนิ่งๆ</a:t>
            </a:r>
            <a:endParaRPr lang="th" sz="2000" dirty="0"/>
          </a:p>
        </p:txBody>
      </p:sp>
      <p:sp>
        <p:nvSpPr>
          <p:cNvPr id="16" name="Text 14"/>
          <p:cNvSpPr/>
          <p:nvPr/>
        </p:nvSpPr>
        <p:spPr>
          <a:xfrm>
            <a:off x="806450" y="3302000"/>
            <a:ext cx="387240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ให้ AI คิด Case Study เป็นข้อความในใบงาน</a:t>
            </a:r>
            <a:endParaRPr lang="th" sz="1600" dirty="0"/>
          </a:p>
        </p:txBody>
      </p:sp>
      <p:sp>
        <p:nvSpPr>
          <p:cNvPr id="17" name="Text 15"/>
          <p:cNvSpPr/>
          <p:nvPr/>
        </p:nvSpPr>
        <p:spPr>
          <a:xfrm>
            <a:off x="806450" y="3781028"/>
            <a:ext cx="104775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1" i="0" dirty="0">
                <a:solidFill>
                  <a:srgbClr val="DC6B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</a:t>
            </a:r>
            <a:endParaRPr lang="th" sz="1100" dirty="0"/>
          </a:p>
        </p:txBody>
      </p:sp>
      <p:sp>
        <p:nvSpPr>
          <p:cNvPr id="18" name="Text 16"/>
          <p:cNvSpPr/>
          <p:nvPr/>
        </p:nvSpPr>
        <p:spPr>
          <a:xfrm>
            <a:off x="1047750" y="3736578"/>
            <a:ext cx="2990751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ผู้เรียนได้แค่อ่าน ไม่ได้ตัดสินใจเอง</a:t>
            </a:r>
            <a:endParaRPr lang="th" sz="1600" dirty="0"/>
          </a:p>
        </p:txBody>
      </p:sp>
      <p:sp>
        <p:nvSpPr>
          <p:cNvPr id="19" name="Text 17"/>
          <p:cNvSpPr/>
          <p:nvPr/>
        </p:nvSpPr>
        <p:spPr>
          <a:xfrm>
            <a:off x="806450" y="4179788"/>
            <a:ext cx="104775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1" i="0" dirty="0">
                <a:solidFill>
                  <a:srgbClr val="DC6B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</a:t>
            </a:r>
            <a:endParaRPr lang="th" sz="1100" dirty="0"/>
          </a:p>
        </p:txBody>
      </p:sp>
      <p:sp>
        <p:nvSpPr>
          <p:cNvPr id="20" name="Text 18"/>
          <p:cNvSpPr/>
          <p:nvPr/>
        </p:nvSpPr>
        <p:spPr>
          <a:xfrm>
            <a:off x="1047750" y="4135338"/>
            <a:ext cx="276354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โจทย์คงที่ ไม่มีปฏิกิริยาตอบกลับ</a:t>
            </a:r>
            <a:endParaRPr lang="th" sz="1600" dirty="0"/>
          </a:p>
        </p:txBody>
      </p:sp>
      <p:sp>
        <p:nvSpPr>
          <p:cNvPr id="21" name="Text 19"/>
          <p:cNvSpPr/>
          <p:nvPr/>
        </p:nvSpPr>
        <p:spPr>
          <a:xfrm>
            <a:off x="806450" y="4578548"/>
            <a:ext cx="104775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1" i="0" dirty="0">
                <a:solidFill>
                  <a:srgbClr val="DC6B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</a:t>
            </a:r>
            <a:endParaRPr lang="th" sz="1100" dirty="0"/>
          </a:p>
        </p:txBody>
      </p:sp>
      <p:sp>
        <p:nvSpPr>
          <p:cNvPr id="22" name="Text 20"/>
          <p:cNvSpPr/>
          <p:nvPr/>
        </p:nvSpPr>
        <p:spPr>
          <a:xfrm>
            <a:off x="1047750" y="4534098"/>
            <a:ext cx="228550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ไม่รู้ต้นทุนของการเลือกผิด</a:t>
            </a:r>
            <a:endParaRPr lang="th" sz="1600" dirty="0"/>
          </a:p>
        </p:txBody>
      </p:sp>
      <p:sp>
        <p:nvSpPr>
          <p:cNvPr id="23" name="CSS box-shadow background"/>
          <p:cNvSpPr/>
          <p:nvPr/>
        </p:nvSpPr>
        <p:spPr>
          <a:xfrm>
            <a:off x="6858000" y="1574800"/>
            <a:ext cx="4826000" cy="3898900"/>
          </a:xfrm>
          <a:custGeom>
            <a:avLst/>
            <a:gdLst/>
            <a:ahLst/>
            <a:cxnLst/>
            <a:rect l="l" t="t" r="r" b="b"/>
            <a:pathLst>
              <a:path w="4826000" h="3898900">
                <a:moveTo>
                  <a:pt x="127000" y="0"/>
                </a:moveTo>
                <a:lnTo>
                  <a:pt x="4699000" y="0"/>
                </a:lnTo>
                <a:cubicBezTo>
                  <a:pt x="4768670" y="0"/>
                  <a:pt x="4826000" y="57330"/>
                  <a:pt x="4826000" y="127000"/>
                </a:cubicBezTo>
                <a:lnTo>
                  <a:pt x="4826000" y="3771900"/>
                </a:lnTo>
                <a:cubicBezTo>
                  <a:pt x="4826000" y="3841570"/>
                  <a:pt x="4768670" y="3898900"/>
                  <a:pt x="4699000" y="3898900"/>
                </a:cubicBezTo>
                <a:lnTo>
                  <a:pt x="127000" y="3898900"/>
                </a:lnTo>
                <a:cubicBezTo>
                  <a:pt x="57330" y="3898900"/>
                  <a:pt x="0" y="3841570"/>
                  <a:pt x="0" y="37719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63500" dir="5400000" algn="bl" rotWithShape="0">
              <a:srgbClr val="16203A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574800"/>
            <a:ext cx="4826000" cy="38989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156450" y="1841500"/>
            <a:ext cx="1176834" cy="349250"/>
          </a:xfrm>
          <a:custGeom>
            <a:avLst/>
            <a:gdLst/>
            <a:ahLst/>
            <a:cxnLst/>
            <a:rect l="l" t="t" r="r" b="b"/>
            <a:pathLst>
              <a:path w="1176834" h="349250">
                <a:moveTo>
                  <a:pt x="174625" y="0"/>
                </a:moveTo>
                <a:lnTo>
                  <a:pt x="1002209" y="0"/>
                </a:lnTo>
                <a:cubicBezTo>
                  <a:pt x="1098005" y="0"/>
                  <a:pt x="1176833" y="78829"/>
                  <a:pt x="1176833" y="174625"/>
                </a:cubicBezTo>
                <a:lnTo>
                  <a:pt x="1176833" y="174625"/>
                </a:lnTo>
                <a:cubicBezTo>
                  <a:pt x="1176833" y="270421"/>
                  <a:pt x="1098005" y="349250"/>
                  <a:pt x="1002209" y="349250"/>
                </a:cubicBezTo>
                <a:lnTo>
                  <a:pt x="174625" y="349250"/>
                </a:lnTo>
                <a:cubicBezTo>
                  <a:pt x="78829" y="349250"/>
                  <a:pt x="0" y="270421"/>
                  <a:pt x="0" y="174625"/>
                </a:cubicBezTo>
                <a:lnTo>
                  <a:pt x="0" y="174625"/>
                </a:lnTo>
                <a:cubicBezTo>
                  <a:pt x="0" y="78829"/>
                  <a:pt x="78829" y="0"/>
                  <a:pt x="174625" y="0"/>
                </a:cubicBezTo>
                <a:close/>
              </a:path>
            </a:pathLst>
          </a:custGeom>
          <a:solidFill>
            <a:srgbClr val="F59E0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321550" y="1905000"/>
            <a:ext cx="8466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0" dirty="0">
                <a:solidFill>
                  <a:srgbClr val="3B26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แนวทางใหม่</a:t>
            </a:r>
            <a:endParaRPr lang="th" sz="1200" dirty="0"/>
          </a:p>
        </p:txBody>
      </p:sp>
      <p:sp>
        <p:nvSpPr>
          <p:cNvPr id="27" name="Shape 24"/>
          <p:cNvSpPr/>
          <p:nvPr/>
        </p:nvSpPr>
        <p:spPr>
          <a:xfrm>
            <a:off x="7156450" y="2317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603" y="0"/>
                  <a:pt x="457200" y="51597"/>
                  <a:pt x="457200" y="114300"/>
                </a:cubicBezTo>
                <a:lnTo>
                  <a:pt x="457200" y="342900"/>
                </a:lnTo>
                <a:cubicBezTo>
                  <a:pt x="457200" y="405603"/>
                  <a:pt x="405603" y="457200"/>
                  <a:pt x="342900" y="457200"/>
                </a:cubicBezTo>
                <a:lnTo>
                  <a:pt x="114300" y="457200"/>
                </a:lnTo>
                <a:cubicBezTo>
                  <a:pt x="51597" y="457200"/>
                  <a:pt x="0" y="405603"/>
                  <a:pt x="0" y="342900"/>
                </a:cubicBezTo>
                <a:lnTo>
                  <a:pt x="0" y="114300"/>
                </a:lnTo>
                <a:cubicBezTo>
                  <a:pt x="0" y="51597"/>
                  <a:pt x="51597" y="0"/>
                  <a:pt x="114300" y="0"/>
                </a:cubicBezTo>
                <a:close/>
              </a:path>
            </a:pathLst>
          </a:custGeom>
          <a:solidFill>
            <a:srgbClr val="FDE8C0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258050" y="2438400"/>
            <a:ext cx="254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1" i="0" dirty="0">
                <a:solidFill>
                  <a:srgbClr val="B06E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</a:t>
            </a:r>
            <a:endParaRPr lang="th" sz="1600" dirty="0"/>
          </a:p>
        </p:txBody>
      </p:sp>
      <p:sp>
        <p:nvSpPr>
          <p:cNvPr id="29" name="Text 26"/>
          <p:cNvSpPr/>
          <p:nvPr/>
        </p:nvSpPr>
        <p:spPr>
          <a:xfrm>
            <a:off x="7156450" y="2876550"/>
            <a:ext cx="334516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Gemini ในร่าง “มนุษย์จำลอง”</a:t>
            </a:r>
            <a:endParaRPr lang="th" sz="2000" dirty="0"/>
          </a:p>
        </p:txBody>
      </p:sp>
      <p:sp>
        <p:nvSpPr>
          <p:cNvPr id="30" name="Text 27"/>
          <p:cNvSpPr/>
          <p:nvPr/>
        </p:nvSpPr>
        <p:spPr>
          <a:xfrm>
            <a:off x="7156450" y="3302000"/>
            <a:ext cx="3759002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ให้ AI สวมบทบาท แล้วผู้เรียนฝึกโต้ตอบด้วย</a:t>
            </a:r>
            <a:endParaRPr lang="th" sz="1600" dirty="0"/>
          </a:p>
        </p:txBody>
      </p:sp>
      <p:sp>
        <p:nvSpPr>
          <p:cNvPr id="31" name="Text 28"/>
          <p:cNvSpPr/>
          <p:nvPr/>
        </p:nvSpPr>
        <p:spPr>
          <a:xfrm>
            <a:off x="7156450" y="3781028"/>
            <a:ext cx="122238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1" i="0" dirty="0">
                <a:solidFill>
                  <a:srgbClr val="B06E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</a:t>
            </a:r>
            <a:endParaRPr lang="th" sz="1100" dirty="0"/>
          </a:p>
        </p:txBody>
      </p:sp>
      <p:sp>
        <p:nvSpPr>
          <p:cNvPr id="32" name="Text 29"/>
          <p:cNvSpPr/>
          <p:nvPr/>
        </p:nvSpPr>
        <p:spPr>
          <a:xfrm>
            <a:off x="7397750" y="3736578"/>
            <a:ext cx="2501106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เล่นเป็นตัวละคร มีอารมณ์</a:t>
            </a:r>
            <a:endParaRPr lang="th" sz="1600" dirty="0"/>
          </a:p>
        </p:txBody>
      </p:sp>
      <p:sp>
        <p:nvSpPr>
          <p:cNvPr id="33" name="Text 30"/>
          <p:cNvSpPr/>
          <p:nvPr/>
        </p:nvSpPr>
        <p:spPr>
          <a:xfrm>
            <a:off x="7156450" y="4179788"/>
            <a:ext cx="122238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1" i="0" dirty="0">
                <a:solidFill>
                  <a:srgbClr val="B06E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</a:t>
            </a:r>
            <a:endParaRPr lang="th" sz="1100" dirty="0"/>
          </a:p>
        </p:txBody>
      </p:sp>
      <p:sp>
        <p:nvSpPr>
          <p:cNvPr id="34" name="Text 31"/>
          <p:cNvSpPr/>
          <p:nvPr/>
        </p:nvSpPr>
        <p:spPr>
          <a:xfrm>
            <a:off x="7397750" y="4135338"/>
            <a:ext cx="286891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ผู้เรียนเลือกคำถามและรับผลทันที</a:t>
            </a:r>
            <a:endParaRPr lang="th" sz="1600" dirty="0"/>
          </a:p>
        </p:txBody>
      </p:sp>
      <p:sp>
        <p:nvSpPr>
          <p:cNvPr id="35" name="Text 32"/>
          <p:cNvSpPr/>
          <p:nvPr/>
        </p:nvSpPr>
        <p:spPr>
          <a:xfrm>
            <a:off x="7156450" y="4578548"/>
            <a:ext cx="122238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1" i="0" dirty="0">
                <a:solidFill>
                  <a:srgbClr val="B06E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</a:t>
            </a:r>
            <a:endParaRPr lang="th" sz="1100" dirty="0"/>
          </a:p>
        </p:txBody>
      </p:sp>
      <p:sp>
        <p:nvSpPr>
          <p:cNvPr id="36" name="Text 33"/>
          <p:cNvSpPr/>
          <p:nvPr/>
        </p:nvSpPr>
        <p:spPr>
          <a:xfrm>
            <a:off x="7397750" y="4534098"/>
            <a:ext cx="232618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ซ้อมซ้ำได้ก่อนลงสนามจริง</a:t>
            </a:r>
            <a:endParaRPr lang="th" sz="1600" dirty="0"/>
          </a:p>
        </p:txBody>
      </p:sp>
      <p:sp>
        <p:nvSpPr>
          <p:cNvPr id="37" name="Shape 34"/>
          <p:cNvSpPr/>
          <p:nvPr/>
        </p:nvSpPr>
        <p:spPr>
          <a:xfrm>
            <a:off x="508000" y="5651500"/>
            <a:ext cx="11176000" cy="762000"/>
          </a:xfrm>
          <a:custGeom>
            <a:avLst/>
            <a:gdLst/>
            <a:ahLst/>
            <a:cxnLst/>
            <a:rect l="l" t="t" r="r" b="b"/>
            <a:pathLst>
              <a:path w="11176000" h="762000">
                <a:moveTo>
                  <a:pt x="127000" y="0"/>
                </a:moveTo>
                <a:lnTo>
                  <a:pt x="11049000" y="0"/>
                </a:lnTo>
                <a:cubicBezTo>
                  <a:pt x="11118670" y="0"/>
                  <a:pt x="11176000" y="57330"/>
                  <a:pt x="11176000" y="127000"/>
                </a:cubicBezTo>
                <a:lnTo>
                  <a:pt x="11176000" y="635000"/>
                </a:lnTo>
                <a:cubicBezTo>
                  <a:pt x="11176000" y="704670"/>
                  <a:pt x="11118670" y="762000"/>
                  <a:pt x="11049000" y="762000"/>
                </a:cubicBezTo>
                <a:lnTo>
                  <a:pt x="127000" y="762000"/>
                </a:lnTo>
                <a:cubicBezTo>
                  <a:pt x="57330" y="762000"/>
                  <a:pt x="0" y="704670"/>
                  <a:pt x="0" y="6350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DBE4F8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508000" y="5651500"/>
            <a:ext cx="127000" cy="762000"/>
          </a:xfrm>
          <a:custGeom>
            <a:avLst/>
            <a:gdLst/>
            <a:ahLst/>
            <a:cxnLst/>
            <a:rect l="l" t="t" r="r" b="b"/>
            <a:pathLst>
              <a:path w="127000" h="762000">
                <a:moveTo>
                  <a:pt x="0" y="635000"/>
                </a:move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lnTo>
                  <a:pt x="127000" y="0"/>
                </a:lnTo>
                <a:cubicBezTo>
                  <a:pt x="92165" y="0"/>
                  <a:pt x="63500" y="57330"/>
                  <a:pt x="63500" y="127000"/>
                </a:cubicBezTo>
                <a:lnTo>
                  <a:pt x="63500" y="635000"/>
                </a:lnTo>
                <a:cubicBezTo>
                  <a:pt x="63500" y="704670"/>
                  <a:pt x="92165" y="762000"/>
                  <a:pt x="127000" y="762000"/>
                </a:cubicBezTo>
                <a:lnTo>
                  <a:pt x="127000" y="762000"/>
                </a:lnTo>
                <a:cubicBezTo>
                  <a:pt x="57330" y="762000"/>
                  <a:pt x="0" y="704670"/>
                  <a:pt x="0" y="635000"/>
                </a:cubicBezTo>
                <a:close/>
              </a:path>
            </a:pathLst>
          </a:custGeom>
          <a:solidFill>
            <a:srgbClr val="1E3A8A"/>
          </a:solidFill>
          <a:ln w="12700"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850900" y="5899150"/>
            <a:ext cx="254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</a:t>
            </a:r>
            <a:endParaRPr lang="th" sz="2000" dirty="0"/>
          </a:p>
        </p:txBody>
      </p:sp>
      <p:grpSp>
        <p:nvGrpSpPr>
          <p:cNvPr id="40" name="ma"/>
          <p:cNvGrpSpPr/>
          <p:nvPr/>
        </p:nvGrpSpPr>
        <p:grpSpPr>
          <a:xfrm>
            <a:off x="1282700" y="5890220"/>
            <a:ext cx="7559675" cy="273050"/>
            <a:chOff x="1282700" y="5890220"/>
            <a:chExt cx="7559675" cy="273050"/>
          </a:xfrm>
        </p:grpSpPr>
        <p:sp>
          <p:nvSpPr>
            <p:cNvPr id="41" name="Text 0"/>
            <p:cNvSpPr/>
            <p:nvPr/>
          </p:nvSpPr>
          <p:spPr>
            <a:xfrm>
              <a:off x="1282700" y="5890220"/>
              <a:ext cx="1709737" cy="2730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0F1E4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เป้าหมาย: ให้ผู้เรียน</a:t>
              </a:r>
              <a:endParaRPr lang="th" sz="1600" dirty="0"/>
            </a:p>
          </p:txBody>
        </p:sp>
        <p:sp>
          <p:nvSpPr>
            <p:cNvPr id="42" name="Text 1"/>
            <p:cNvSpPr/>
            <p:nvPr/>
          </p:nvSpPr>
          <p:spPr>
            <a:xfrm>
              <a:off x="4266109" y="5890220"/>
              <a:ext cx="4576266" cy="2730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0F1E4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ในพื้นที่ปลอดภัย แทนการอ่านเฉลยที่เขียนไว้ล่วงหน้า</a:t>
              </a:r>
              <a:endParaRPr lang="th" sz="1600" dirty="0"/>
            </a:p>
          </p:txBody>
        </p:sp>
        <p:sp>
          <p:nvSpPr>
            <p:cNvPr id="43" name="Text 2"/>
            <p:cNvSpPr/>
            <p:nvPr/>
          </p:nvSpPr>
          <p:spPr>
            <a:xfrm>
              <a:off x="3045222" y="5890220"/>
              <a:ext cx="1168102" cy="2730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0F1E4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“ฝึกตัดสินใจ”</a:t>
              </a:r>
              <a:endParaRPr lang="th" sz="16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508000" y="609600"/>
            <a:ext cx="5804098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3200" b="1" i="0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ตัวอย่าง Use Case ตามกลุ่มคณะ</a:t>
            </a:r>
            <a:endParaRPr lang="th" sz="3200" dirty="0"/>
          </a:p>
        </p:txBody>
      </p:sp>
      <p:sp>
        <p:nvSpPr>
          <p:cNvPr id="2" name="Shape 1"/>
          <p:cNvSpPr/>
          <p:nvPr/>
        </p:nvSpPr>
        <p:spPr>
          <a:xfrm>
            <a:off x="508000" y="122297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01" y="0"/>
                  <a:pt x="762000" y="8599"/>
                  <a:pt x="762000" y="19050"/>
                </a:cubicBezTo>
                <a:lnTo>
                  <a:pt x="762000" y="19050"/>
                </a:lnTo>
                <a:cubicBezTo>
                  <a:pt x="762000" y="29501"/>
                  <a:pt x="753401" y="38100"/>
                  <a:pt x="742950" y="38100"/>
                </a:cubicBezTo>
                <a:lnTo>
                  <a:pt x="19050" y="38100"/>
                </a:lnTo>
                <a:cubicBezTo>
                  <a:pt x="8599" y="38100"/>
                  <a:pt x="0" y="29501"/>
                  <a:pt x="0" y="19050"/>
                </a:cubicBezTo>
                <a:lnTo>
                  <a:pt x="0" y="19050"/>
                </a:lnTo>
                <a:cubicBezTo>
                  <a:pt x="0" y="8599"/>
                  <a:pt x="8599" y="0"/>
                  <a:pt x="19050" y="0"/>
                </a:cubicBezTo>
                <a:close/>
              </a:path>
            </a:pathLst>
          </a:custGeom>
          <a:solidFill>
            <a:srgbClr val="F59E0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2"/>
          <p:cNvSpPr/>
          <p:nvPr/>
        </p:nvSpPr>
        <p:spPr>
          <a:xfrm>
            <a:off x="745232" y="381000"/>
            <a:ext cx="5646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SLIDE 6</a:t>
            </a:r>
            <a:endParaRPr lang="th" sz="1200" dirty="0"/>
          </a:p>
        </p:txBody>
      </p:sp>
      <p:sp>
        <p:nvSpPr>
          <p:cNvPr id="4" name="Text 3"/>
          <p:cNvSpPr/>
          <p:nvPr/>
        </p:nvSpPr>
        <p:spPr>
          <a:xfrm>
            <a:off x="1396702" y="381000"/>
            <a:ext cx="447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th" sz="1200" dirty="0"/>
          </a:p>
        </p:txBody>
      </p:sp>
      <p:sp>
        <p:nvSpPr>
          <p:cNvPr id="5" name="Text 4"/>
          <p:cNvSpPr/>
          <p:nvPr/>
        </p:nvSpPr>
        <p:spPr>
          <a:xfrm>
            <a:off x="1528167" y="381000"/>
            <a:ext cx="17319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USE CASES BY FACULTY</a:t>
            </a:r>
            <a:endParaRPr lang="th" sz="1200" dirty="0"/>
          </a:p>
        </p:txBody>
      </p:sp>
      <p:sp>
        <p:nvSpPr>
          <p:cNvPr id="6" name="Text 5"/>
          <p:cNvSpPr/>
          <p:nvPr/>
        </p:nvSpPr>
        <p:spPr>
          <a:xfrm>
            <a:off x="508000" y="409575"/>
            <a:ext cx="16103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1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</a:t>
            </a:r>
            <a:endParaRPr lang="th" sz="1100" dirty="0"/>
          </a:p>
        </p:txBody>
      </p:sp>
      <p:sp>
        <p:nvSpPr>
          <p:cNvPr id="7" name="CSS box-shadow background"/>
          <p:cNvSpPr/>
          <p:nvPr/>
        </p:nvSpPr>
        <p:spPr>
          <a:xfrm>
            <a:off x="508000" y="1587500"/>
            <a:ext cx="3589834" cy="3975100"/>
          </a:xfrm>
          <a:custGeom>
            <a:avLst/>
            <a:gdLst/>
            <a:ahLst/>
            <a:cxnLst/>
            <a:rect l="l" t="t" r="r" b="b"/>
            <a:pathLst>
              <a:path w="3589834" h="3975100">
                <a:moveTo>
                  <a:pt x="127000" y="0"/>
                </a:moveTo>
                <a:lnTo>
                  <a:pt x="3462833" y="0"/>
                </a:lnTo>
                <a:cubicBezTo>
                  <a:pt x="3532503" y="0"/>
                  <a:pt x="3589833" y="57330"/>
                  <a:pt x="3589833" y="127000"/>
                </a:cubicBezTo>
                <a:lnTo>
                  <a:pt x="3589833" y="3848100"/>
                </a:lnTo>
                <a:cubicBezTo>
                  <a:pt x="3589833" y="3917770"/>
                  <a:pt x="3532503" y="3975100"/>
                  <a:pt x="3462833" y="3975100"/>
                </a:cubicBezTo>
                <a:lnTo>
                  <a:pt x="127000" y="3975100"/>
                </a:lnTo>
                <a:cubicBezTo>
                  <a:pt x="57330" y="3975100"/>
                  <a:pt x="0" y="3917770"/>
                  <a:pt x="0" y="38481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63500" dir="5400000" algn="bl" rotWithShape="0">
              <a:srgbClr val="16203A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7"/>
          <p:cNvSpPr/>
          <p:nvPr/>
        </p:nvSpPr>
        <p:spPr>
          <a:xfrm>
            <a:off x="508000" y="1587500"/>
            <a:ext cx="3589834" cy="3975100"/>
          </a:xfrm>
          <a:custGeom>
            <a:avLst/>
            <a:gdLst/>
            <a:ahLst/>
            <a:cxnLst/>
            <a:rect l="l" t="t" r="r" b="b"/>
            <a:pathLst>
              <a:path w="3589834" h="3975100">
                <a:moveTo>
                  <a:pt x="127000" y="0"/>
                </a:moveTo>
                <a:lnTo>
                  <a:pt x="3462833" y="0"/>
                </a:lnTo>
                <a:cubicBezTo>
                  <a:pt x="3532503" y="0"/>
                  <a:pt x="3589833" y="57330"/>
                  <a:pt x="3589833" y="127000"/>
                </a:cubicBezTo>
                <a:lnTo>
                  <a:pt x="3589833" y="3848100"/>
                </a:lnTo>
                <a:cubicBezTo>
                  <a:pt x="3589833" y="3917770"/>
                  <a:pt x="3532503" y="3975100"/>
                  <a:pt x="3462833" y="3975100"/>
                </a:cubicBezTo>
                <a:lnTo>
                  <a:pt x="127000" y="3975100"/>
                </a:lnTo>
                <a:cubicBezTo>
                  <a:pt x="57330" y="3975100"/>
                  <a:pt x="0" y="3917770"/>
                  <a:pt x="0" y="38481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E2E6EF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8"/>
          <p:cNvSpPr/>
          <p:nvPr/>
        </p:nvSpPr>
        <p:spPr>
          <a:xfrm>
            <a:off x="514350" y="1593850"/>
            <a:ext cx="3577134" cy="76200"/>
          </a:xfrm>
          <a:custGeom>
            <a:avLst/>
            <a:gdLst/>
            <a:ahLst/>
            <a:cxnLst/>
            <a:rect l="l" t="t" r="r" b="b"/>
            <a:pathLst>
              <a:path w="3577134" h="76200">
                <a:moveTo>
                  <a:pt x="76200" y="0"/>
                </a:moveTo>
                <a:lnTo>
                  <a:pt x="3500933" y="0"/>
                </a:lnTo>
                <a:cubicBezTo>
                  <a:pt x="3542735" y="0"/>
                  <a:pt x="3577133" y="34398"/>
                  <a:pt x="3577133" y="76200"/>
                </a:cubicBezTo>
                <a:lnTo>
                  <a:pt x="3577133" y="76200"/>
                </a:lnTo>
                <a:cubicBezTo>
                  <a:pt x="3577133" y="76200"/>
                  <a:pt x="3577133" y="76200"/>
                  <a:pt x="3577133" y="76200"/>
                </a:cubicBezTo>
                <a:lnTo>
                  <a:pt x="0" y="76200"/>
                </a:lnTo>
                <a:cubicBezTo>
                  <a:pt x="0" y="76200"/>
                  <a:pt x="0" y="76200"/>
                  <a:pt x="0" y="76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0E9F6E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9"/>
          <p:cNvSpPr/>
          <p:nvPr/>
        </p:nvSpPr>
        <p:spPr>
          <a:xfrm>
            <a:off x="730250" y="186055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114300" y="0"/>
                </a:moveTo>
                <a:lnTo>
                  <a:pt x="317500" y="0"/>
                </a:lnTo>
                <a:cubicBezTo>
                  <a:pt x="380203" y="0"/>
                  <a:pt x="431800" y="51597"/>
                  <a:pt x="431800" y="114300"/>
                </a:cubicBezTo>
                <a:lnTo>
                  <a:pt x="431800" y="317500"/>
                </a:lnTo>
                <a:cubicBezTo>
                  <a:pt x="431800" y="380203"/>
                  <a:pt x="380203" y="431800"/>
                  <a:pt x="317500" y="431800"/>
                </a:cubicBezTo>
                <a:lnTo>
                  <a:pt x="114300" y="431800"/>
                </a:lnTo>
                <a:cubicBezTo>
                  <a:pt x="51597" y="431800"/>
                  <a:pt x="0" y="380203"/>
                  <a:pt x="0" y="317500"/>
                </a:cubicBezTo>
                <a:lnTo>
                  <a:pt x="0" y="114300"/>
                </a:lnTo>
                <a:cubicBezTo>
                  <a:pt x="0" y="51597"/>
                  <a:pt x="51597" y="0"/>
                  <a:pt x="114300" y="0"/>
                </a:cubicBezTo>
                <a:close/>
              </a:path>
            </a:pathLst>
          </a:custGeom>
          <a:solidFill>
            <a:srgbClr val="E2F5ED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10"/>
          <p:cNvSpPr/>
          <p:nvPr/>
        </p:nvSpPr>
        <p:spPr>
          <a:xfrm>
            <a:off x="850900" y="1974850"/>
            <a:ext cx="1905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500" b="1" i="0" dirty="0">
                <a:solidFill>
                  <a:srgbClr val="0E9F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</a:t>
            </a:r>
            <a:endParaRPr lang="th" sz="1500" dirty="0"/>
          </a:p>
        </p:txBody>
      </p:sp>
      <p:sp>
        <p:nvSpPr>
          <p:cNvPr id="12" name="Text 11"/>
          <p:cNvSpPr/>
          <p:nvPr/>
        </p:nvSpPr>
        <p:spPr>
          <a:xfrm>
            <a:off x="730250" y="2406650"/>
            <a:ext cx="1619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kern="0" spc="25" dirty="0">
                <a:solidFill>
                  <a:srgbClr val="0E9F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สายสุขภาพ / พยาบาล</a:t>
            </a:r>
            <a:endParaRPr lang="th" sz="1300" dirty="0"/>
          </a:p>
        </p:txBody>
      </p:sp>
      <p:sp>
        <p:nvSpPr>
          <p:cNvPr id="13" name="Text 12"/>
          <p:cNvSpPr/>
          <p:nvPr/>
        </p:nvSpPr>
        <p:spPr>
          <a:xfrm>
            <a:off x="730250" y="2686050"/>
            <a:ext cx="283477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“ผู้ป่วยจำลองที่มีอาการซับ</a:t>
            </a:r>
            <a:endParaRPr lang="th" sz="2000" dirty="0"/>
          </a:p>
        </p:txBody>
      </p:sp>
      <p:sp>
        <p:nvSpPr>
          <p:cNvPr id="14" name="Text 13"/>
          <p:cNvSpPr/>
          <p:nvPr/>
        </p:nvSpPr>
        <p:spPr>
          <a:xfrm>
            <a:off x="730250" y="3006030"/>
            <a:ext cx="611684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ซ้อน”</a:t>
            </a:r>
            <a:endParaRPr lang="th" sz="2000" dirty="0"/>
          </a:p>
        </p:txBody>
      </p:sp>
      <p:sp>
        <p:nvSpPr>
          <p:cNvPr id="15" name="Text 14"/>
          <p:cNvSpPr/>
          <p:nvPr/>
        </p:nvSpPr>
        <p:spPr>
          <a:xfrm>
            <a:off x="730250" y="3433961"/>
            <a:ext cx="3037681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เล่นเป็นผู้ป่วยที่เล่าอาการไม่ครบ</a:t>
            </a:r>
            <a:endParaRPr lang="th" sz="1600" dirty="0"/>
          </a:p>
        </p:txBody>
      </p:sp>
      <p:sp>
        <p:nvSpPr>
          <p:cNvPr id="16" name="Text 15"/>
          <p:cNvSpPr/>
          <p:nvPr/>
        </p:nvSpPr>
        <p:spPr>
          <a:xfrm>
            <a:off x="730250" y="3714353"/>
            <a:ext cx="2645966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ซ่อนข้อมูลสำคัญ และตอบตาม</a:t>
            </a:r>
            <a:endParaRPr lang="th" sz="1600" dirty="0"/>
          </a:p>
        </p:txBody>
      </p:sp>
      <p:sp>
        <p:nvSpPr>
          <p:cNvPr id="17" name="Text 16"/>
          <p:cNvSpPr/>
          <p:nvPr/>
        </p:nvSpPr>
        <p:spPr>
          <a:xfrm>
            <a:off x="730250" y="3994745"/>
            <a:ext cx="1382117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อารมณ์ของโรค</a:t>
            </a:r>
            <a:endParaRPr lang="th" sz="1600" dirty="0"/>
          </a:p>
        </p:txBody>
      </p:sp>
      <p:sp>
        <p:nvSpPr>
          <p:cNvPr id="18" name="Shape 17"/>
          <p:cNvSpPr/>
          <p:nvPr/>
        </p:nvSpPr>
        <p:spPr>
          <a:xfrm>
            <a:off x="730250" y="4468217"/>
            <a:ext cx="3145334" cy="910233"/>
          </a:xfrm>
          <a:custGeom>
            <a:avLst/>
            <a:gdLst/>
            <a:ahLst/>
            <a:cxnLst/>
            <a:rect l="l" t="t" r="r" b="b"/>
            <a:pathLst>
              <a:path w="3145334" h="910233">
                <a:moveTo>
                  <a:pt x="88900" y="0"/>
                </a:moveTo>
                <a:lnTo>
                  <a:pt x="3056433" y="0"/>
                </a:lnTo>
                <a:cubicBezTo>
                  <a:pt x="3105203" y="0"/>
                  <a:pt x="3145333" y="40131"/>
                  <a:pt x="3145333" y="88900"/>
                </a:cubicBezTo>
                <a:lnTo>
                  <a:pt x="3145333" y="821333"/>
                </a:lnTo>
                <a:cubicBezTo>
                  <a:pt x="3145333" y="870102"/>
                  <a:pt x="3105203" y="910233"/>
                  <a:pt x="3056433" y="910233"/>
                </a:cubicBezTo>
                <a:lnTo>
                  <a:pt x="88900" y="910233"/>
                </a:lnTo>
                <a:cubicBezTo>
                  <a:pt x="40131" y="910233"/>
                  <a:pt x="0" y="870102"/>
                  <a:pt x="0" y="821333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E2F5ED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8"/>
          <p:cNvSpPr/>
          <p:nvPr/>
        </p:nvSpPr>
        <p:spPr>
          <a:xfrm>
            <a:off x="869950" y="4802188"/>
            <a:ext cx="28469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“ปวดท้องมาตั้งแต่เมื่อคืนค่ะ…ไม่แน่ใจว่า</a:t>
            </a:r>
            <a:endParaRPr lang="th" sz="1300" dirty="0"/>
          </a:p>
        </p:txBody>
      </p:sp>
      <p:sp>
        <p:nvSpPr>
          <p:cNvPr id="20" name="Text 19"/>
          <p:cNvSpPr/>
          <p:nvPr/>
        </p:nvSpPr>
        <p:spPr>
          <a:xfrm>
            <a:off x="869950" y="5029994"/>
            <a:ext cx="28018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เกี่ยวกับยาลดความดันที่กินอยู่หรือเปล่า”</a:t>
            </a:r>
            <a:endParaRPr lang="th" sz="1300" dirty="0"/>
          </a:p>
        </p:txBody>
      </p:sp>
      <p:sp>
        <p:nvSpPr>
          <p:cNvPr id="21" name="CSS box-shadow background"/>
          <p:cNvSpPr/>
          <p:nvPr/>
        </p:nvSpPr>
        <p:spPr>
          <a:xfrm>
            <a:off x="4301034" y="1587500"/>
            <a:ext cx="3589834" cy="3975100"/>
          </a:xfrm>
          <a:custGeom>
            <a:avLst/>
            <a:gdLst/>
            <a:ahLst/>
            <a:cxnLst/>
            <a:rect l="l" t="t" r="r" b="b"/>
            <a:pathLst>
              <a:path w="3589834" h="3975100">
                <a:moveTo>
                  <a:pt x="127000" y="0"/>
                </a:moveTo>
                <a:lnTo>
                  <a:pt x="3462833" y="0"/>
                </a:lnTo>
                <a:cubicBezTo>
                  <a:pt x="3532503" y="0"/>
                  <a:pt x="3589833" y="57330"/>
                  <a:pt x="3589833" y="127000"/>
                </a:cubicBezTo>
                <a:lnTo>
                  <a:pt x="3589833" y="3848100"/>
                </a:lnTo>
                <a:cubicBezTo>
                  <a:pt x="3589833" y="3917770"/>
                  <a:pt x="3532503" y="3975100"/>
                  <a:pt x="3462833" y="3975100"/>
                </a:cubicBezTo>
                <a:lnTo>
                  <a:pt x="127000" y="3975100"/>
                </a:lnTo>
                <a:cubicBezTo>
                  <a:pt x="57330" y="3975100"/>
                  <a:pt x="0" y="3917770"/>
                  <a:pt x="0" y="38481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63500" dir="5400000" algn="bl" rotWithShape="0">
              <a:srgbClr val="16203A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1"/>
          <p:cNvSpPr/>
          <p:nvPr/>
        </p:nvSpPr>
        <p:spPr>
          <a:xfrm>
            <a:off x="4301034" y="1587500"/>
            <a:ext cx="3589834" cy="3975100"/>
          </a:xfrm>
          <a:custGeom>
            <a:avLst/>
            <a:gdLst/>
            <a:ahLst/>
            <a:cxnLst/>
            <a:rect l="l" t="t" r="r" b="b"/>
            <a:pathLst>
              <a:path w="3589834" h="3975100">
                <a:moveTo>
                  <a:pt x="127000" y="0"/>
                </a:moveTo>
                <a:lnTo>
                  <a:pt x="3462833" y="0"/>
                </a:lnTo>
                <a:cubicBezTo>
                  <a:pt x="3532503" y="0"/>
                  <a:pt x="3589833" y="57330"/>
                  <a:pt x="3589833" y="127000"/>
                </a:cubicBezTo>
                <a:lnTo>
                  <a:pt x="3589833" y="3848100"/>
                </a:lnTo>
                <a:cubicBezTo>
                  <a:pt x="3589833" y="3917770"/>
                  <a:pt x="3532503" y="3975100"/>
                  <a:pt x="3462833" y="3975100"/>
                </a:cubicBezTo>
                <a:lnTo>
                  <a:pt x="127000" y="3975100"/>
                </a:lnTo>
                <a:cubicBezTo>
                  <a:pt x="57330" y="3975100"/>
                  <a:pt x="0" y="3917770"/>
                  <a:pt x="0" y="38481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E2E6EF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2"/>
          <p:cNvSpPr/>
          <p:nvPr/>
        </p:nvSpPr>
        <p:spPr>
          <a:xfrm>
            <a:off x="4307384" y="1593850"/>
            <a:ext cx="3577134" cy="76200"/>
          </a:xfrm>
          <a:custGeom>
            <a:avLst/>
            <a:gdLst/>
            <a:ahLst/>
            <a:cxnLst/>
            <a:rect l="l" t="t" r="r" b="b"/>
            <a:pathLst>
              <a:path w="3577134" h="76200">
                <a:moveTo>
                  <a:pt x="76200" y="0"/>
                </a:moveTo>
                <a:lnTo>
                  <a:pt x="3500933" y="0"/>
                </a:lnTo>
                <a:cubicBezTo>
                  <a:pt x="3542735" y="0"/>
                  <a:pt x="3577133" y="34398"/>
                  <a:pt x="3577133" y="76200"/>
                </a:cubicBezTo>
                <a:lnTo>
                  <a:pt x="3577133" y="76200"/>
                </a:lnTo>
                <a:cubicBezTo>
                  <a:pt x="3577133" y="76200"/>
                  <a:pt x="3577133" y="76200"/>
                  <a:pt x="3577133" y="76200"/>
                </a:cubicBezTo>
                <a:lnTo>
                  <a:pt x="0" y="76200"/>
                </a:lnTo>
                <a:cubicBezTo>
                  <a:pt x="0" y="76200"/>
                  <a:pt x="0" y="76200"/>
                  <a:pt x="0" y="76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7C3AED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3"/>
          <p:cNvSpPr/>
          <p:nvPr/>
        </p:nvSpPr>
        <p:spPr>
          <a:xfrm>
            <a:off x="4523284" y="186055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114300" y="0"/>
                </a:moveTo>
                <a:lnTo>
                  <a:pt x="317500" y="0"/>
                </a:lnTo>
                <a:cubicBezTo>
                  <a:pt x="380203" y="0"/>
                  <a:pt x="431800" y="51597"/>
                  <a:pt x="431800" y="114300"/>
                </a:cubicBezTo>
                <a:lnTo>
                  <a:pt x="431800" y="317500"/>
                </a:lnTo>
                <a:cubicBezTo>
                  <a:pt x="431800" y="380203"/>
                  <a:pt x="380203" y="431800"/>
                  <a:pt x="317500" y="431800"/>
                </a:cubicBezTo>
                <a:lnTo>
                  <a:pt x="114300" y="431800"/>
                </a:lnTo>
                <a:cubicBezTo>
                  <a:pt x="51597" y="431800"/>
                  <a:pt x="0" y="380203"/>
                  <a:pt x="0" y="317500"/>
                </a:cubicBezTo>
                <a:lnTo>
                  <a:pt x="0" y="114300"/>
                </a:lnTo>
                <a:cubicBezTo>
                  <a:pt x="0" y="51597"/>
                  <a:pt x="51597" y="0"/>
                  <a:pt x="114300" y="0"/>
                </a:cubicBezTo>
                <a:close/>
              </a:path>
            </a:pathLst>
          </a:custGeom>
          <a:solidFill>
            <a:srgbClr val="EEE7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4"/>
          <p:cNvSpPr/>
          <p:nvPr/>
        </p:nvSpPr>
        <p:spPr>
          <a:xfrm>
            <a:off x="4620121" y="1974850"/>
            <a:ext cx="238125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500" b="1" i="0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</a:t>
            </a:r>
            <a:endParaRPr lang="th" sz="1500" dirty="0"/>
          </a:p>
        </p:txBody>
      </p:sp>
      <p:sp>
        <p:nvSpPr>
          <p:cNvPr id="26" name="Text 25"/>
          <p:cNvSpPr/>
          <p:nvPr/>
        </p:nvSpPr>
        <p:spPr>
          <a:xfrm>
            <a:off x="4523284" y="2406650"/>
            <a:ext cx="18081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kern="0" spc="25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ศึกษาศาสตร์ / ครุศาสตร์</a:t>
            </a:r>
            <a:endParaRPr lang="th" sz="1300" dirty="0"/>
          </a:p>
        </p:txBody>
      </p:sp>
      <p:sp>
        <p:nvSpPr>
          <p:cNvPr id="27" name="Text 26"/>
          <p:cNvSpPr/>
          <p:nvPr/>
        </p:nvSpPr>
        <p:spPr>
          <a:xfrm>
            <a:off x="4523284" y="2686050"/>
            <a:ext cx="240129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“นักเรียนที่มีพฤติกรรม</a:t>
            </a:r>
            <a:endParaRPr lang="th" sz="2000" dirty="0"/>
          </a:p>
        </p:txBody>
      </p:sp>
      <p:sp>
        <p:nvSpPr>
          <p:cNvPr id="28" name="Text 27"/>
          <p:cNvSpPr/>
          <p:nvPr/>
        </p:nvSpPr>
        <p:spPr>
          <a:xfrm>
            <a:off x="4523284" y="3006030"/>
            <a:ext cx="88205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ท้าทาย”</a:t>
            </a:r>
            <a:endParaRPr lang="th" sz="2000" dirty="0"/>
          </a:p>
        </p:txBody>
      </p:sp>
      <p:sp>
        <p:nvSpPr>
          <p:cNvPr id="29" name="Text 28"/>
          <p:cNvSpPr/>
          <p:nvPr/>
        </p:nvSpPr>
        <p:spPr>
          <a:xfrm>
            <a:off x="4523284" y="3433961"/>
            <a:ext cx="311477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เล่นเป็นนักเรียนที่คุยในห้อง ไม่ส่ง</a:t>
            </a:r>
            <a:endParaRPr lang="th" sz="1600" dirty="0"/>
          </a:p>
        </p:txBody>
      </p:sp>
      <p:sp>
        <p:nvSpPr>
          <p:cNvPr id="30" name="Text 29"/>
          <p:cNvSpPr/>
          <p:nvPr/>
        </p:nvSpPr>
        <p:spPr>
          <a:xfrm>
            <a:off x="4523284" y="3714353"/>
            <a:ext cx="3124398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งาน และท้าทายครู เพื่อฝึกจัดการชั้น</a:t>
            </a:r>
            <a:endParaRPr lang="th" sz="1600" dirty="0"/>
          </a:p>
        </p:txBody>
      </p:sp>
      <p:sp>
        <p:nvSpPr>
          <p:cNvPr id="31" name="Text 30"/>
          <p:cNvSpPr/>
          <p:nvPr/>
        </p:nvSpPr>
        <p:spPr>
          <a:xfrm>
            <a:off x="4523284" y="3994745"/>
            <a:ext cx="436563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เรียน</a:t>
            </a:r>
            <a:endParaRPr lang="th" sz="1600" dirty="0"/>
          </a:p>
        </p:txBody>
      </p:sp>
      <p:sp>
        <p:nvSpPr>
          <p:cNvPr id="32" name="Shape 31"/>
          <p:cNvSpPr/>
          <p:nvPr/>
        </p:nvSpPr>
        <p:spPr>
          <a:xfrm>
            <a:off x="4523284" y="4468217"/>
            <a:ext cx="3145334" cy="910233"/>
          </a:xfrm>
          <a:custGeom>
            <a:avLst/>
            <a:gdLst/>
            <a:ahLst/>
            <a:cxnLst/>
            <a:rect l="l" t="t" r="r" b="b"/>
            <a:pathLst>
              <a:path w="3145334" h="910233">
                <a:moveTo>
                  <a:pt x="88900" y="0"/>
                </a:moveTo>
                <a:lnTo>
                  <a:pt x="3056433" y="0"/>
                </a:lnTo>
                <a:cubicBezTo>
                  <a:pt x="3105203" y="0"/>
                  <a:pt x="3145333" y="40131"/>
                  <a:pt x="3145333" y="88900"/>
                </a:cubicBezTo>
                <a:lnTo>
                  <a:pt x="3145333" y="821333"/>
                </a:lnTo>
                <a:cubicBezTo>
                  <a:pt x="3145333" y="870102"/>
                  <a:pt x="3105203" y="910233"/>
                  <a:pt x="3056433" y="910233"/>
                </a:cubicBezTo>
                <a:lnTo>
                  <a:pt x="88900" y="910233"/>
                </a:lnTo>
                <a:cubicBezTo>
                  <a:pt x="40131" y="910233"/>
                  <a:pt x="0" y="870102"/>
                  <a:pt x="0" y="821333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EEE7F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2"/>
          <p:cNvSpPr/>
          <p:nvPr/>
        </p:nvSpPr>
        <p:spPr>
          <a:xfrm>
            <a:off x="4662984" y="4802188"/>
            <a:ext cx="28061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“อาจารย์จะให้ทำไปทำไมครับ ผมไม่เห็น</a:t>
            </a:r>
            <a:endParaRPr lang="th" sz="1300" dirty="0"/>
          </a:p>
        </p:txBody>
      </p:sp>
      <p:sp>
        <p:nvSpPr>
          <p:cNvPr id="34" name="Text 33"/>
          <p:cNvSpPr/>
          <p:nvPr/>
        </p:nvSpPr>
        <p:spPr>
          <a:xfrm>
            <a:off x="4662984" y="5029994"/>
            <a:ext cx="19509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มันจะใช้ได้จริงตรงไหนเลย”</a:t>
            </a:r>
            <a:endParaRPr lang="th" sz="1300" dirty="0"/>
          </a:p>
        </p:txBody>
      </p:sp>
      <p:sp>
        <p:nvSpPr>
          <p:cNvPr id="35" name="CSS box-shadow background"/>
          <p:cNvSpPr/>
          <p:nvPr/>
        </p:nvSpPr>
        <p:spPr>
          <a:xfrm>
            <a:off x="8094067" y="1587500"/>
            <a:ext cx="3589834" cy="3975100"/>
          </a:xfrm>
          <a:custGeom>
            <a:avLst/>
            <a:gdLst/>
            <a:ahLst/>
            <a:cxnLst/>
            <a:rect l="l" t="t" r="r" b="b"/>
            <a:pathLst>
              <a:path w="3589834" h="3975100">
                <a:moveTo>
                  <a:pt x="127000" y="0"/>
                </a:moveTo>
                <a:lnTo>
                  <a:pt x="3462833" y="0"/>
                </a:lnTo>
                <a:cubicBezTo>
                  <a:pt x="3532503" y="0"/>
                  <a:pt x="3589833" y="57330"/>
                  <a:pt x="3589833" y="127000"/>
                </a:cubicBezTo>
                <a:lnTo>
                  <a:pt x="3589833" y="3848100"/>
                </a:lnTo>
                <a:cubicBezTo>
                  <a:pt x="3589833" y="3917770"/>
                  <a:pt x="3532503" y="3975100"/>
                  <a:pt x="3462833" y="3975100"/>
                </a:cubicBezTo>
                <a:lnTo>
                  <a:pt x="127000" y="3975100"/>
                </a:lnTo>
                <a:cubicBezTo>
                  <a:pt x="57330" y="3975100"/>
                  <a:pt x="0" y="3917770"/>
                  <a:pt x="0" y="38481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63500" dir="5400000" algn="bl" rotWithShape="0">
              <a:srgbClr val="16203A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5"/>
          <p:cNvSpPr/>
          <p:nvPr/>
        </p:nvSpPr>
        <p:spPr>
          <a:xfrm>
            <a:off x="8094067" y="1587500"/>
            <a:ext cx="3589834" cy="3975100"/>
          </a:xfrm>
          <a:custGeom>
            <a:avLst/>
            <a:gdLst/>
            <a:ahLst/>
            <a:cxnLst/>
            <a:rect l="l" t="t" r="r" b="b"/>
            <a:pathLst>
              <a:path w="3589834" h="3975100">
                <a:moveTo>
                  <a:pt x="127000" y="0"/>
                </a:moveTo>
                <a:lnTo>
                  <a:pt x="3462833" y="0"/>
                </a:lnTo>
                <a:cubicBezTo>
                  <a:pt x="3532503" y="0"/>
                  <a:pt x="3589833" y="57330"/>
                  <a:pt x="3589833" y="127000"/>
                </a:cubicBezTo>
                <a:lnTo>
                  <a:pt x="3589833" y="3848100"/>
                </a:lnTo>
                <a:cubicBezTo>
                  <a:pt x="3589833" y="3917770"/>
                  <a:pt x="3532503" y="3975100"/>
                  <a:pt x="3462833" y="3975100"/>
                </a:cubicBezTo>
                <a:lnTo>
                  <a:pt x="127000" y="3975100"/>
                </a:lnTo>
                <a:cubicBezTo>
                  <a:pt x="57330" y="3975100"/>
                  <a:pt x="0" y="3917770"/>
                  <a:pt x="0" y="38481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E2E6EF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6"/>
          <p:cNvSpPr/>
          <p:nvPr/>
        </p:nvSpPr>
        <p:spPr>
          <a:xfrm>
            <a:off x="8100417" y="1593850"/>
            <a:ext cx="3577134" cy="76200"/>
          </a:xfrm>
          <a:custGeom>
            <a:avLst/>
            <a:gdLst/>
            <a:ahLst/>
            <a:cxnLst/>
            <a:rect l="l" t="t" r="r" b="b"/>
            <a:pathLst>
              <a:path w="3577134" h="76200">
                <a:moveTo>
                  <a:pt x="76200" y="0"/>
                </a:moveTo>
                <a:lnTo>
                  <a:pt x="3500933" y="0"/>
                </a:lnTo>
                <a:cubicBezTo>
                  <a:pt x="3542735" y="0"/>
                  <a:pt x="3577133" y="34398"/>
                  <a:pt x="3577133" y="76200"/>
                </a:cubicBezTo>
                <a:lnTo>
                  <a:pt x="3577133" y="76200"/>
                </a:lnTo>
                <a:cubicBezTo>
                  <a:pt x="3577133" y="76200"/>
                  <a:pt x="3577133" y="76200"/>
                  <a:pt x="3577133" y="76200"/>
                </a:cubicBezTo>
                <a:lnTo>
                  <a:pt x="0" y="76200"/>
                </a:lnTo>
                <a:cubicBezTo>
                  <a:pt x="0" y="76200"/>
                  <a:pt x="0" y="76200"/>
                  <a:pt x="0" y="76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0EA5E9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417" y="1670050"/>
            <a:ext cx="3577134" cy="3886200"/>
          </a:xfrm>
          <a:prstGeom prst="rect">
            <a:avLst/>
          </a:prstGeom>
        </p:spPr>
      </p:pic>
      <p:sp>
        <p:nvSpPr>
          <p:cNvPr id="39" name="Text 37"/>
          <p:cNvSpPr/>
          <p:nvPr/>
        </p:nvSpPr>
        <p:spPr>
          <a:xfrm>
            <a:off x="869950" y="4582517"/>
            <a:ext cx="5011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000" b="1" i="0" kern="0" spc="25" dirty="0">
                <a:solidFill>
                  <a:srgbClr val="16203A">
                    <a:alpha val="8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พูดว่า</a:t>
            </a:r>
            <a:endParaRPr lang="th" sz="1000" dirty="0"/>
          </a:p>
        </p:txBody>
      </p:sp>
      <p:sp>
        <p:nvSpPr>
          <p:cNvPr id="40" name="Text 38"/>
          <p:cNvSpPr/>
          <p:nvPr/>
        </p:nvSpPr>
        <p:spPr>
          <a:xfrm>
            <a:off x="4662984" y="4582517"/>
            <a:ext cx="5011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000" b="1" i="0" kern="0" spc="25" dirty="0">
                <a:solidFill>
                  <a:srgbClr val="16203A">
                    <a:alpha val="8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พูดว่า</a:t>
            </a:r>
            <a:endParaRPr lang="th" sz="1000" dirty="0"/>
          </a:p>
        </p:txBody>
      </p:sp>
      <p:sp>
        <p:nvSpPr>
          <p:cNvPr id="41" name="Text 39"/>
          <p:cNvSpPr/>
          <p:nvPr/>
        </p:nvSpPr>
        <p:spPr>
          <a:xfrm>
            <a:off x="508000" y="5851525"/>
            <a:ext cx="1905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500" b="1" i="0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</a:t>
            </a:r>
            <a:endParaRPr lang="th" sz="1500" dirty="0"/>
          </a:p>
        </p:txBody>
      </p:sp>
      <p:sp>
        <p:nvSpPr>
          <p:cNvPr id="42" name="Text 40"/>
          <p:cNvSpPr/>
          <p:nvPr/>
        </p:nvSpPr>
        <p:spPr>
          <a:xfrm>
            <a:off x="825500" y="5842000"/>
            <a:ext cx="593903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หลักเดียวกันทุกคณะ: AI เล่น “บทบาท” หนึ่งบทบาท และผู้เรียนเป็นคนรับผิดชอบการตัดสินใจ</a:t>
            </a:r>
            <a:endParaRPr lang="th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08000" y="609600"/>
            <a:ext cx="554613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3200" b="1" i="0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โครงสร้าง Prompt ล็อกบทบาท</a:t>
            </a:r>
            <a:endParaRPr lang="th" sz="3200" dirty="0"/>
          </a:p>
        </p:txBody>
      </p:sp>
      <p:sp>
        <p:nvSpPr>
          <p:cNvPr id="2" name="Shape 1"/>
          <p:cNvSpPr/>
          <p:nvPr/>
        </p:nvSpPr>
        <p:spPr>
          <a:xfrm>
            <a:off x="508000" y="122297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01" y="0"/>
                  <a:pt x="762000" y="8599"/>
                  <a:pt x="762000" y="19050"/>
                </a:cubicBezTo>
                <a:lnTo>
                  <a:pt x="762000" y="19050"/>
                </a:lnTo>
                <a:cubicBezTo>
                  <a:pt x="762000" y="29501"/>
                  <a:pt x="753401" y="38100"/>
                  <a:pt x="742950" y="38100"/>
                </a:cubicBezTo>
                <a:lnTo>
                  <a:pt x="19050" y="38100"/>
                </a:lnTo>
                <a:cubicBezTo>
                  <a:pt x="8599" y="38100"/>
                  <a:pt x="0" y="29501"/>
                  <a:pt x="0" y="19050"/>
                </a:cubicBezTo>
                <a:lnTo>
                  <a:pt x="0" y="19050"/>
                </a:lnTo>
                <a:cubicBezTo>
                  <a:pt x="0" y="8599"/>
                  <a:pt x="8599" y="0"/>
                  <a:pt x="19050" y="0"/>
                </a:cubicBezTo>
                <a:close/>
              </a:path>
            </a:pathLst>
          </a:custGeom>
          <a:solidFill>
            <a:srgbClr val="F59E0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2"/>
          <p:cNvSpPr/>
          <p:nvPr/>
        </p:nvSpPr>
        <p:spPr>
          <a:xfrm>
            <a:off x="727770" y="381000"/>
            <a:ext cx="5646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SLIDE 7</a:t>
            </a:r>
            <a:endParaRPr lang="th" sz="1200" dirty="0"/>
          </a:p>
        </p:txBody>
      </p:sp>
      <p:sp>
        <p:nvSpPr>
          <p:cNvPr id="4" name="Text 3"/>
          <p:cNvSpPr/>
          <p:nvPr/>
        </p:nvSpPr>
        <p:spPr>
          <a:xfrm>
            <a:off x="1379240" y="381000"/>
            <a:ext cx="447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th" sz="1200" dirty="0"/>
          </a:p>
        </p:txBody>
      </p:sp>
      <p:sp>
        <p:nvSpPr>
          <p:cNvPr id="5" name="Text 4"/>
          <p:cNvSpPr/>
          <p:nvPr/>
        </p:nvSpPr>
        <p:spPr>
          <a:xfrm>
            <a:off x="1510705" y="381000"/>
            <a:ext cx="245348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SYSTEM PROMPT FOR STUDENTS</a:t>
            </a:r>
            <a:endParaRPr lang="th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15925"/>
            <a:ext cx="143570" cy="139700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1206500" y="1876425"/>
            <a:ext cx="9779000" cy="0"/>
          </a:xfrm>
          <a:prstGeom prst="line">
            <a:avLst/>
          </a:prstGeom>
          <a:noFill/>
          <a:ln w="19050">
            <a:solidFill>
              <a:srgbClr val="E2E6EF"/>
            </a:solidFill>
            <a:custDash>
              <a:ds d="300000" sp="200000"/>
            </a:custDash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CSS box-shadow background"/>
          <p:cNvSpPr/>
          <p:nvPr/>
        </p:nvSpPr>
        <p:spPr>
          <a:xfrm>
            <a:off x="508000" y="3162300"/>
            <a:ext cx="11176000" cy="2730500"/>
          </a:xfrm>
          <a:custGeom>
            <a:avLst/>
            <a:gdLst/>
            <a:ahLst/>
            <a:cxnLst/>
            <a:rect l="l" t="t" r="r" b="b"/>
            <a:pathLst>
              <a:path w="11176000" h="2730500">
                <a:moveTo>
                  <a:pt x="127000" y="0"/>
                </a:moveTo>
                <a:lnTo>
                  <a:pt x="11049000" y="0"/>
                </a:lnTo>
                <a:cubicBezTo>
                  <a:pt x="11118670" y="0"/>
                  <a:pt x="11176000" y="57330"/>
                  <a:pt x="11176000" y="127000"/>
                </a:cubicBezTo>
                <a:lnTo>
                  <a:pt x="11176000" y="2603500"/>
                </a:lnTo>
                <a:cubicBezTo>
                  <a:pt x="11176000" y="2673170"/>
                  <a:pt x="11118670" y="2730500"/>
                  <a:pt x="11049000" y="2730500"/>
                </a:cubicBezTo>
                <a:lnTo>
                  <a:pt x="127000" y="2730500"/>
                </a:lnTo>
                <a:cubicBezTo>
                  <a:pt x="57330" y="2730500"/>
                  <a:pt x="0" y="2673170"/>
                  <a:pt x="0" y="26035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0F1E42"/>
          </a:solidFill>
          <a:ln w="12700">
            <a:prstDash val="solid"/>
          </a:ln>
          <a:effectLst>
            <a:outerShdw blurRad="215900" dist="88900" dir="5400000" algn="bl" rotWithShape="0">
              <a:srgbClr val="0F1E42">
                <a:alpha val="2392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162300"/>
            <a:ext cx="101600" cy="2730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73200" y="3390900"/>
            <a:ext cx="15977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kern="0" spc="20" dirty="0">
                <a:solidFill>
                  <a:srgbClr val="FFFFFF">
                    <a:alpha val="7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itchFamily="34" charset="-120"/>
              </a:rPr>
              <a:t>system-prompt.txt</a:t>
            </a:r>
            <a:endParaRPr lang="th" sz="1200" dirty="0"/>
          </a:p>
        </p:txBody>
      </p:sp>
      <p:sp>
        <p:nvSpPr>
          <p:cNvPr id="11" name="Shape 8"/>
          <p:cNvSpPr/>
          <p:nvPr/>
        </p:nvSpPr>
        <p:spPr>
          <a:xfrm>
            <a:off x="901700" y="3425825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44450" y="0"/>
                </a:moveTo>
                <a:lnTo>
                  <a:pt x="44450" y="0"/>
                </a:lnTo>
                <a:cubicBezTo>
                  <a:pt x="68835" y="0"/>
                  <a:pt x="88900" y="20065"/>
                  <a:pt x="88900" y="44450"/>
                </a:cubicBezTo>
                <a:lnTo>
                  <a:pt x="88900" y="44450"/>
                </a:lnTo>
                <a:cubicBezTo>
                  <a:pt x="88900" y="68835"/>
                  <a:pt x="68835" y="88900"/>
                  <a:pt x="44450" y="88900"/>
                </a:cubicBezTo>
                <a:lnTo>
                  <a:pt x="44450" y="88900"/>
                </a:lnTo>
                <a:cubicBezTo>
                  <a:pt x="20065" y="88900"/>
                  <a:pt x="0" y="68835"/>
                  <a:pt x="0" y="44450"/>
                </a:cubicBezTo>
                <a:lnTo>
                  <a:pt x="0" y="44450"/>
                </a:lnTo>
                <a:cubicBezTo>
                  <a:pt x="0" y="20065"/>
                  <a:pt x="20065" y="0"/>
                  <a:pt x="44450" y="0"/>
                </a:cubicBezTo>
                <a:close/>
              </a:path>
            </a:pathLst>
          </a:custGeom>
          <a:solidFill>
            <a:srgbClr val="FF5F57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1092200" y="3425825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44450" y="0"/>
                </a:moveTo>
                <a:lnTo>
                  <a:pt x="44450" y="0"/>
                </a:lnTo>
                <a:cubicBezTo>
                  <a:pt x="68835" y="0"/>
                  <a:pt x="88900" y="20065"/>
                  <a:pt x="88900" y="44450"/>
                </a:cubicBezTo>
                <a:lnTo>
                  <a:pt x="88900" y="44450"/>
                </a:lnTo>
                <a:cubicBezTo>
                  <a:pt x="88900" y="68835"/>
                  <a:pt x="68835" y="88900"/>
                  <a:pt x="44450" y="88900"/>
                </a:cubicBezTo>
                <a:lnTo>
                  <a:pt x="44450" y="88900"/>
                </a:lnTo>
                <a:cubicBezTo>
                  <a:pt x="20065" y="88900"/>
                  <a:pt x="0" y="68835"/>
                  <a:pt x="0" y="44450"/>
                </a:cubicBezTo>
                <a:lnTo>
                  <a:pt x="0" y="44450"/>
                </a:lnTo>
                <a:cubicBezTo>
                  <a:pt x="0" y="20065"/>
                  <a:pt x="20065" y="0"/>
                  <a:pt x="44450" y="0"/>
                </a:cubicBezTo>
                <a:close/>
              </a:path>
            </a:pathLst>
          </a:custGeom>
          <a:solidFill>
            <a:srgbClr val="FEBC2E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282700" y="3425825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44450" y="0"/>
                </a:moveTo>
                <a:lnTo>
                  <a:pt x="44450" y="0"/>
                </a:lnTo>
                <a:cubicBezTo>
                  <a:pt x="68835" y="0"/>
                  <a:pt x="88900" y="20065"/>
                  <a:pt x="88900" y="44450"/>
                </a:cubicBezTo>
                <a:lnTo>
                  <a:pt x="88900" y="44450"/>
                </a:lnTo>
                <a:cubicBezTo>
                  <a:pt x="88900" y="68835"/>
                  <a:pt x="68835" y="88900"/>
                  <a:pt x="44450" y="88900"/>
                </a:cubicBezTo>
                <a:lnTo>
                  <a:pt x="44450" y="88900"/>
                </a:lnTo>
                <a:cubicBezTo>
                  <a:pt x="20065" y="88900"/>
                  <a:pt x="0" y="68835"/>
                  <a:pt x="0" y="44450"/>
                </a:cubicBezTo>
                <a:lnTo>
                  <a:pt x="0" y="44450"/>
                </a:lnTo>
                <a:cubicBezTo>
                  <a:pt x="0" y="20065"/>
                  <a:pt x="20065" y="0"/>
                  <a:pt x="44450" y="0"/>
                </a:cubicBezTo>
                <a:close/>
              </a:path>
            </a:pathLst>
          </a:custGeom>
          <a:solidFill>
            <a:srgbClr val="28C840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4" name="ma"/>
          <p:cNvGrpSpPr/>
          <p:nvPr/>
        </p:nvGrpSpPr>
        <p:grpSpPr>
          <a:xfrm>
            <a:off x="901700" y="3708400"/>
            <a:ext cx="7479804" cy="741958"/>
            <a:chOff x="901700" y="3708400"/>
            <a:chExt cx="7479804" cy="741958"/>
          </a:xfrm>
        </p:grpSpPr>
        <p:sp>
          <p:nvSpPr>
            <p:cNvPr id="15" name="Text 0"/>
            <p:cNvSpPr/>
            <p:nvPr/>
          </p:nvSpPr>
          <p:spPr>
            <a:xfrm>
              <a:off x="1543050" y="3746500"/>
              <a:ext cx="43686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คุณคือ</a:t>
              </a:r>
              <a:endParaRPr lang="th" sz="1200" dirty="0"/>
            </a:p>
          </p:txBody>
        </p:sp>
        <p:sp>
          <p:nvSpPr>
            <p:cNvPr id="16" name="Text 1"/>
            <p:cNvSpPr/>
            <p:nvPr/>
          </p:nvSpPr>
          <p:spPr>
            <a:xfrm>
              <a:off x="2071291" y="3746500"/>
              <a:ext cx="80664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“คุณสมชาย</a:t>
              </a:r>
              <a:endParaRPr lang="th" sz="1200" dirty="0"/>
            </a:p>
          </p:txBody>
        </p:sp>
        <p:sp>
          <p:nvSpPr>
            <p:cNvPr id="17" name="Text 2"/>
            <p:cNvSpPr/>
            <p:nvPr/>
          </p:nvSpPr>
          <p:spPr>
            <a:xfrm>
              <a:off x="2969220" y="3746500"/>
              <a:ext cx="266502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อายุ</a:t>
              </a:r>
              <a:endParaRPr lang="th" sz="1200" dirty="0"/>
            </a:p>
          </p:txBody>
        </p:sp>
        <p:sp>
          <p:nvSpPr>
            <p:cNvPr id="18" name="Text 3"/>
            <p:cNvSpPr/>
            <p:nvPr/>
          </p:nvSpPr>
          <p:spPr>
            <a:xfrm>
              <a:off x="3327102" y="3746500"/>
              <a:ext cx="182959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58</a:t>
              </a:r>
              <a:endParaRPr lang="th" sz="1200" dirty="0"/>
            </a:p>
          </p:txBody>
        </p:sp>
        <p:sp>
          <p:nvSpPr>
            <p:cNvPr id="19" name="Text 4"/>
            <p:cNvSpPr/>
            <p:nvPr/>
          </p:nvSpPr>
          <p:spPr>
            <a:xfrm>
              <a:off x="3601442" y="3746500"/>
              <a:ext cx="96837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ปี</a:t>
              </a:r>
              <a:endParaRPr lang="th" sz="1200" dirty="0"/>
            </a:p>
          </p:txBody>
        </p:sp>
        <p:sp>
          <p:nvSpPr>
            <p:cNvPr id="20" name="Text 5"/>
            <p:cNvSpPr/>
            <p:nvPr/>
          </p:nvSpPr>
          <p:spPr>
            <a:xfrm>
              <a:off x="3789561" y="3746500"/>
              <a:ext cx="1294805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ผู้ป่วยโรคความดัน”</a:t>
              </a:r>
              <a:endParaRPr lang="th" sz="1200" dirty="0"/>
            </a:p>
          </p:txBody>
        </p:sp>
        <p:sp>
          <p:nvSpPr>
            <p:cNvPr id="21" name="Text 6"/>
            <p:cNvSpPr/>
            <p:nvPr/>
          </p:nvSpPr>
          <p:spPr>
            <a:xfrm>
              <a:off x="5175746" y="3746500"/>
              <a:ext cx="2018209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ตอบสั้นตามอารมณ์ของคนป่วย</a:t>
              </a:r>
              <a:endParaRPr lang="th" sz="1200" dirty="0"/>
            </a:p>
          </p:txBody>
        </p:sp>
        <p:sp>
          <p:nvSpPr>
            <p:cNvPr id="22" name="Text 7"/>
            <p:cNvSpPr/>
            <p:nvPr/>
          </p:nvSpPr>
          <p:spPr>
            <a:xfrm>
              <a:off x="7285335" y="3746500"/>
              <a:ext cx="1096169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ไม่เอ่ยศัพท์แพทย์</a:t>
              </a:r>
              <a:endParaRPr lang="th" sz="1200" dirty="0"/>
            </a:p>
          </p:txBody>
        </p:sp>
        <p:sp>
          <p:nvSpPr>
            <p:cNvPr id="23" name="Text 8"/>
            <p:cNvSpPr/>
            <p:nvPr/>
          </p:nvSpPr>
          <p:spPr>
            <a:xfrm>
              <a:off x="1448098" y="3999409"/>
              <a:ext cx="1915815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ห้ามวินิจฉัยหรือบอกโรคตรงๆ</a:t>
              </a:r>
              <a:endParaRPr lang="th" sz="1200" dirty="0"/>
            </a:p>
          </p:txBody>
        </p:sp>
        <p:sp>
          <p:nvSpPr>
            <p:cNvPr id="24" name="Text 9"/>
            <p:cNvSpPr/>
            <p:nvPr/>
          </p:nvSpPr>
          <p:spPr>
            <a:xfrm>
              <a:off x="3455293" y="3999409"/>
              <a:ext cx="197991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ให้ตอบเฉพาะเมื่อนักศึกษาถาม</a:t>
              </a:r>
              <a:endParaRPr lang="th" sz="1200" dirty="0"/>
            </a:p>
          </p:txBody>
        </p:sp>
        <p:sp>
          <p:nvSpPr>
            <p:cNvPr id="25" name="Text 10"/>
            <p:cNvSpPr/>
            <p:nvPr/>
          </p:nvSpPr>
          <p:spPr>
            <a:xfrm>
              <a:off x="5526484" y="3999409"/>
              <a:ext cx="140841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และให้คำใบ้ได้ไม่เกิน</a:t>
              </a:r>
              <a:endParaRPr lang="th" sz="1200" dirty="0"/>
            </a:p>
          </p:txBody>
        </p:sp>
        <p:sp>
          <p:nvSpPr>
            <p:cNvPr id="26" name="Text 11"/>
            <p:cNvSpPr/>
            <p:nvPr/>
          </p:nvSpPr>
          <p:spPr>
            <a:xfrm>
              <a:off x="7026275" y="3999409"/>
              <a:ext cx="9148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1</a:t>
              </a:r>
              <a:endParaRPr lang="th" sz="1200" dirty="0"/>
            </a:p>
          </p:txBody>
        </p:sp>
        <p:sp>
          <p:nvSpPr>
            <p:cNvPr id="27" name="Text 12"/>
            <p:cNvSpPr/>
            <p:nvPr/>
          </p:nvSpPr>
          <p:spPr>
            <a:xfrm>
              <a:off x="7209135" y="3999409"/>
              <a:ext cx="81557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ครั้ง/คำถาม</a:t>
              </a:r>
              <a:endParaRPr lang="th" sz="1200" dirty="0"/>
            </a:p>
          </p:txBody>
        </p:sp>
        <p:sp>
          <p:nvSpPr>
            <p:cNvPr id="28" name="Text 13"/>
            <p:cNvSpPr/>
            <p:nvPr/>
          </p:nvSpPr>
          <p:spPr>
            <a:xfrm>
              <a:off x="1502073" y="4252317"/>
              <a:ext cx="2364581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จบเมื่อนักศึกษาสรุปการพยาบาลครบ</a:t>
              </a:r>
              <a:endParaRPr lang="th" sz="1200" dirty="0"/>
            </a:p>
          </p:txBody>
        </p:sp>
        <p:sp>
          <p:nvSpPr>
            <p:cNvPr id="29" name="Text 14"/>
            <p:cNvSpPr/>
            <p:nvPr/>
          </p:nvSpPr>
          <p:spPr>
            <a:xfrm>
              <a:off x="3957935" y="4252317"/>
              <a:ext cx="91579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3</a:t>
              </a:r>
              <a:endParaRPr lang="th" sz="1200" dirty="0"/>
            </a:p>
          </p:txBody>
        </p:sp>
        <p:sp>
          <p:nvSpPr>
            <p:cNvPr id="30" name="Text 15"/>
            <p:cNvSpPr/>
            <p:nvPr/>
          </p:nvSpPr>
          <p:spPr>
            <a:xfrm>
              <a:off x="4140895" y="4252317"/>
              <a:ext cx="195759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ข้อ</a:t>
              </a:r>
              <a:endParaRPr lang="th" sz="1200" dirty="0"/>
            </a:p>
          </p:txBody>
        </p:sp>
        <p:sp>
          <p:nvSpPr>
            <p:cNvPr id="31" name="Text 16"/>
            <p:cNvSpPr/>
            <p:nvPr/>
          </p:nvSpPr>
          <p:spPr>
            <a:xfrm>
              <a:off x="4428034" y="4252317"/>
              <a:ext cx="942479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แล้วให้คะแนน</a:t>
              </a:r>
              <a:endParaRPr lang="th" sz="1200" dirty="0"/>
            </a:p>
          </p:txBody>
        </p:sp>
        <p:sp>
          <p:nvSpPr>
            <p:cNvPr id="32" name="Text 17"/>
            <p:cNvSpPr/>
            <p:nvPr/>
          </p:nvSpPr>
          <p:spPr>
            <a:xfrm>
              <a:off x="5461893" y="4252317"/>
              <a:ext cx="36582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0–10</a:t>
              </a:r>
              <a:endParaRPr lang="th" sz="1200" dirty="0"/>
            </a:p>
          </p:txBody>
        </p:sp>
        <p:sp>
          <p:nvSpPr>
            <p:cNvPr id="33" name="Text 18"/>
            <p:cNvSpPr/>
            <p:nvPr/>
          </p:nvSpPr>
          <p:spPr>
            <a:xfrm>
              <a:off x="5919093" y="4252317"/>
              <a:ext cx="1308695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E8EEFC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พร้อมชี้จุดที่ยังพลาด</a:t>
              </a:r>
              <a:endParaRPr lang="th" sz="1200" dirty="0"/>
            </a:p>
          </p:txBody>
        </p:sp>
        <p:sp>
          <p:nvSpPr>
            <p:cNvPr id="34" name="Shape 19"/>
            <p:cNvSpPr/>
            <p:nvPr/>
          </p:nvSpPr>
          <p:spPr>
            <a:xfrm>
              <a:off x="901700" y="3708400"/>
              <a:ext cx="565150" cy="236141"/>
            </a:xfrm>
            <a:custGeom>
              <a:avLst/>
              <a:gdLst/>
              <a:ahLst/>
              <a:cxnLst/>
              <a:rect l="l" t="t" r="r" b="b"/>
              <a:pathLst>
                <a:path w="565150" h="236141">
                  <a:moveTo>
                    <a:pt x="38100" y="0"/>
                  </a:moveTo>
                  <a:lnTo>
                    <a:pt x="527050" y="0"/>
                  </a:lnTo>
                  <a:cubicBezTo>
                    <a:pt x="547951" y="0"/>
                    <a:pt x="565150" y="17199"/>
                    <a:pt x="565150" y="38100"/>
                  </a:cubicBezTo>
                  <a:lnTo>
                    <a:pt x="565150" y="198041"/>
                  </a:lnTo>
                  <a:cubicBezTo>
                    <a:pt x="565150" y="218942"/>
                    <a:pt x="547951" y="236141"/>
                    <a:pt x="527050" y="236141"/>
                  </a:cubicBezTo>
                  <a:lnTo>
                    <a:pt x="38100" y="236141"/>
                  </a:lnTo>
                  <a:cubicBezTo>
                    <a:pt x="17199" y="236141"/>
                    <a:pt x="0" y="218942"/>
                    <a:pt x="0" y="198041"/>
                  </a:cubicBezTo>
                  <a:lnTo>
                    <a:pt x="0" y="38100"/>
                  </a:lnTo>
                  <a:cubicBezTo>
                    <a:pt x="0" y="17199"/>
                    <a:pt x="17199" y="0"/>
                    <a:pt x="38100" y="0"/>
                  </a:cubicBezTo>
                  <a:close/>
                </a:path>
              </a:pathLst>
            </a:custGeom>
            <a:solidFill>
              <a:srgbClr val="0EA5E9">
                <a:alpha val="32000"/>
              </a:srgbClr>
            </a:solidFill>
          </p:spPr>
          <p:txBody>
            <a:bodyPr wrap="none" rtlCol="0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5" name="Text 20"/>
            <p:cNvSpPr/>
            <p:nvPr/>
          </p:nvSpPr>
          <p:spPr>
            <a:xfrm>
              <a:off x="977900" y="3759200"/>
              <a:ext cx="412750" cy="127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000" b="1" i="0" kern="0" spc="20" dirty="0">
                  <a:solidFill>
                    <a:srgbClr val="BFE7FF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บทบาท</a:t>
              </a:r>
              <a:endParaRPr lang="th" sz="1000" dirty="0"/>
            </a:p>
          </p:txBody>
        </p:sp>
        <p:sp>
          <p:nvSpPr>
            <p:cNvPr id="36" name="Shape 21"/>
            <p:cNvSpPr/>
            <p:nvPr/>
          </p:nvSpPr>
          <p:spPr>
            <a:xfrm>
              <a:off x="901700" y="3961309"/>
              <a:ext cx="470198" cy="236141"/>
            </a:xfrm>
            <a:custGeom>
              <a:avLst/>
              <a:gdLst/>
              <a:ahLst/>
              <a:cxnLst/>
              <a:rect l="l" t="t" r="r" b="b"/>
              <a:pathLst>
                <a:path w="470198" h="236141">
                  <a:moveTo>
                    <a:pt x="38100" y="0"/>
                  </a:moveTo>
                  <a:lnTo>
                    <a:pt x="432097" y="0"/>
                  </a:lnTo>
                  <a:cubicBezTo>
                    <a:pt x="452999" y="0"/>
                    <a:pt x="470197" y="17199"/>
                    <a:pt x="470197" y="38100"/>
                  </a:cubicBezTo>
                  <a:lnTo>
                    <a:pt x="470197" y="198041"/>
                  </a:lnTo>
                  <a:cubicBezTo>
                    <a:pt x="470197" y="218942"/>
                    <a:pt x="452999" y="236141"/>
                    <a:pt x="432097" y="236141"/>
                  </a:cubicBezTo>
                  <a:lnTo>
                    <a:pt x="38100" y="236141"/>
                  </a:lnTo>
                  <a:cubicBezTo>
                    <a:pt x="17199" y="236141"/>
                    <a:pt x="0" y="218942"/>
                    <a:pt x="0" y="198041"/>
                  </a:cubicBezTo>
                  <a:lnTo>
                    <a:pt x="0" y="38100"/>
                  </a:lnTo>
                  <a:cubicBezTo>
                    <a:pt x="0" y="17199"/>
                    <a:pt x="17199" y="0"/>
                    <a:pt x="38100" y="0"/>
                  </a:cubicBezTo>
                  <a:close/>
                </a:path>
              </a:pathLst>
            </a:custGeom>
            <a:solidFill>
              <a:srgbClr val="DC6B5A">
                <a:alpha val="34000"/>
              </a:srgbClr>
            </a:solidFill>
          </p:spPr>
          <p:txBody>
            <a:bodyPr wrap="none" rtlCol="0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7" name="Text 22"/>
            <p:cNvSpPr/>
            <p:nvPr/>
          </p:nvSpPr>
          <p:spPr>
            <a:xfrm>
              <a:off x="977900" y="4012109"/>
              <a:ext cx="317798" cy="127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000" b="1" i="0" kern="0" spc="20" dirty="0">
                  <a:solidFill>
                    <a:srgbClr val="FFD7CF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กติกา</a:t>
              </a:r>
              <a:endParaRPr lang="th" sz="1000" dirty="0"/>
            </a:p>
          </p:txBody>
        </p:sp>
        <p:sp>
          <p:nvSpPr>
            <p:cNvPr id="38" name="Shape 23"/>
            <p:cNvSpPr/>
            <p:nvPr/>
          </p:nvSpPr>
          <p:spPr>
            <a:xfrm>
              <a:off x="901700" y="4214217"/>
              <a:ext cx="524173" cy="236141"/>
            </a:xfrm>
            <a:custGeom>
              <a:avLst/>
              <a:gdLst/>
              <a:ahLst/>
              <a:cxnLst/>
              <a:rect l="l" t="t" r="r" b="b"/>
              <a:pathLst>
                <a:path w="524173" h="236141">
                  <a:moveTo>
                    <a:pt x="38100" y="0"/>
                  </a:moveTo>
                  <a:lnTo>
                    <a:pt x="486073" y="0"/>
                  </a:lnTo>
                  <a:cubicBezTo>
                    <a:pt x="506974" y="0"/>
                    <a:pt x="524173" y="17199"/>
                    <a:pt x="524173" y="38100"/>
                  </a:cubicBezTo>
                  <a:lnTo>
                    <a:pt x="524173" y="198041"/>
                  </a:lnTo>
                  <a:cubicBezTo>
                    <a:pt x="524173" y="218942"/>
                    <a:pt x="506974" y="236141"/>
                    <a:pt x="486073" y="236141"/>
                  </a:cubicBezTo>
                  <a:lnTo>
                    <a:pt x="38100" y="236141"/>
                  </a:lnTo>
                  <a:cubicBezTo>
                    <a:pt x="17199" y="236141"/>
                    <a:pt x="0" y="218942"/>
                    <a:pt x="0" y="198041"/>
                  </a:cubicBezTo>
                  <a:lnTo>
                    <a:pt x="0" y="38100"/>
                  </a:lnTo>
                  <a:cubicBezTo>
                    <a:pt x="0" y="17199"/>
                    <a:pt x="17199" y="0"/>
                    <a:pt x="38100" y="0"/>
                  </a:cubicBezTo>
                  <a:close/>
                </a:path>
              </a:pathLst>
            </a:custGeom>
            <a:solidFill>
              <a:srgbClr val="F59E0B">
                <a:alpha val="34000"/>
              </a:srgbClr>
            </a:solidFill>
          </p:spPr>
          <p:txBody>
            <a:bodyPr wrap="none" rtlCol="0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9" name="Text 24"/>
            <p:cNvSpPr/>
            <p:nvPr/>
          </p:nvSpPr>
          <p:spPr>
            <a:xfrm>
              <a:off x="977900" y="4265017"/>
              <a:ext cx="371773" cy="127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000" b="1" i="0" kern="0" spc="20" dirty="0">
                  <a:solidFill>
                    <a:srgbClr val="FFE6B8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จบเกม</a:t>
              </a:r>
              <a:endParaRPr lang="th" sz="1000" dirty="0"/>
            </a:p>
          </p:txBody>
        </p:sp>
      </p:grpSp>
      <p:sp>
        <p:nvSpPr>
          <p:cNvPr id="40" name="Text 11"/>
          <p:cNvSpPr/>
          <p:nvPr/>
        </p:nvSpPr>
        <p:spPr>
          <a:xfrm>
            <a:off x="8834239" y="5537200"/>
            <a:ext cx="25576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000" b="0" i="0" dirty="0">
                <a:solidFill>
                  <a:srgbClr val="FFFFFF">
                    <a:alpha val="4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คัดลอก–ปรับชื่อตัวละครให้ตรงกับสาขาของคุณ</a:t>
            </a:r>
            <a:endParaRPr lang="th" sz="100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6092825"/>
            <a:ext cx="177800" cy="177800"/>
          </a:xfrm>
          <a:prstGeom prst="rect">
            <a:avLst/>
          </a:prstGeom>
        </p:spPr>
      </p:pic>
      <p:sp>
        <p:nvSpPr>
          <p:cNvPr id="42" name="Text 12"/>
          <p:cNvSpPr/>
          <p:nvPr/>
        </p:nvSpPr>
        <p:spPr>
          <a:xfrm>
            <a:off x="787400" y="6070600"/>
            <a:ext cx="578326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วางข้อความนี้ในช่อง System Instruction เพื่อให้ AI ไม่หลุดบทบาทเมื่อบทสนทนายาวขึ้น</a:t>
            </a:r>
            <a:endParaRPr lang="th" sz="1200" dirty="0"/>
          </a:p>
        </p:txBody>
      </p:sp>
      <p:sp>
        <p:nvSpPr>
          <p:cNvPr id="43" name="CSS box-shadow background"/>
          <p:cNvSpPr/>
          <p:nvPr/>
        </p:nvSpPr>
        <p:spPr>
          <a:xfrm>
            <a:off x="1911350" y="1555750"/>
            <a:ext cx="622300" cy="62230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F7F8FB"/>
            </a:solidFill>
            <a:prstDash val="solid"/>
          </a:ln>
          <a:effectLst>
            <a:outerShdw blurRad="152400" dist="63500" dir="5400000" algn="bl" rotWithShape="0">
              <a:srgbClr val="1E3A8A">
                <a:alpha val="2392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14"/>
          <p:cNvSpPr/>
          <p:nvPr/>
        </p:nvSpPr>
        <p:spPr>
          <a:xfrm>
            <a:off x="2077145" y="1692275"/>
            <a:ext cx="29061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20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01</a:t>
            </a:r>
            <a:endParaRPr lang="th" sz="2000" dirty="0"/>
          </a:p>
        </p:txBody>
      </p:sp>
      <p:sp>
        <p:nvSpPr>
          <p:cNvPr id="45" name="Text 15"/>
          <p:cNvSpPr/>
          <p:nvPr/>
        </p:nvSpPr>
        <p:spPr>
          <a:xfrm>
            <a:off x="968276" y="2317750"/>
            <a:ext cx="2508448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2000" b="1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กำหนดบทบาทตัวละคร</a:t>
            </a:r>
            <a:endParaRPr lang="th" sz="2000" dirty="0"/>
          </a:p>
        </p:txBody>
      </p:sp>
      <p:sp>
        <p:nvSpPr>
          <p:cNvPr id="46" name="Text 16"/>
          <p:cNvSpPr/>
          <p:nvPr/>
        </p:nvSpPr>
        <p:spPr>
          <a:xfrm>
            <a:off x="803573" y="2717800"/>
            <a:ext cx="28377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3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เป็นใคร อายุเท่าไร มีข้อมูลอะไรรู้และ</a:t>
            </a:r>
            <a:endParaRPr lang="th" sz="1300" dirty="0"/>
          </a:p>
        </p:txBody>
      </p:sp>
      <p:sp>
        <p:nvSpPr>
          <p:cNvPr id="47" name="Text 17"/>
          <p:cNvSpPr/>
          <p:nvPr/>
        </p:nvSpPr>
        <p:spPr>
          <a:xfrm>
            <a:off x="2082205" y="2948880"/>
            <a:ext cx="2805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3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ไม่รู้</a:t>
            </a:r>
            <a:endParaRPr lang="th" sz="1300" dirty="0"/>
          </a:p>
        </p:txBody>
      </p:sp>
      <p:sp>
        <p:nvSpPr>
          <p:cNvPr id="48" name="Text 18"/>
          <p:cNvSpPr/>
          <p:nvPr/>
        </p:nvSpPr>
        <p:spPr>
          <a:xfrm>
            <a:off x="1719858" y="3218061"/>
            <a:ext cx="10052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100" b="1" i="0" kern="0" spc="20" dirty="0">
                <a:solidFill>
                  <a:srgbClr val="8B94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Role Definition</a:t>
            </a:r>
            <a:endParaRPr lang="th" sz="1100" dirty="0"/>
          </a:p>
        </p:txBody>
      </p:sp>
      <p:sp>
        <p:nvSpPr>
          <p:cNvPr id="49" name="CSS box-shadow background"/>
          <p:cNvSpPr/>
          <p:nvPr/>
        </p:nvSpPr>
        <p:spPr>
          <a:xfrm>
            <a:off x="5784850" y="1555750"/>
            <a:ext cx="622300" cy="62230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F7F8FB"/>
            </a:solidFill>
            <a:prstDash val="solid"/>
          </a:ln>
          <a:effectLst>
            <a:outerShdw blurRad="152400" dist="63500" dir="5400000" algn="bl" rotWithShape="0">
              <a:srgbClr val="1E3A8A">
                <a:alpha val="2392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20"/>
          <p:cNvSpPr/>
          <p:nvPr/>
        </p:nvSpPr>
        <p:spPr>
          <a:xfrm>
            <a:off x="5950645" y="1692275"/>
            <a:ext cx="29061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20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02</a:t>
            </a:r>
            <a:endParaRPr lang="th" sz="2000" dirty="0"/>
          </a:p>
        </p:txBody>
      </p:sp>
      <p:sp>
        <p:nvSpPr>
          <p:cNvPr id="51" name="Text 21"/>
          <p:cNvSpPr/>
          <p:nvPr/>
        </p:nvSpPr>
        <p:spPr>
          <a:xfrm>
            <a:off x="4635500" y="2317750"/>
            <a:ext cx="2920901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2000" b="1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กติกาเหล็ก: ห้ามเฉลยตรงๆ</a:t>
            </a:r>
            <a:endParaRPr lang="th" sz="2000" dirty="0"/>
          </a:p>
        </p:txBody>
      </p:sp>
      <p:sp>
        <p:nvSpPr>
          <p:cNvPr id="52" name="Text 22"/>
          <p:cNvSpPr/>
          <p:nvPr/>
        </p:nvSpPr>
        <p:spPr>
          <a:xfrm>
            <a:off x="4698206" y="2717800"/>
            <a:ext cx="27955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3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ให้คำใบ้และตั้งคำถามย้อน แต่ไม่เปิดคำ</a:t>
            </a:r>
            <a:endParaRPr lang="th" sz="1300" dirty="0"/>
          </a:p>
        </p:txBody>
      </p:sp>
      <p:sp>
        <p:nvSpPr>
          <p:cNvPr id="53" name="Text 23"/>
          <p:cNvSpPr/>
          <p:nvPr/>
        </p:nvSpPr>
        <p:spPr>
          <a:xfrm>
            <a:off x="5687219" y="2948880"/>
            <a:ext cx="817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3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ตอบสุดท้าย</a:t>
            </a:r>
            <a:endParaRPr lang="th" sz="1300" dirty="0"/>
          </a:p>
        </p:txBody>
      </p:sp>
      <p:sp>
        <p:nvSpPr>
          <p:cNvPr id="54" name="Text 24"/>
          <p:cNvSpPr/>
          <p:nvPr/>
        </p:nvSpPr>
        <p:spPr>
          <a:xfrm>
            <a:off x="5101233" y="3218061"/>
            <a:ext cx="19895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100" b="1" i="0" kern="0" spc="20" dirty="0">
                <a:solidFill>
                  <a:srgbClr val="8B94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Iron Rule · No Direct Answers</a:t>
            </a:r>
            <a:endParaRPr lang="th" sz="1100" dirty="0"/>
          </a:p>
        </p:txBody>
      </p:sp>
      <p:sp>
        <p:nvSpPr>
          <p:cNvPr id="55" name="CSS box-shadow background"/>
          <p:cNvSpPr/>
          <p:nvPr/>
        </p:nvSpPr>
        <p:spPr>
          <a:xfrm>
            <a:off x="9658350" y="1555750"/>
            <a:ext cx="622300" cy="62230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F7F8FB"/>
            </a:solidFill>
            <a:prstDash val="solid"/>
          </a:ln>
          <a:effectLst>
            <a:outerShdw blurRad="152400" dist="63500" dir="5400000" algn="bl" rotWithShape="0">
              <a:srgbClr val="1E3A8A">
                <a:alpha val="2392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26"/>
          <p:cNvSpPr/>
          <p:nvPr/>
        </p:nvSpPr>
        <p:spPr>
          <a:xfrm>
            <a:off x="9824145" y="1692275"/>
            <a:ext cx="29061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20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03</a:t>
            </a:r>
            <a:endParaRPr lang="th" sz="2000" dirty="0"/>
          </a:p>
        </p:txBody>
      </p:sp>
      <p:sp>
        <p:nvSpPr>
          <p:cNvPr id="57" name="Text 27"/>
          <p:cNvSpPr/>
          <p:nvPr/>
        </p:nvSpPr>
        <p:spPr>
          <a:xfrm>
            <a:off x="8598892" y="2317750"/>
            <a:ext cx="274111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2000" b="1" i="0" dirty="0">
                <a:solidFill>
                  <a:srgbClr val="1620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เงื่อนไขจบ &amp; สรุปคะแนน</a:t>
            </a:r>
            <a:endParaRPr lang="th" sz="2000" dirty="0"/>
          </a:p>
        </p:txBody>
      </p:sp>
      <p:sp>
        <p:nvSpPr>
          <p:cNvPr id="58" name="Text 28"/>
          <p:cNvSpPr/>
          <p:nvPr/>
        </p:nvSpPr>
        <p:spPr>
          <a:xfrm>
            <a:off x="8559998" y="2717800"/>
            <a:ext cx="28190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3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กำหนดว่าเมื่อไรจบสถานการณ์ และสรุป</a:t>
            </a:r>
            <a:endParaRPr lang="th" sz="1300" dirty="0"/>
          </a:p>
        </p:txBody>
      </p:sp>
      <p:sp>
        <p:nvSpPr>
          <p:cNvPr id="59" name="Text 29"/>
          <p:cNvSpPr/>
          <p:nvPr/>
        </p:nvSpPr>
        <p:spPr>
          <a:xfrm>
            <a:off x="9550003" y="2948880"/>
            <a:ext cx="8388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300" b="0" i="0" dirty="0">
                <a:solidFill>
                  <a:srgbClr val="5B65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ผลให้ผู้เรียน</a:t>
            </a:r>
            <a:endParaRPr lang="th" sz="1300" dirty="0"/>
          </a:p>
        </p:txBody>
      </p:sp>
      <p:sp>
        <p:nvSpPr>
          <p:cNvPr id="60" name="Text 30"/>
          <p:cNvSpPr/>
          <p:nvPr/>
        </p:nvSpPr>
        <p:spPr>
          <a:xfrm>
            <a:off x="9147969" y="3218061"/>
            <a:ext cx="16429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100" b="1" i="0" kern="0" spc="20" dirty="0">
                <a:solidFill>
                  <a:srgbClr val="8B94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Exit Condition &amp; Scoring</a:t>
            </a:r>
            <a:endParaRPr lang="th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tile sx="100000" sy="10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8900" cy="6858000"/>
          </a:xfrm>
          <a:prstGeom prst="rect">
            <a:avLst/>
          </a:prstGeom>
        </p:spPr>
      </p:pic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72000"/>
            <a:ext cx="2540000" cy="2286000"/>
          </a:xfrm>
          <a:prstGeom prst="rect">
            <a:avLst/>
          </a:prstGeom>
        </p:spPr>
      </p:pic>
      <p:pic>
        <p:nvPicPr>
          <p:cNvPr id="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270500"/>
            <a:ext cx="1778000" cy="158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000" y="692150"/>
            <a:ext cx="5194598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32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Playtesting &amp; Refinement</a:t>
            </a:r>
            <a:endParaRPr lang="th" sz="3200" dirty="0"/>
          </a:p>
        </p:txBody>
      </p:sp>
      <p:sp>
        <p:nvSpPr>
          <p:cNvPr id="5" name="Text 1"/>
          <p:cNvSpPr/>
          <p:nvPr/>
        </p:nvSpPr>
        <p:spPr>
          <a:xfrm>
            <a:off x="635000" y="1326852"/>
            <a:ext cx="898792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กิจกรรมจับคู่ (Pair Testing): สลับกันทดลองเล่นสถานการณ์จำลองที่เขียนขึ้น เพื่อตรวจว่า AI หลุดบทบาท</a:t>
            </a:r>
            <a:endParaRPr lang="th" sz="1600" dirty="0"/>
          </a:p>
        </p:txBody>
      </p:sp>
      <p:sp>
        <p:nvSpPr>
          <p:cNvPr id="6" name="Text 2"/>
          <p:cNvSpPr/>
          <p:nvPr/>
        </p:nvSpPr>
        <p:spPr>
          <a:xfrm>
            <a:off x="635000" y="1621433"/>
            <a:ext cx="376237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หรือไม่ แล้วปรับจูน Constraints ให้สมบูรณ์</a:t>
            </a:r>
            <a:endParaRPr lang="th" sz="1600" dirty="0"/>
          </a:p>
        </p:txBody>
      </p:sp>
      <p:sp>
        <p:nvSpPr>
          <p:cNvPr id="7" name="Text 3"/>
          <p:cNvSpPr/>
          <p:nvPr/>
        </p:nvSpPr>
        <p:spPr>
          <a:xfrm>
            <a:off x="902395" y="444500"/>
            <a:ext cx="5646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SLIDE 8</a:t>
            </a:r>
            <a:endParaRPr lang="th" sz="1200" dirty="0"/>
          </a:p>
        </p:txBody>
      </p:sp>
      <p:sp>
        <p:nvSpPr>
          <p:cNvPr id="8" name="Text 4"/>
          <p:cNvSpPr/>
          <p:nvPr/>
        </p:nvSpPr>
        <p:spPr>
          <a:xfrm>
            <a:off x="1553865" y="444500"/>
            <a:ext cx="447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th" sz="1200" dirty="0"/>
          </a:p>
        </p:txBody>
      </p:sp>
      <p:sp>
        <p:nvSpPr>
          <p:cNvPr id="9" name="Text 5"/>
          <p:cNvSpPr/>
          <p:nvPr/>
        </p:nvSpPr>
        <p:spPr>
          <a:xfrm>
            <a:off x="1685330" y="444500"/>
            <a:ext cx="102125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3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WORKSHOP 2</a:t>
            </a:r>
            <a:endParaRPr lang="th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479425"/>
            <a:ext cx="178495" cy="13970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850" y="2387600"/>
            <a:ext cx="12700" cy="3164483"/>
          </a:xfrm>
          <a:prstGeom prst="rect">
            <a:avLst/>
          </a:prstGeom>
        </p:spPr>
      </p:pic>
      <p:grpSp>
        <p:nvGrpSpPr>
          <p:cNvPr id="12" name="ma"/>
          <p:cNvGrpSpPr/>
          <p:nvPr/>
        </p:nvGrpSpPr>
        <p:grpSpPr>
          <a:xfrm>
            <a:off x="1384300" y="2216150"/>
            <a:ext cx="2169120" cy="349250"/>
            <a:chOff x="1384300" y="2216150"/>
            <a:chExt cx="2169120" cy="349250"/>
          </a:xfrm>
        </p:grpSpPr>
        <p:sp>
          <p:nvSpPr>
            <p:cNvPr id="13" name="Text 0"/>
            <p:cNvSpPr/>
            <p:nvPr/>
          </p:nvSpPr>
          <p:spPr>
            <a:xfrm>
              <a:off x="1806972" y="2216150"/>
              <a:ext cx="1746448" cy="349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Play — เล่นจริง</a:t>
              </a:r>
              <a:endParaRPr lang="th" sz="2000" dirty="0"/>
            </a:p>
          </p:txBody>
        </p:sp>
        <p:sp>
          <p:nvSpPr>
            <p:cNvPr id="14" name="Text 1"/>
            <p:cNvSpPr/>
            <p:nvPr/>
          </p:nvSpPr>
          <p:spPr>
            <a:xfrm>
              <a:off x="1384300" y="2216150"/>
              <a:ext cx="290612" cy="349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59E0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01</a:t>
              </a:r>
              <a:endParaRPr lang="th" sz="2000" dirty="0"/>
            </a:p>
          </p:txBody>
        </p:sp>
      </p:grpSp>
      <p:sp>
        <p:nvSpPr>
          <p:cNvPr id="15" name="Text 6"/>
          <p:cNvSpPr/>
          <p:nvPr/>
        </p:nvSpPr>
        <p:spPr>
          <a:xfrm>
            <a:off x="1384300" y="2622550"/>
            <a:ext cx="4167783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>
                    <a:alpha val="76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เพื่อนร่วมวงเล่นเป็นผู้เรียน ยิงคำถามกับ AI ที่คุณ</a:t>
            </a:r>
            <a:endParaRPr lang="th" sz="1600" dirty="0"/>
          </a:p>
        </p:txBody>
      </p:sp>
      <p:sp>
        <p:nvSpPr>
          <p:cNvPr id="16" name="Text 7"/>
          <p:cNvSpPr/>
          <p:nvPr/>
        </p:nvSpPr>
        <p:spPr>
          <a:xfrm>
            <a:off x="1384300" y="2917130"/>
            <a:ext cx="97234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>
                    <a:alpha val="76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ออกแบบไว้</a:t>
            </a:r>
            <a:endParaRPr lang="th" sz="1600" dirty="0"/>
          </a:p>
        </p:txBody>
      </p:sp>
      <p:sp>
        <p:nvSpPr>
          <p:cNvPr id="17" name="Shape 8"/>
          <p:cNvSpPr/>
          <p:nvPr/>
        </p:nvSpPr>
        <p:spPr>
          <a:xfrm>
            <a:off x="635000" y="22352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15900" y="0"/>
                </a:moveTo>
                <a:lnTo>
                  <a:pt x="215900" y="0"/>
                </a:lnTo>
                <a:cubicBezTo>
                  <a:pt x="334339" y="0"/>
                  <a:pt x="431800" y="97461"/>
                  <a:pt x="431800" y="215900"/>
                </a:cubicBezTo>
                <a:lnTo>
                  <a:pt x="431800" y="215900"/>
                </a:lnTo>
                <a:cubicBezTo>
                  <a:pt x="431800" y="334339"/>
                  <a:pt x="334339" y="431800"/>
                  <a:pt x="215900" y="431800"/>
                </a:cubicBezTo>
                <a:lnTo>
                  <a:pt x="215900" y="431800"/>
                </a:lnTo>
                <a:cubicBezTo>
                  <a:pt x="97461" y="431800"/>
                  <a:pt x="0" y="334339"/>
                  <a:pt x="0" y="215900"/>
                </a:cubicBezTo>
                <a:lnTo>
                  <a:pt x="0" y="215900"/>
                </a:lnTo>
                <a:cubicBezTo>
                  <a:pt x="0" y="97461"/>
                  <a:pt x="97461" y="0"/>
                  <a:pt x="21590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775" y="2362200"/>
            <a:ext cx="222250" cy="177800"/>
          </a:xfrm>
          <a:prstGeom prst="rect">
            <a:avLst/>
          </a:prstGeom>
        </p:spPr>
      </p:pic>
      <p:grpSp>
        <p:nvGrpSpPr>
          <p:cNvPr id="19" name="ma"/>
          <p:cNvGrpSpPr/>
          <p:nvPr/>
        </p:nvGrpSpPr>
        <p:grpSpPr>
          <a:xfrm>
            <a:off x="1384300" y="3516511"/>
            <a:ext cx="3207643" cy="349250"/>
            <a:chOff x="1384300" y="3516511"/>
            <a:chExt cx="3207643" cy="349250"/>
          </a:xfrm>
        </p:grpSpPr>
        <p:sp>
          <p:nvSpPr>
            <p:cNvPr id="20" name="Text 0"/>
            <p:cNvSpPr/>
            <p:nvPr/>
          </p:nvSpPr>
          <p:spPr>
            <a:xfrm>
              <a:off x="1806972" y="3516511"/>
              <a:ext cx="2784971" cy="349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Detect — จับการหลุดบท</a:t>
              </a:r>
              <a:endParaRPr lang="th" sz="2000" dirty="0"/>
            </a:p>
          </p:txBody>
        </p:sp>
        <p:sp>
          <p:nvSpPr>
            <p:cNvPr id="21" name="Text 1"/>
            <p:cNvSpPr/>
            <p:nvPr/>
          </p:nvSpPr>
          <p:spPr>
            <a:xfrm>
              <a:off x="1384300" y="3516511"/>
              <a:ext cx="290612" cy="349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59E0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02</a:t>
              </a:r>
              <a:endParaRPr lang="th" sz="2000" dirty="0"/>
            </a:p>
          </p:txBody>
        </p:sp>
      </p:grpSp>
      <p:sp>
        <p:nvSpPr>
          <p:cNvPr id="22" name="Text 9"/>
          <p:cNvSpPr/>
          <p:nvPr/>
        </p:nvSpPr>
        <p:spPr>
          <a:xfrm>
            <a:off x="1384300" y="3922911"/>
            <a:ext cx="413970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>
                    <a:alpha val="76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สังเกตจุดที่ AI ยอมบอกเฉลย ลืมตัวละคร หรือจบ</a:t>
            </a:r>
            <a:endParaRPr lang="th" sz="1600" dirty="0"/>
          </a:p>
        </p:txBody>
      </p:sp>
      <p:sp>
        <p:nvSpPr>
          <p:cNvPr id="23" name="Text 10"/>
          <p:cNvSpPr/>
          <p:nvPr/>
        </p:nvSpPr>
        <p:spPr>
          <a:xfrm>
            <a:off x="1384300" y="4217491"/>
            <a:ext cx="137616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>
                    <a:alpha val="76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เกมไม่เป็นระบบ</a:t>
            </a:r>
            <a:endParaRPr lang="th" sz="1600" dirty="0"/>
          </a:p>
        </p:txBody>
      </p:sp>
      <p:sp>
        <p:nvSpPr>
          <p:cNvPr id="24" name="Shape 11"/>
          <p:cNvSpPr/>
          <p:nvPr/>
        </p:nvSpPr>
        <p:spPr>
          <a:xfrm>
            <a:off x="635000" y="3535561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15900" y="0"/>
                </a:moveTo>
                <a:lnTo>
                  <a:pt x="215900" y="0"/>
                </a:lnTo>
                <a:cubicBezTo>
                  <a:pt x="334339" y="0"/>
                  <a:pt x="431800" y="97461"/>
                  <a:pt x="431800" y="215900"/>
                </a:cubicBezTo>
                <a:lnTo>
                  <a:pt x="431800" y="215900"/>
                </a:lnTo>
                <a:cubicBezTo>
                  <a:pt x="431800" y="334339"/>
                  <a:pt x="334339" y="431800"/>
                  <a:pt x="215900" y="431800"/>
                </a:cubicBezTo>
                <a:lnTo>
                  <a:pt x="215900" y="431800"/>
                </a:lnTo>
                <a:cubicBezTo>
                  <a:pt x="97461" y="431800"/>
                  <a:pt x="0" y="334339"/>
                  <a:pt x="0" y="215900"/>
                </a:cubicBezTo>
                <a:lnTo>
                  <a:pt x="0" y="215900"/>
                </a:lnTo>
                <a:cubicBezTo>
                  <a:pt x="0" y="97461"/>
                  <a:pt x="97461" y="0"/>
                  <a:pt x="21590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662561"/>
            <a:ext cx="177800" cy="177800"/>
          </a:xfrm>
          <a:prstGeom prst="rect">
            <a:avLst/>
          </a:prstGeom>
        </p:spPr>
      </p:pic>
      <p:grpSp>
        <p:nvGrpSpPr>
          <p:cNvPr id="26" name="ma"/>
          <p:cNvGrpSpPr/>
          <p:nvPr/>
        </p:nvGrpSpPr>
        <p:grpSpPr>
          <a:xfrm>
            <a:off x="1384300" y="4816872"/>
            <a:ext cx="3611067" cy="349250"/>
            <a:chOff x="1384300" y="4816872"/>
            <a:chExt cx="3611067" cy="349250"/>
          </a:xfrm>
        </p:grpSpPr>
        <p:sp>
          <p:nvSpPr>
            <p:cNvPr id="27" name="Text 0"/>
            <p:cNvSpPr/>
            <p:nvPr/>
          </p:nvSpPr>
          <p:spPr>
            <a:xfrm>
              <a:off x="1806972" y="4816872"/>
              <a:ext cx="3188395" cy="349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Refine — ปรับ Constraints</a:t>
              </a:r>
              <a:endParaRPr lang="th" sz="2000" dirty="0"/>
            </a:p>
          </p:txBody>
        </p:sp>
        <p:sp>
          <p:nvSpPr>
            <p:cNvPr id="28" name="Text 1"/>
            <p:cNvSpPr/>
            <p:nvPr/>
          </p:nvSpPr>
          <p:spPr>
            <a:xfrm>
              <a:off x="1384300" y="4816872"/>
              <a:ext cx="290612" cy="349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59E0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03</a:t>
              </a:r>
              <a:endParaRPr lang="th" sz="2000" dirty="0"/>
            </a:p>
          </p:txBody>
        </p:sp>
      </p:grpSp>
      <p:sp>
        <p:nvSpPr>
          <p:cNvPr id="29" name="Text 12"/>
          <p:cNvSpPr/>
          <p:nvPr/>
        </p:nvSpPr>
        <p:spPr>
          <a:xfrm>
            <a:off x="1384300" y="5223272"/>
            <a:ext cx="378212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>
                    <a:alpha val="76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แก้ System Prompt แล้วรันซ้ำ จน AI รักษา</a:t>
            </a:r>
            <a:endParaRPr lang="th" sz="1600" dirty="0"/>
          </a:p>
        </p:txBody>
      </p:sp>
      <p:sp>
        <p:nvSpPr>
          <p:cNvPr id="30" name="Text 13"/>
          <p:cNvSpPr/>
          <p:nvPr/>
        </p:nvSpPr>
        <p:spPr>
          <a:xfrm>
            <a:off x="1384300" y="5517852"/>
            <a:ext cx="1711027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>
                    <a:alpha val="76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บทบาทได้ตลอดเกม</a:t>
            </a:r>
            <a:endParaRPr lang="th" sz="1600" dirty="0"/>
          </a:p>
        </p:txBody>
      </p:sp>
      <p:sp>
        <p:nvSpPr>
          <p:cNvPr id="31" name="Shape 14"/>
          <p:cNvSpPr/>
          <p:nvPr/>
        </p:nvSpPr>
        <p:spPr>
          <a:xfrm>
            <a:off x="635000" y="4835922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15900" y="0"/>
                </a:moveTo>
                <a:lnTo>
                  <a:pt x="215900" y="0"/>
                </a:lnTo>
                <a:cubicBezTo>
                  <a:pt x="334339" y="0"/>
                  <a:pt x="431800" y="97461"/>
                  <a:pt x="431800" y="215900"/>
                </a:cubicBezTo>
                <a:lnTo>
                  <a:pt x="431800" y="215900"/>
                </a:lnTo>
                <a:cubicBezTo>
                  <a:pt x="431800" y="334339"/>
                  <a:pt x="334339" y="431800"/>
                  <a:pt x="215900" y="431800"/>
                </a:cubicBezTo>
                <a:lnTo>
                  <a:pt x="215900" y="431800"/>
                </a:lnTo>
                <a:cubicBezTo>
                  <a:pt x="97461" y="431800"/>
                  <a:pt x="0" y="334339"/>
                  <a:pt x="0" y="215900"/>
                </a:cubicBezTo>
                <a:lnTo>
                  <a:pt x="0" y="215900"/>
                </a:lnTo>
                <a:cubicBezTo>
                  <a:pt x="0" y="97461"/>
                  <a:pt x="97461" y="0"/>
                  <a:pt x="21590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962922"/>
            <a:ext cx="177800" cy="177800"/>
          </a:xfrm>
          <a:prstGeom prst="rect">
            <a:avLst/>
          </a:prstGeom>
        </p:spPr>
      </p:pic>
      <p:pic>
        <p:nvPicPr>
          <p:cNvPr id="33" name="Backdrop filter visual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1000" y="2133600"/>
            <a:ext cx="4826000" cy="3761482"/>
          </a:xfrm>
          <a:prstGeom prst="rect">
            <a:avLst/>
          </a:prstGeom>
        </p:spPr>
      </p:pic>
      <p:sp>
        <p:nvSpPr>
          <p:cNvPr id="34" name="Text 15"/>
          <p:cNvSpPr/>
          <p:nvPr/>
        </p:nvSpPr>
        <p:spPr>
          <a:xfrm>
            <a:off x="7334250" y="2413000"/>
            <a:ext cx="294560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สัญญาณว่า AI หลุดบทบาท</a:t>
            </a:r>
            <a:endParaRPr lang="th" sz="20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6750" y="2489200"/>
            <a:ext cx="215900" cy="215900"/>
          </a:xfrm>
          <a:prstGeom prst="rect">
            <a:avLst/>
          </a:prstGeom>
        </p:spPr>
      </p:pic>
      <p:sp>
        <p:nvSpPr>
          <p:cNvPr id="36" name="Text 16"/>
          <p:cNvSpPr/>
          <p:nvPr/>
        </p:nvSpPr>
        <p:spPr>
          <a:xfrm>
            <a:off x="7016750" y="2876550"/>
            <a:ext cx="41641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FFFFFF">
                    <a:alpha val="6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เจอข้อใดข้อหนึ่ง = ต้องกลับไปแก้ Prompt ก่อนนำไปใช้จริง</a:t>
            </a:r>
            <a:endParaRPr lang="th" sz="1300" dirty="0"/>
          </a:p>
        </p:txBody>
      </p:sp>
      <p:sp>
        <p:nvSpPr>
          <p:cNvPr id="37" name="Shape 17"/>
          <p:cNvSpPr/>
          <p:nvPr/>
        </p:nvSpPr>
        <p:spPr>
          <a:xfrm>
            <a:off x="7016750" y="329813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6200" y="0"/>
                </a:moveTo>
                <a:lnTo>
                  <a:pt x="177800" y="0"/>
                </a:lnTo>
                <a:cubicBezTo>
                  <a:pt x="219602" y="0"/>
                  <a:pt x="254000" y="34398"/>
                  <a:pt x="254000" y="76200"/>
                </a:cubicBezTo>
                <a:lnTo>
                  <a:pt x="254000" y="177800"/>
                </a:lnTo>
                <a:cubicBezTo>
                  <a:pt x="254000" y="219602"/>
                  <a:pt x="219602" y="254000"/>
                  <a:pt x="177800" y="254000"/>
                </a:cubicBezTo>
                <a:lnTo>
                  <a:pt x="76200" y="254000"/>
                </a:lnTo>
                <a:cubicBezTo>
                  <a:pt x="34398" y="254000"/>
                  <a:pt x="0" y="219602"/>
                  <a:pt x="0" y="1778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F59E0B">
              <a:alpha val="18000"/>
            </a:srgbClr>
          </a:solidFill>
          <a:ln w="6350">
            <a:solidFill>
              <a:srgbClr val="F59E0B">
                <a:alpha val="45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8188" y="3361630"/>
            <a:ext cx="127000" cy="127000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7385050" y="3285430"/>
            <a:ext cx="3427313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ตอบเฉลยคำตอบตรงๆ ทั้งที่กติกาห้ามไว้</a:t>
            </a:r>
            <a:endParaRPr lang="th" sz="1600" dirty="0"/>
          </a:p>
        </p:txBody>
      </p:sp>
      <p:sp>
        <p:nvSpPr>
          <p:cNvPr id="40" name="Shape 19"/>
          <p:cNvSpPr/>
          <p:nvPr/>
        </p:nvSpPr>
        <p:spPr>
          <a:xfrm>
            <a:off x="7016750" y="372229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6200" y="0"/>
                </a:moveTo>
                <a:lnTo>
                  <a:pt x="177800" y="0"/>
                </a:lnTo>
                <a:cubicBezTo>
                  <a:pt x="219602" y="0"/>
                  <a:pt x="254000" y="34398"/>
                  <a:pt x="254000" y="76200"/>
                </a:cubicBezTo>
                <a:lnTo>
                  <a:pt x="254000" y="177800"/>
                </a:lnTo>
                <a:cubicBezTo>
                  <a:pt x="254000" y="219602"/>
                  <a:pt x="219602" y="254000"/>
                  <a:pt x="177800" y="254000"/>
                </a:cubicBezTo>
                <a:lnTo>
                  <a:pt x="76200" y="254000"/>
                </a:lnTo>
                <a:cubicBezTo>
                  <a:pt x="34398" y="254000"/>
                  <a:pt x="0" y="219602"/>
                  <a:pt x="0" y="1778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F59E0B">
              <a:alpha val="18000"/>
            </a:srgbClr>
          </a:solidFill>
          <a:ln w="6350">
            <a:solidFill>
              <a:srgbClr val="F59E0B">
                <a:alpha val="45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8188" y="3785791"/>
            <a:ext cx="127000" cy="127000"/>
          </a:xfrm>
          <a:prstGeom prst="rect">
            <a:avLst/>
          </a:prstGeom>
        </p:spPr>
      </p:pic>
      <p:sp>
        <p:nvSpPr>
          <p:cNvPr id="42" name="Text 20"/>
          <p:cNvSpPr/>
          <p:nvPr/>
        </p:nvSpPr>
        <p:spPr>
          <a:xfrm>
            <a:off x="7385050" y="3709591"/>
            <a:ext cx="3755231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ลืมบทตัวละคร กลับมาเป็นผู้ช่วยตอบคำถาม</a:t>
            </a:r>
            <a:endParaRPr lang="th" sz="1600" dirty="0"/>
          </a:p>
        </p:txBody>
      </p:sp>
      <p:sp>
        <p:nvSpPr>
          <p:cNvPr id="43" name="Text 21"/>
          <p:cNvSpPr/>
          <p:nvPr/>
        </p:nvSpPr>
        <p:spPr>
          <a:xfrm>
            <a:off x="7385050" y="3994051"/>
            <a:ext cx="479227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ทั่วไป</a:t>
            </a:r>
            <a:endParaRPr lang="th" sz="1600" dirty="0"/>
          </a:p>
        </p:txBody>
      </p:sp>
      <p:sp>
        <p:nvSpPr>
          <p:cNvPr id="44" name="Shape 22"/>
          <p:cNvSpPr/>
          <p:nvPr/>
        </p:nvSpPr>
        <p:spPr>
          <a:xfrm>
            <a:off x="7016750" y="443091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6200" y="0"/>
                </a:moveTo>
                <a:lnTo>
                  <a:pt x="177800" y="0"/>
                </a:lnTo>
                <a:cubicBezTo>
                  <a:pt x="219602" y="0"/>
                  <a:pt x="254000" y="34398"/>
                  <a:pt x="254000" y="76200"/>
                </a:cubicBezTo>
                <a:lnTo>
                  <a:pt x="254000" y="177800"/>
                </a:lnTo>
                <a:cubicBezTo>
                  <a:pt x="254000" y="219602"/>
                  <a:pt x="219602" y="254000"/>
                  <a:pt x="177800" y="254000"/>
                </a:cubicBezTo>
                <a:lnTo>
                  <a:pt x="76200" y="254000"/>
                </a:lnTo>
                <a:cubicBezTo>
                  <a:pt x="34398" y="254000"/>
                  <a:pt x="0" y="219602"/>
                  <a:pt x="0" y="1778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F59E0B">
              <a:alpha val="18000"/>
            </a:srgbClr>
          </a:solidFill>
          <a:ln w="6350">
            <a:solidFill>
              <a:srgbClr val="F59E0B">
                <a:alpha val="45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8188" y="4494411"/>
            <a:ext cx="127000" cy="127000"/>
          </a:xfrm>
          <a:prstGeom prst="rect">
            <a:avLst/>
          </a:prstGeom>
        </p:spPr>
      </p:pic>
      <p:sp>
        <p:nvSpPr>
          <p:cNvPr id="46" name="Text 23"/>
          <p:cNvSpPr/>
          <p:nvPr/>
        </p:nvSpPr>
        <p:spPr>
          <a:xfrm>
            <a:off x="7385050" y="4418211"/>
            <a:ext cx="3702348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0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ไม่สรุปผลหรือให้คะแนนเมื่อจบสถานการณ์</a:t>
            </a:r>
            <a:endParaRPr lang="th" sz="1600" dirty="0"/>
          </a:p>
        </p:txBody>
      </p:sp>
      <p:sp>
        <p:nvSpPr>
          <p:cNvPr id="47" name="Shape 24"/>
          <p:cNvSpPr/>
          <p:nvPr/>
        </p:nvSpPr>
        <p:spPr>
          <a:xfrm>
            <a:off x="7016750" y="4893171"/>
            <a:ext cx="4254500" cy="741561"/>
          </a:xfrm>
          <a:custGeom>
            <a:avLst/>
            <a:gdLst/>
            <a:ahLst/>
            <a:cxnLst/>
            <a:rect l="l" t="t" r="r" b="b"/>
            <a:pathLst>
              <a:path w="4254500" h="741561">
                <a:moveTo>
                  <a:pt x="88900" y="0"/>
                </a:moveTo>
                <a:lnTo>
                  <a:pt x="4165600" y="0"/>
                </a:lnTo>
                <a:cubicBezTo>
                  <a:pt x="4214369" y="0"/>
                  <a:pt x="4254500" y="40131"/>
                  <a:pt x="4254500" y="88900"/>
                </a:cubicBezTo>
                <a:lnTo>
                  <a:pt x="4254500" y="652661"/>
                </a:lnTo>
                <a:cubicBezTo>
                  <a:pt x="4254500" y="701430"/>
                  <a:pt x="4214369" y="741561"/>
                  <a:pt x="4165600" y="741561"/>
                </a:cubicBezTo>
                <a:lnTo>
                  <a:pt x="88900" y="741561"/>
                </a:lnTo>
                <a:cubicBezTo>
                  <a:pt x="40131" y="741561"/>
                  <a:pt x="0" y="701430"/>
                  <a:pt x="0" y="652661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59E0B">
              <a:alpha val="14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25"/>
          <p:cNvSpPr/>
          <p:nvPr/>
        </p:nvSpPr>
        <p:spPr>
          <a:xfrm>
            <a:off x="7016750" y="4893171"/>
            <a:ext cx="88900" cy="741561"/>
          </a:xfrm>
          <a:custGeom>
            <a:avLst/>
            <a:gdLst/>
            <a:ahLst/>
            <a:cxnLst/>
            <a:rect l="l" t="t" r="r" b="b"/>
            <a:pathLst>
              <a:path w="88900" h="741561">
                <a:moveTo>
                  <a:pt x="0" y="652661"/>
                </a:move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lnTo>
                  <a:pt x="88900" y="0"/>
                </a:lnTo>
                <a:cubicBezTo>
                  <a:pt x="61032" y="0"/>
                  <a:pt x="38100" y="40131"/>
                  <a:pt x="38100" y="88900"/>
                </a:cubicBezTo>
                <a:lnTo>
                  <a:pt x="38100" y="652661"/>
                </a:lnTo>
                <a:cubicBezTo>
                  <a:pt x="38100" y="701430"/>
                  <a:pt x="61032" y="741561"/>
                  <a:pt x="88900" y="741561"/>
                </a:cubicBezTo>
                <a:lnTo>
                  <a:pt x="88900" y="741561"/>
                </a:lnTo>
                <a:cubicBezTo>
                  <a:pt x="40131" y="741561"/>
                  <a:pt x="0" y="701430"/>
                  <a:pt x="0" y="652661"/>
                </a:cubicBezTo>
                <a:close/>
              </a:path>
            </a:pathLst>
          </a:custGeom>
          <a:solidFill>
            <a:srgbClr val="F59E0B"/>
          </a:solidFill>
          <a:ln w="12700"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9950" y="5162352"/>
            <a:ext cx="203200" cy="203200"/>
          </a:xfrm>
          <a:prstGeom prst="rect">
            <a:avLst/>
          </a:prstGeom>
        </p:spPr>
      </p:pic>
      <p:grpSp>
        <p:nvGrpSpPr>
          <p:cNvPr id="50" name="ma"/>
          <p:cNvGrpSpPr/>
          <p:nvPr/>
        </p:nvGrpSpPr>
        <p:grpSpPr>
          <a:xfrm>
            <a:off x="7537450" y="5032871"/>
            <a:ext cx="3522067" cy="459681"/>
            <a:chOff x="7537450" y="5032871"/>
            <a:chExt cx="3522067" cy="459681"/>
          </a:xfrm>
        </p:grpSpPr>
        <p:sp>
          <p:nvSpPr>
            <p:cNvPr id="51" name="Text 0"/>
            <p:cNvSpPr/>
            <p:nvPr/>
          </p:nvSpPr>
          <p:spPr>
            <a:xfrm>
              <a:off x="7537450" y="5032871"/>
              <a:ext cx="298351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300" b="0" i="0" dirty="0">
                  <a:solidFill>
                    <a:srgbClr val="FFECC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ปรับ</a:t>
              </a:r>
              <a:endParaRPr lang="th" sz="1300" dirty="0"/>
            </a:p>
          </p:txBody>
        </p:sp>
        <p:sp>
          <p:nvSpPr>
            <p:cNvPr id="52" name="Text 1"/>
            <p:cNvSpPr/>
            <p:nvPr/>
          </p:nvSpPr>
          <p:spPr>
            <a:xfrm>
              <a:off x="8875018" y="5032871"/>
              <a:ext cx="2184499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300" b="0" i="0" dirty="0">
                  <a:solidFill>
                    <a:srgbClr val="FFECC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แล้วรันซ้ำ — เป้าหมายคือ AI ที่</a:t>
              </a:r>
              <a:endParaRPr lang="th" sz="1300" dirty="0"/>
            </a:p>
          </p:txBody>
        </p:sp>
        <p:sp>
          <p:nvSpPr>
            <p:cNvPr id="53" name="Text 2"/>
            <p:cNvSpPr/>
            <p:nvPr/>
          </p:nvSpPr>
          <p:spPr>
            <a:xfrm>
              <a:off x="7537450" y="5263952"/>
              <a:ext cx="3150096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300" b="0" i="0" dirty="0">
                  <a:solidFill>
                    <a:srgbClr val="FFECC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รักษาบทบาทได้เองโดยไม่ต้องคุมระหว่างเล่น</a:t>
              </a:r>
              <a:endParaRPr lang="th" sz="1300" dirty="0"/>
            </a:p>
          </p:txBody>
        </p:sp>
        <p:sp>
          <p:nvSpPr>
            <p:cNvPr id="54" name="Text 3"/>
            <p:cNvSpPr/>
            <p:nvPr/>
          </p:nvSpPr>
          <p:spPr>
            <a:xfrm>
              <a:off x="7878663" y="5032871"/>
              <a:ext cx="953492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300" b="1" i="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Constraints</a:t>
              </a:r>
              <a:endParaRPr lang="th" sz="13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657</Words>
  <Application>Microsoft Office PowerPoint</Application>
  <PresentationFormat>Widescreen</PresentationFormat>
  <Paragraphs>152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by aippt</dc:title>
  <dc:subject>Generated by aippt</dc:subject>
  <dc:creator>aippt</dc:creator>
  <cp:lastModifiedBy>KHANCHAI SAE-TAE</cp:lastModifiedBy>
  <cp:revision>1</cp:revision>
  <dcterms:created xsi:type="dcterms:W3CDTF">2026-10-20T15:18:41Z</dcterms:created>
  <dcterms:modified xsi:type="dcterms:W3CDTF">2026-10-20T16:03:22Z</dcterms:modified>
</cp:coreProperties>
</file>