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62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965200"/>
            <a:ext cx="27380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หลักสูตร AI เพื่อการเรียนการสอน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672681" y="965200"/>
            <a:ext cx="648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859411" y="965200"/>
            <a:ext cx="8437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ชั่วโมงที่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1289050"/>
            <a:ext cx="4319091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Rapid Prototyping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812800" y="1814016"/>
            <a:ext cx="4727178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with Gemini Canvas</a:t>
            </a:r>
            <a:endParaRPr lang="en-US" sz="3900" dirty="0"/>
          </a:p>
        </p:txBody>
      </p:sp>
      <p:sp>
        <p:nvSpPr>
          <p:cNvPr id="8" name="Shape 5"/>
          <p:cNvSpPr/>
          <p:nvPr/>
        </p:nvSpPr>
        <p:spPr>
          <a:xfrm>
            <a:off x="812800" y="2758083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19050" y="0"/>
                </a:moveTo>
                <a:lnTo>
                  <a:pt x="361950" y="0"/>
                </a:lnTo>
                <a:cubicBezTo>
                  <a:pt x="372401" y="0"/>
                  <a:pt x="381000" y="8599"/>
                  <a:pt x="381000" y="19050"/>
                </a:cubicBezTo>
                <a:lnTo>
                  <a:pt x="381000" y="19050"/>
                </a:lnTo>
                <a:cubicBezTo>
                  <a:pt x="381000" y="29501"/>
                  <a:pt x="372401" y="38100"/>
                  <a:pt x="361950" y="38100"/>
                </a:cubicBezTo>
                <a:lnTo>
                  <a:pt x="19050" y="38100"/>
                </a:lnTo>
                <a:cubicBezTo>
                  <a:pt x="8599" y="38100"/>
                  <a:pt x="0" y="29501"/>
                  <a:pt x="0" y="19050"/>
                </a:cubicBezTo>
                <a:lnTo>
                  <a:pt x="0" y="19050"/>
                </a:lnTo>
                <a:cubicBezTo>
                  <a:pt x="0" y="8599"/>
                  <a:pt x="8599" y="0"/>
                  <a:pt x="19050" y="0"/>
                </a:cubicBezTo>
                <a:close/>
              </a:path>
            </a:pathLst>
          </a:custGeom>
          <a:solidFill>
            <a:srgbClr val="F5A62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308100" y="2618383"/>
            <a:ext cx="3522762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i="0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สร้างเว็บแอปสื่อการสอนแบบโต้ตอบ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08100" y="2938363"/>
            <a:ext cx="2017018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i="0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โดยไม่ต้องเขียนโค้ด</a:t>
            </a:r>
            <a:endParaRPr lang="en-US" sz="1800" dirty="0"/>
          </a:p>
        </p:txBody>
      </p:sp>
      <p:sp>
        <p:nvSpPr>
          <p:cNvPr id="11" name="CSS box-shadow background"/>
          <p:cNvSpPr/>
          <p:nvPr/>
        </p:nvSpPr>
        <p:spPr>
          <a:xfrm>
            <a:off x="812800" y="3550444"/>
            <a:ext cx="3283843" cy="450850"/>
          </a:xfrm>
          <a:custGeom>
            <a:avLst/>
            <a:gdLst/>
            <a:ahLst/>
            <a:cxnLst/>
            <a:rect l="l" t="t" r="r" b="b"/>
            <a:pathLst>
              <a:path w="3283843" h="450850">
                <a:moveTo>
                  <a:pt x="225425" y="0"/>
                </a:moveTo>
                <a:lnTo>
                  <a:pt x="3058418" y="0"/>
                </a:lnTo>
                <a:cubicBezTo>
                  <a:pt x="3182082" y="0"/>
                  <a:pt x="3283843" y="101761"/>
                  <a:pt x="3283843" y="225425"/>
                </a:cubicBezTo>
                <a:lnTo>
                  <a:pt x="3283843" y="225425"/>
                </a:lnTo>
                <a:cubicBezTo>
                  <a:pt x="3283843" y="349089"/>
                  <a:pt x="3182082" y="450850"/>
                  <a:pt x="3058418" y="450850"/>
                </a:cubicBezTo>
                <a:lnTo>
                  <a:pt x="225425" y="450850"/>
                </a:lnTo>
                <a:cubicBezTo>
                  <a:pt x="101761" y="450850"/>
                  <a:pt x="0" y="349089"/>
                  <a:pt x="0" y="225425"/>
                </a:cubicBezTo>
                <a:lnTo>
                  <a:pt x="0" y="225425"/>
                </a:lnTo>
                <a:cubicBezTo>
                  <a:pt x="0" y="101761"/>
                  <a:pt x="101761" y="0"/>
                  <a:pt x="225425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14300" dist="38100" dir="5400000" algn="bl" rotWithShape="0">
              <a:srgbClr val="1B2340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812800" y="3550444"/>
            <a:ext cx="3283843" cy="450850"/>
          </a:xfrm>
          <a:custGeom>
            <a:avLst/>
            <a:gdLst/>
            <a:ahLst/>
            <a:cxnLst/>
            <a:rect l="l" t="t" r="r" b="b"/>
            <a:pathLst>
              <a:path w="3283843" h="450850">
                <a:moveTo>
                  <a:pt x="225425" y="0"/>
                </a:moveTo>
                <a:lnTo>
                  <a:pt x="3058418" y="0"/>
                </a:lnTo>
                <a:cubicBezTo>
                  <a:pt x="3182082" y="0"/>
                  <a:pt x="3283843" y="101761"/>
                  <a:pt x="3283843" y="225425"/>
                </a:cubicBezTo>
                <a:lnTo>
                  <a:pt x="3283843" y="225425"/>
                </a:lnTo>
                <a:cubicBezTo>
                  <a:pt x="3283843" y="349089"/>
                  <a:pt x="3182082" y="450850"/>
                  <a:pt x="3058418" y="450850"/>
                </a:cubicBezTo>
                <a:lnTo>
                  <a:pt x="225425" y="450850"/>
                </a:lnTo>
                <a:cubicBezTo>
                  <a:pt x="101761" y="450850"/>
                  <a:pt x="0" y="349089"/>
                  <a:pt x="0" y="225425"/>
                </a:cubicBezTo>
                <a:lnTo>
                  <a:pt x="0" y="225425"/>
                </a:lnTo>
                <a:cubicBezTo>
                  <a:pt x="0" y="101761"/>
                  <a:pt x="101761" y="0"/>
                  <a:pt x="225425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276350" y="3664744"/>
            <a:ext cx="263614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สำหรับอาจารย์และบุคลากรมหาวิทยาลัย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96950" y="3693319"/>
            <a:ext cx="1905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</a:t>
            </a:r>
            <a:endParaRPr lang="en-US" sz="1200" dirty="0"/>
          </a:p>
        </p:txBody>
      </p:sp>
      <p:sp>
        <p:nvSpPr>
          <p:cNvPr id="15" name="CSS box-shadow background"/>
          <p:cNvSpPr/>
          <p:nvPr/>
        </p:nvSpPr>
        <p:spPr>
          <a:xfrm>
            <a:off x="812800" y="4090194"/>
            <a:ext cx="1862733" cy="450850"/>
          </a:xfrm>
          <a:custGeom>
            <a:avLst/>
            <a:gdLst/>
            <a:ahLst/>
            <a:cxnLst/>
            <a:rect l="l" t="t" r="r" b="b"/>
            <a:pathLst>
              <a:path w="1862733" h="450850">
                <a:moveTo>
                  <a:pt x="225425" y="0"/>
                </a:moveTo>
                <a:lnTo>
                  <a:pt x="1637308" y="0"/>
                </a:lnTo>
                <a:cubicBezTo>
                  <a:pt x="1760972" y="0"/>
                  <a:pt x="1862733" y="101761"/>
                  <a:pt x="1862733" y="225425"/>
                </a:cubicBezTo>
                <a:lnTo>
                  <a:pt x="1862733" y="225425"/>
                </a:lnTo>
                <a:cubicBezTo>
                  <a:pt x="1862733" y="349089"/>
                  <a:pt x="1760972" y="450850"/>
                  <a:pt x="1637308" y="450850"/>
                </a:cubicBezTo>
                <a:lnTo>
                  <a:pt x="225425" y="450850"/>
                </a:lnTo>
                <a:cubicBezTo>
                  <a:pt x="101761" y="450850"/>
                  <a:pt x="0" y="349089"/>
                  <a:pt x="0" y="225425"/>
                </a:cubicBezTo>
                <a:lnTo>
                  <a:pt x="0" y="225425"/>
                </a:lnTo>
                <a:cubicBezTo>
                  <a:pt x="0" y="101761"/>
                  <a:pt x="101761" y="0"/>
                  <a:pt x="225425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14300" dist="38100" dir="5400000" algn="bl" rotWithShape="0">
              <a:srgbClr val="1B2340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812800" y="4090194"/>
            <a:ext cx="1862733" cy="450850"/>
          </a:xfrm>
          <a:custGeom>
            <a:avLst/>
            <a:gdLst/>
            <a:ahLst/>
            <a:cxnLst/>
            <a:rect l="l" t="t" r="r" b="b"/>
            <a:pathLst>
              <a:path w="1862733" h="450850">
                <a:moveTo>
                  <a:pt x="225425" y="0"/>
                </a:moveTo>
                <a:lnTo>
                  <a:pt x="1637308" y="0"/>
                </a:lnTo>
                <a:cubicBezTo>
                  <a:pt x="1760972" y="0"/>
                  <a:pt x="1862733" y="101761"/>
                  <a:pt x="1862733" y="225425"/>
                </a:cubicBezTo>
                <a:lnTo>
                  <a:pt x="1862733" y="225425"/>
                </a:lnTo>
                <a:cubicBezTo>
                  <a:pt x="1862733" y="349089"/>
                  <a:pt x="1760972" y="450850"/>
                  <a:pt x="1637308" y="450850"/>
                </a:cubicBezTo>
                <a:lnTo>
                  <a:pt x="225425" y="450850"/>
                </a:lnTo>
                <a:cubicBezTo>
                  <a:pt x="101761" y="450850"/>
                  <a:pt x="0" y="349089"/>
                  <a:pt x="0" y="225425"/>
                </a:cubicBezTo>
                <a:lnTo>
                  <a:pt x="0" y="225425"/>
                </a:lnTo>
                <a:cubicBezTo>
                  <a:pt x="0" y="101761"/>
                  <a:pt x="101761" y="0"/>
                  <a:pt x="225425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219200" y="4204494"/>
            <a:ext cx="127218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Workshop 30 นาที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96950" y="4233069"/>
            <a:ext cx="13335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</a:t>
            </a:r>
            <a:endParaRPr lang="en-US" sz="1200" dirty="0"/>
          </a:p>
        </p:txBody>
      </p:sp>
      <p:sp>
        <p:nvSpPr>
          <p:cNvPr id="19" name="CSS box-shadow background"/>
          <p:cNvSpPr/>
          <p:nvPr/>
        </p:nvSpPr>
        <p:spPr>
          <a:xfrm>
            <a:off x="812800" y="4629944"/>
            <a:ext cx="2301180" cy="450850"/>
          </a:xfrm>
          <a:custGeom>
            <a:avLst/>
            <a:gdLst/>
            <a:ahLst/>
            <a:cxnLst/>
            <a:rect l="l" t="t" r="r" b="b"/>
            <a:pathLst>
              <a:path w="2301180" h="450850">
                <a:moveTo>
                  <a:pt x="225425" y="0"/>
                </a:moveTo>
                <a:lnTo>
                  <a:pt x="2075755" y="0"/>
                </a:lnTo>
                <a:cubicBezTo>
                  <a:pt x="2199420" y="0"/>
                  <a:pt x="2301181" y="101761"/>
                  <a:pt x="2301181" y="225425"/>
                </a:cubicBezTo>
                <a:lnTo>
                  <a:pt x="2301181" y="225425"/>
                </a:lnTo>
                <a:cubicBezTo>
                  <a:pt x="2301181" y="349089"/>
                  <a:pt x="2199420" y="450850"/>
                  <a:pt x="2075755" y="450850"/>
                </a:cubicBezTo>
                <a:lnTo>
                  <a:pt x="225425" y="450850"/>
                </a:lnTo>
                <a:cubicBezTo>
                  <a:pt x="101761" y="450850"/>
                  <a:pt x="0" y="349089"/>
                  <a:pt x="0" y="225425"/>
                </a:cubicBezTo>
                <a:lnTo>
                  <a:pt x="0" y="225425"/>
                </a:lnTo>
                <a:cubicBezTo>
                  <a:pt x="0" y="101761"/>
                  <a:pt x="101761" y="0"/>
                  <a:pt x="225425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14300" dist="38100" dir="5400000" algn="bl" rotWithShape="0">
              <a:srgbClr val="1B2340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812800" y="4629944"/>
            <a:ext cx="2301180" cy="450850"/>
          </a:xfrm>
          <a:custGeom>
            <a:avLst/>
            <a:gdLst/>
            <a:ahLst/>
            <a:cxnLst/>
            <a:rect l="l" t="t" r="r" b="b"/>
            <a:pathLst>
              <a:path w="2301180" h="450850">
                <a:moveTo>
                  <a:pt x="225425" y="0"/>
                </a:moveTo>
                <a:lnTo>
                  <a:pt x="2075755" y="0"/>
                </a:lnTo>
                <a:cubicBezTo>
                  <a:pt x="2199420" y="0"/>
                  <a:pt x="2301181" y="101761"/>
                  <a:pt x="2301181" y="225425"/>
                </a:cubicBezTo>
                <a:lnTo>
                  <a:pt x="2301181" y="225425"/>
                </a:lnTo>
                <a:cubicBezTo>
                  <a:pt x="2301181" y="349089"/>
                  <a:pt x="2199420" y="450850"/>
                  <a:pt x="2075755" y="450850"/>
                </a:cubicBezTo>
                <a:lnTo>
                  <a:pt x="225425" y="450850"/>
                </a:lnTo>
                <a:cubicBezTo>
                  <a:pt x="101761" y="450850"/>
                  <a:pt x="0" y="349089"/>
                  <a:pt x="0" y="225425"/>
                </a:cubicBezTo>
                <a:lnTo>
                  <a:pt x="0" y="225425"/>
                </a:lnTo>
                <a:cubicBezTo>
                  <a:pt x="0" y="101761"/>
                  <a:pt x="101761" y="0"/>
                  <a:pt x="225425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276350" y="4744244"/>
            <a:ext cx="16534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ไม่ต้องมีพื้นฐานเขียนโค้ด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96950" y="4772819"/>
            <a:ext cx="1905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FA9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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2800" y="6232525"/>
            <a:ext cx="20002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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4425" y="6216650"/>
            <a:ext cx="32731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เปลี่ยนคำพูดของคุณให้เป็นเว็บแอปที่ใช้สอนได้จริง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8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482600"/>
            <a:ext cx="73868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22524" y="482600"/>
            <a:ext cx="648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09155" y="482600"/>
            <a:ext cx="94585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แนวคิดหลัก</a:t>
            </a:r>
            <a:endParaRPr lang="en-US" sz="1200" dirty="0"/>
          </a:p>
        </p:txBody>
      </p:sp>
      <p:grpSp>
        <p:nvGrpSpPr>
          <p:cNvPr id="5" name="ma"/>
          <p:cNvGrpSpPr/>
          <p:nvPr/>
        </p:nvGrpSpPr>
        <p:grpSpPr>
          <a:xfrm>
            <a:off x="762000" y="781050"/>
            <a:ext cx="8973840" cy="552450"/>
            <a:chOff x="762000" y="781050"/>
            <a:chExt cx="8973840" cy="552450"/>
          </a:xfrm>
        </p:grpSpPr>
        <p:sp>
          <p:nvSpPr>
            <p:cNvPr id="6" name="Text 0"/>
            <p:cNvSpPr/>
            <p:nvPr/>
          </p:nvSpPr>
          <p:spPr>
            <a:xfrm>
              <a:off x="762000" y="781050"/>
              <a:ext cx="2717701" cy="552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i="0" dirty="0">
                  <a:solidFill>
                    <a:srgbClr val="1B2340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จุดเปลี่ยนสำคัญ</a:t>
              </a:r>
              <a:endParaRPr lang="en-US" sz="3200" dirty="0"/>
            </a:p>
          </p:txBody>
        </p:sp>
        <p:sp>
          <p:nvSpPr>
            <p:cNvPr id="7" name="Text 1"/>
            <p:cNvSpPr/>
            <p:nvPr/>
          </p:nvSpPr>
          <p:spPr>
            <a:xfrm>
              <a:off x="3581301" y="781050"/>
              <a:ext cx="6154539" cy="552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i="0" dirty="0">
                  <a:solidFill>
                    <a:srgbClr val="4B62C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จากแชทข้อความ สู่เว็บแอปพลิเคชัน</a:t>
              </a:r>
              <a:endParaRPr lang="en-US" sz="3200" dirty="0"/>
            </a:p>
          </p:txBody>
        </p:sp>
      </p:grpSp>
      <p:sp>
        <p:nvSpPr>
          <p:cNvPr id="8" name="CSS box-shadow background"/>
          <p:cNvSpPr/>
          <p:nvPr/>
        </p:nvSpPr>
        <p:spPr>
          <a:xfrm>
            <a:off x="762000" y="1701800"/>
            <a:ext cx="3050580" cy="1879600"/>
          </a:xfrm>
          <a:custGeom>
            <a:avLst/>
            <a:gdLst/>
            <a:ahLst/>
            <a:cxnLst/>
            <a:rect l="l" t="t" r="r" b="b"/>
            <a:pathLst>
              <a:path w="3050580" h="1879600">
                <a:moveTo>
                  <a:pt x="165100" y="0"/>
                </a:moveTo>
                <a:lnTo>
                  <a:pt x="2885480" y="0"/>
                </a:lnTo>
                <a:cubicBezTo>
                  <a:pt x="2976051" y="0"/>
                  <a:pt x="3050580" y="74529"/>
                  <a:pt x="3050580" y="165100"/>
                </a:cubicBezTo>
                <a:lnTo>
                  <a:pt x="3050580" y="1714500"/>
                </a:lnTo>
                <a:cubicBezTo>
                  <a:pt x="3050580" y="1805071"/>
                  <a:pt x="2976051" y="1879600"/>
                  <a:pt x="2885480" y="1879600"/>
                </a:cubicBezTo>
                <a:lnTo>
                  <a:pt x="165100" y="1879600"/>
                </a:lnTo>
                <a:cubicBezTo>
                  <a:pt x="74529" y="1879600"/>
                  <a:pt x="0" y="1805071"/>
                  <a:pt x="0" y="171450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B2340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762000" y="1701800"/>
            <a:ext cx="3050580" cy="1879600"/>
          </a:xfrm>
          <a:custGeom>
            <a:avLst/>
            <a:gdLst/>
            <a:ahLst/>
            <a:cxnLst/>
            <a:rect l="l" t="t" r="r" b="b"/>
            <a:pathLst>
              <a:path w="3050580" h="1879600">
                <a:moveTo>
                  <a:pt x="165100" y="0"/>
                </a:moveTo>
                <a:lnTo>
                  <a:pt x="2885480" y="0"/>
                </a:lnTo>
                <a:cubicBezTo>
                  <a:pt x="2976051" y="0"/>
                  <a:pt x="3050580" y="74529"/>
                  <a:pt x="3050580" y="165100"/>
                </a:cubicBezTo>
                <a:lnTo>
                  <a:pt x="3050580" y="1714500"/>
                </a:lnTo>
                <a:cubicBezTo>
                  <a:pt x="3050580" y="1805071"/>
                  <a:pt x="2976051" y="1879600"/>
                  <a:pt x="2885480" y="1879600"/>
                </a:cubicBezTo>
                <a:lnTo>
                  <a:pt x="165100" y="1879600"/>
                </a:lnTo>
                <a:cubicBezTo>
                  <a:pt x="74529" y="1879600"/>
                  <a:pt x="0" y="1805071"/>
                  <a:pt x="0" y="171450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5"/>
          <p:cNvSpPr/>
          <p:nvPr/>
        </p:nvSpPr>
        <p:spPr>
          <a:xfrm>
            <a:off x="996950" y="1924050"/>
            <a:ext cx="469900" cy="469900"/>
          </a:xfrm>
          <a:custGeom>
            <a:avLst/>
            <a:gdLst/>
            <a:ahLst/>
            <a:cxnLst/>
            <a:rect l="l" t="t" r="r" b="b"/>
            <a:pathLst>
              <a:path w="469900" h="469900">
                <a:moveTo>
                  <a:pt x="127000" y="0"/>
                </a:moveTo>
                <a:lnTo>
                  <a:pt x="342900" y="0"/>
                </a:lnTo>
                <a:cubicBezTo>
                  <a:pt x="412570" y="0"/>
                  <a:pt x="469900" y="57330"/>
                  <a:pt x="469900" y="127000"/>
                </a:cubicBezTo>
                <a:lnTo>
                  <a:pt x="469900" y="342900"/>
                </a:lnTo>
                <a:cubicBezTo>
                  <a:pt x="469900" y="412570"/>
                  <a:pt x="412570" y="469900"/>
                  <a:pt x="342900" y="469900"/>
                </a:cubicBezTo>
                <a:lnTo>
                  <a:pt x="127000" y="469900"/>
                </a:lnTo>
                <a:cubicBezTo>
                  <a:pt x="57330" y="469900"/>
                  <a:pt x="0" y="412570"/>
                  <a:pt x="0" y="3429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EAEEF9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096963" y="2044700"/>
            <a:ext cx="26987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i="0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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581150" y="2047875"/>
            <a:ext cx="64750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96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ระยะที่ 1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96950" y="2514600"/>
            <a:ext cx="1307108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แชทข้อความ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96950" y="2890441"/>
            <a:ext cx="25590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ถาม–ตอบเป็นตัวอักษร ได้คำแนะนำ แต่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96950" y="3119041"/>
            <a:ext cx="142577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ยังต้องเอาไปทำเองต่อ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996730" y="2514600"/>
            <a:ext cx="2413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i="0" dirty="0">
                <a:solidFill>
                  <a:srgbClr val="D9DE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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7953970" y="2514600"/>
            <a:ext cx="2413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i="0" dirty="0">
                <a:solidFill>
                  <a:srgbClr val="D9DE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</a:t>
            </a:r>
            <a:endParaRPr lang="en-US" sz="1900" dirty="0"/>
          </a:p>
        </p:txBody>
      </p:sp>
      <p:sp>
        <p:nvSpPr>
          <p:cNvPr id="18" name="CSS box-shadow background"/>
          <p:cNvSpPr/>
          <p:nvPr/>
        </p:nvSpPr>
        <p:spPr>
          <a:xfrm>
            <a:off x="8379420" y="1701800"/>
            <a:ext cx="3050580" cy="1879600"/>
          </a:xfrm>
          <a:custGeom>
            <a:avLst/>
            <a:gdLst/>
            <a:ahLst/>
            <a:cxnLst/>
            <a:rect l="l" t="t" r="r" b="b"/>
            <a:pathLst>
              <a:path w="3050580" h="1879600">
                <a:moveTo>
                  <a:pt x="165100" y="0"/>
                </a:moveTo>
                <a:lnTo>
                  <a:pt x="2885480" y="0"/>
                </a:lnTo>
                <a:cubicBezTo>
                  <a:pt x="2976051" y="0"/>
                  <a:pt x="3050580" y="74529"/>
                  <a:pt x="3050580" y="165100"/>
                </a:cubicBezTo>
                <a:lnTo>
                  <a:pt x="3050580" y="1714500"/>
                </a:lnTo>
                <a:cubicBezTo>
                  <a:pt x="3050580" y="1805071"/>
                  <a:pt x="2976051" y="1879600"/>
                  <a:pt x="2885480" y="1879600"/>
                </a:cubicBezTo>
                <a:lnTo>
                  <a:pt x="165100" y="1879600"/>
                </a:lnTo>
                <a:cubicBezTo>
                  <a:pt x="74529" y="1879600"/>
                  <a:pt x="0" y="1805071"/>
                  <a:pt x="0" y="171450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B2340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8379420" y="1701800"/>
            <a:ext cx="3050580" cy="1879600"/>
          </a:xfrm>
          <a:custGeom>
            <a:avLst/>
            <a:gdLst/>
            <a:ahLst/>
            <a:cxnLst/>
            <a:rect l="l" t="t" r="r" b="b"/>
            <a:pathLst>
              <a:path w="3050580" h="1879600">
                <a:moveTo>
                  <a:pt x="165100" y="0"/>
                </a:moveTo>
                <a:lnTo>
                  <a:pt x="2885480" y="0"/>
                </a:lnTo>
                <a:cubicBezTo>
                  <a:pt x="2976051" y="0"/>
                  <a:pt x="3050580" y="74529"/>
                  <a:pt x="3050580" y="165100"/>
                </a:cubicBezTo>
                <a:lnTo>
                  <a:pt x="3050580" y="1714500"/>
                </a:lnTo>
                <a:cubicBezTo>
                  <a:pt x="3050580" y="1805071"/>
                  <a:pt x="2976051" y="1879600"/>
                  <a:pt x="2885480" y="1879600"/>
                </a:cubicBezTo>
                <a:lnTo>
                  <a:pt x="165100" y="1879600"/>
                </a:lnTo>
                <a:cubicBezTo>
                  <a:pt x="74529" y="1879600"/>
                  <a:pt x="0" y="1805071"/>
                  <a:pt x="0" y="171450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8614370" y="1924050"/>
            <a:ext cx="469900" cy="469900"/>
          </a:xfrm>
          <a:custGeom>
            <a:avLst/>
            <a:gdLst/>
            <a:ahLst/>
            <a:cxnLst/>
            <a:rect l="l" t="t" r="r" b="b"/>
            <a:pathLst>
              <a:path w="469900" h="469900">
                <a:moveTo>
                  <a:pt x="127000" y="0"/>
                </a:moveTo>
                <a:lnTo>
                  <a:pt x="342900" y="0"/>
                </a:lnTo>
                <a:cubicBezTo>
                  <a:pt x="412570" y="0"/>
                  <a:pt x="469900" y="57330"/>
                  <a:pt x="469900" y="127000"/>
                </a:cubicBezTo>
                <a:lnTo>
                  <a:pt x="469900" y="342900"/>
                </a:lnTo>
                <a:cubicBezTo>
                  <a:pt x="469900" y="412570"/>
                  <a:pt x="412570" y="469900"/>
                  <a:pt x="342900" y="469900"/>
                </a:cubicBezTo>
                <a:lnTo>
                  <a:pt x="127000" y="469900"/>
                </a:lnTo>
                <a:cubicBezTo>
                  <a:pt x="57330" y="469900"/>
                  <a:pt x="0" y="412570"/>
                  <a:pt x="0" y="3429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EAEEF9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741370" y="2044700"/>
            <a:ext cx="2159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i="0" dirty="0">
                <a:solidFill>
                  <a:srgbClr val="1FA9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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9198570" y="2047875"/>
            <a:ext cx="64750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96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ระยะที่ 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614370" y="2514600"/>
            <a:ext cx="1609626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เว็บแอปพร้อมใช้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614370" y="2890441"/>
            <a:ext cx="20667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ได้แอปที่กดเล่นได้จริง ส่งลิงก์ให้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614370" y="3119041"/>
            <a:ext cx="11597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นักศึกษาใช้ได้เลย</a:t>
            </a:r>
            <a:endParaRPr lang="en-US" sz="1200" dirty="0"/>
          </a:p>
        </p:txBody>
      </p:sp>
      <p:pic>
        <p:nvPicPr>
          <p:cNvPr id="26" name="CSS box-shadow raster oute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880" y="1574800"/>
            <a:ext cx="3829050" cy="236220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180" y="1701800"/>
            <a:ext cx="3347641" cy="18796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650780" y="1917700"/>
            <a:ext cx="469900" cy="469900"/>
          </a:xfrm>
          <a:custGeom>
            <a:avLst/>
            <a:gdLst/>
            <a:ahLst/>
            <a:cxnLst/>
            <a:rect l="l" t="t" r="r" b="b"/>
            <a:pathLst>
              <a:path w="469900" h="469900">
                <a:moveTo>
                  <a:pt x="127000" y="0"/>
                </a:moveTo>
                <a:lnTo>
                  <a:pt x="342900" y="0"/>
                </a:lnTo>
                <a:cubicBezTo>
                  <a:pt x="412570" y="0"/>
                  <a:pt x="469900" y="57330"/>
                  <a:pt x="469900" y="127000"/>
                </a:cubicBezTo>
                <a:lnTo>
                  <a:pt x="469900" y="342900"/>
                </a:lnTo>
                <a:cubicBezTo>
                  <a:pt x="469900" y="412570"/>
                  <a:pt x="412570" y="469900"/>
                  <a:pt x="342900" y="469900"/>
                </a:cubicBezTo>
                <a:lnTo>
                  <a:pt x="127000" y="469900"/>
                </a:lnTo>
                <a:cubicBezTo>
                  <a:pt x="57330" y="469900"/>
                  <a:pt x="0" y="412570"/>
                  <a:pt x="0" y="3429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4777780" y="2038350"/>
            <a:ext cx="2159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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5234980" y="2041525"/>
            <a:ext cx="64750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96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ระยะที่ 2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650780" y="2501900"/>
            <a:ext cx="187761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Gemini Canvas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4650780" y="2914650"/>
            <a:ext cx="26824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FFFFFF">
                    <a:alpha val="8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หน้าต่างสร้างและรันโค้ด เห็นผลลัพธ์หน้า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650780" y="3143250"/>
            <a:ext cx="14488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FFFFFF">
                    <a:alpha val="8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เว็บทันทีในเบราว์เซอร์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669187" y="1866900"/>
            <a:ext cx="884734" cy="323850"/>
          </a:xfrm>
          <a:custGeom>
            <a:avLst/>
            <a:gdLst/>
            <a:ahLst/>
            <a:cxnLst/>
            <a:rect l="l" t="t" r="r" b="b"/>
            <a:pathLst>
              <a:path w="884734" h="323850">
                <a:moveTo>
                  <a:pt x="161925" y="0"/>
                </a:moveTo>
                <a:lnTo>
                  <a:pt x="722809" y="0"/>
                </a:lnTo>
                <a:cubicBezTo>
                  <a:pt x="765737" y="0"/>
                  <a:pt x="806951" y="17071"/>
                  <a:pt x="837307" y="47427"/>
                </a:cubicBezTo>
                <a:cubicBezTo>
                  <a:pt x="867662" y="77782"/>
                  <a:pt x="884733" y="118996"/>
                  <a:pt x="884733" y="161925"/>
                </a:cubicBezTo>
                <a:lnTo>
                  <a:pt x="884733" y="161925"/>
                </a:lnTo>
                <a:cubicBezTo>
                  <a:pt x="884733" y="204854"/>
                  <a:pt x="867662" y="246068"/>
                  <a:pt x="837307" y="276423"/>
                </a:cubicBezTo>
                <a:cubicBezTo>
                  <a:pt x="806951" y="306779"/>
                  <a:pt x="765737" y="323850"/>
                  <a:pt x="722809" y="323850"/>
                </a:cubicBezTo>
                <a:lnTo>
                  <a:pt x="161925" y="323850"/>
                </a:lnTo>
                <a:cubicBezTo>
                  <a:pt x="118996" y="323850"/>
                  <a:pt x="77782" y="306779"/>
                  <a:pt x="47427" y="276423"/>
                </a:cubicBezTo>
                <a:cubicBezTo>
                  <a:pt x="17071" y="246068"/>
                  <a:pt x="0" y="204854"/>
                  <a:pt x="0" y="161925"/>
                </a:cubicBezTo>
                <a:lnTo>
                  <a:pt x="0" y="161925"/>
                </a:lnTo>
                <a:cubicBezTo>
                  <a:pt x="0" y="118996"/>
                  <a:pt x="17071" y="77782"/>
                  <a:pt x="47427" y="47427"/>
                </a:cubicBezTo>
                <a:cubicBezTo>
                  <a:pt x="77782" y="17071"/>
                  <a:pt x="118996" y="0"/>
                  <a:pt x="161925" y="0"/>
                </a:cubicBezTo>
                <a:close/>
              </a:path>
            </a:pathLst>
          </a:custGeom>
          <a:solidFill>
            <a:srgbClr val="F5A62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6796187" y="1924050"/>
            <a:ext cx="6307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i="0" kern="0" spc="66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จุดเปลี่ยน</a:t>
            </a:r>
            <a:endParaRPr lang="en-US" sz="1100" dirty="0"/>
          </a:p>
        </p:txBody>
      </p:sp>
      <p:sp>
        <p:nvSpPr>
          <p:cNvPr id="36" name="CSS box-shadow background"/>
          <p:cNvSpPr/>
          <p:nvPr/>
        </p:nvSpPr>
        <p:spPr>
          <a:xfrm>
            <a:off x="762000" y="4013200"/>
            <a:ext cx="10668000" cy="1910060"/>
          </a:xfrm>
          <a:custGeom>
            <a:avLst/>
            <a:gdLst/>
            <a:ahLst/>
            <a:cxnLst/>
            <a:rect l="l" t="t" r="r" b="b"/>
            <a:pathLst>
              <a:path w="10668000" h="1910060">
                <a:moveTo>
                  <a:pt x="165100" y="0"/>
                </a:moveTo>
                <a:lnTo>
                  <a:pt x="10502900" y="0"/>
                </a:lnTo>
                <a:cubicBezTo>
                  <a:pt x="10593471" y="0"/>
                  <a:pt x="10668000" y="74529"/>
                  <a:pt x="10668000" y="165100"/>
                </a:cubicBezTo>
                <a:lnTo>
                  <a:pt x="10668000" y="1744960"/>
                </a:lnTo>
                <a:cubicBezTo>
                  <a:pt x="10668000" y="1835531"/>
                  <a:pt x="10593471" y="1910060"/>
                  <a:pt x="10502900" y="1910060"/>
                </a:cubicBezTo>
                <a:lnTo>
                  <a:pt x="165100" y="1910060"/>
                </a:lnTo>
                <a:cubicBezTo>
                  <a:pt x="74529" y="1910060"/>
                  <a:pt x="0" y="1835531"/>
                  <a:pt x="0" y="174496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63500" dir="5400000" algn="bl" rotWithShape="0">
              <a:srgbClr val="1B2340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0"/>
          <p:cNvSpPr/>
          <p:nvPr/>
        </p:nvSpPr>
        <p:spPr>
          <a:xfrm>
            <a:off x="762000" y="4013200"/>
            <a:ext cx="10668000" cy="1910060"/>
          </a:xfrm>
          <a:custGeom>
            <a:avLst/>
            <a:gdLst/>
            <a:ahLst/>
            <a:cxnLst/>
            <a:rect l="l" t="t" r="r" b="b"/>
            <a:pathLst>
              <a:path w="10668000" h="1910060">
                <a:moveTo>
                  <a:pt x="165100" y="0"/>
                </a:moveTo>
                <a:lnTo>
                  <a:pt x="10502900" y="0"/>
                </a:lnTo>
                <a:cubicBezTo>
                  <a:pt x="10593471" y="0"/>
                  <a:pt x="10668000" y="74529"/>
                  <a:pt x="10668000" y="165100"/>
                </a:cubicBezTo>
                <a:lnTo>
                  <a:pt x="10668000" y="1744960"/>
                </a:lnTo>
                <a:cubicBezTo>
                  <a:pt x="10668000" y="1835531"/>
                  <a:pt x="10593471" y="1910060"/>
                  <a:pt x="10502900" y="1910060"/>
                </a:cubicBezTo>
                <a:lnTo>
                  <a:pt x="165100" y="1910060"/>
                </a:lnTo>
                <a:cubicBezTo>
                  <a:pt x="74529" y="1910060"/>
                  <a:pt x="0" y="1835531"/>
                  <a:pt x="0" y="174496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150" y="4359275"/>
            <a:ext cx="419100" cy="4191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187450" y="4467225"/>
            <a:ext cx="1905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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1619250" y="4241800"/>
            <a:ext cx="3200003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แนวคิด: อาจารย์คือ “ผู้กำกับ”</a:t>
            </a:r>
            <a:endParaRPr lang="en-US" sz="2000" dirty="0"/>
          </a:p>
        </p:txBody>
      </p:sp>
      <p:sp>
        <p:nvSpPr>
          <p:cNvPr id="41" name="Text 33"/>
          <p:cNvSpPr/>
          <p:nvPr/>
        </p:nvSpPr>
        <p:spPr>
          <a:xfrm>
            <a:off x="1619250" y="4629150"/>
            <a:ext cx="51197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อธิบายกติกาและหน้าตาที่ต้องการ ส่วนการเขียนเว็บแอปให้ Gemini เป็นผู้ลงมือ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1073150" y="5099050"/>
            <a:ext cx="1524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4B62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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1339850" y="5099050"/>
            <a:ext cx="113407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กำหนดกติกา</a:t>
            </a:r>
            <a:endParaRPr lang="en-US" sz="1600" dirty="0"/>
          </a:p>
        </p:txBody>
      </p:sp>
      <p:sp>
        <p:nvSpPr>
          <p:cNvPr id="44" name="Text 36"/>
          <p:cNvSpPr/>
          <p:nvPr/>
        </p:nvSpPr>
        <p:spPr>
          <a:xfrm>
            <a:off x="1339850" y="5441950"/>
            <a:ext cx="20103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กี่ข้อ มีคะแนน เงื่อนไขการชนะ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4480917" y="5099050"/>
            <a:ext cx="203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4B62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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4798417" y="5099050"/>
            <a:ext cx="1274961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กำหนดหน้าตา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4798417" y="5441950"/>
            <a:ext cx="193089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ปุ่ม สี ฟอนต์ และลำดับหน้าจอ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7888784" y="5099050"/>
            <a:ext cx="177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4B62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</a:t>
            </a:r>
            <a:endParaRPr lang="en-US" sz="1600" dirty="0"/>
          </a:p>
        </p:txBody>
      </p:sp>
      <p:sp>
        <p:nvSpPr>
          <p:cNvPr id="49" name="Text 41"/>
          <p:cNvSpPr/>
          <p:nvPr/>
        </p:nvSpPr>
        <p:spPr>
          <a:xfrm>
            <a:off x="8180884" y="5099050"/>
            <a:ext cx="148778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ป้อนข้อมูลเนื้อหา</a:t>
            </a:r>
            <a:endParaRPr lang="en-US" sz="1600" dirty="0"/>
          </a:p>
        </p:txBody>
      </p:sp>
      <p:sp>
        <p:nvSpPr>
          <p:cNvPr id="50" name="Text 42"/>
          <p:cNvSpPr/>
          <p:nvPr/>
        </p:nvSpPr>
        <p:spPr>
          <a:xfrm>
            <a:off x="8180884" y="5441950"/>
            <a:ext cx="198189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คำถาม ตัวเลือก เฉลย ของวิชา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762000" y="6356350"/>
            <a:ext cx="45731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kern="0" spc="12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ที่มา: Google Gemini Canvas — gemini.google/overview/canvas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8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482600"/>
            <a:ext cx="84722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730970" y="482600"/>
            <a:ext cx="648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17700" y="482600"/>
            <a:ext cx="164603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ตัวอย่างที่ลงมือทำได้</a:t>
            </a:r>
            <a:endParaRPr lang="en-US" sz="1200" dirty="0"/>
          </a:p>
        </p:txBody>
      </p:sp>
      <p:grpSp>
        <p:nvGrpSpPr>
          <p:cNvPr id="5" name="ma"/>
          <p:cNvGrpSpPr/>
          <p:nvPr/>
        </p:nvGrpSpPr>
        <p:grpSpPr>
          <a:xfrm>
            <a:off x="762000" y="781050"/>
            <a:ext cx="6190754" cy="552450"/>
            <a:chOff x="762000" y="781050"/>
            <a:chExt cx="6190754" cy="552450"/>
          </a:xfrm>
        </p:grpSpPr>
        <p:sp>
          <p:nvSpPr>
            <p:cNvPr id="6" name="Text 0"/>
            <p:cNvSpPr/>
            <p:nvPr/>
          </p:nvSpPr>
          <p:spPr>
            <a:xfrm>
              <a:off x="762000" y="781050"/>
              <a:ext cx="4199235" cy="552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i="0" dirty="0">
                  <a:solidFill>
                    <a:srgbClr val="1B2340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รูปแบบเว็บแอปที่สร้างได้</a:t>
              </a:r>
              <a:endParaRPr lang="en-US" sz="3200" dirty="0"/>
            </a:p>
          </p:txBody>
        </p:sp>
        <p:sp>
          <p:nvSpPr>
            <p:cNvPr id="7" name="Text 1"/>
            <p:cNvSpPr/>
            <p:nvPr/>
          </p:nvSpPr>
          <p:spPr>
            <a:xfrm>
              <a:off x="5062835" y="781050"/>
              <a:ext cx="1889919" cy="552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i="0" dirty="0">
                  <a:solidFill>
                    <a:srgbClr val="4B62C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ใน 30 นาที</a:t>
              </a:r>
              <a:endParaRPr lang="en-US" sz="3200" dirty="0"/>
            </a:p>
          </p:txBody>
        </p:sp>
      </p:grpSp>
      <p:sp>
        <p:nvSpPr>
          <p:cNvPr id="8" name="Shape 3"/>
          <p:cNvSpPr/>
          <p:nvPr/>
        </p:nvSpPr>
        <p:spPr>
          <a:xfrm>
            <a:off x="9105007" y="823416"/>
            <a:ext cx="2324993" cy="463550"/>
          </a:xfrm>
          <a:custGeom>
            <a:avLst/>
            <a:gdLst/>
            <a:ahLst/>
            <a:cxnLst/>
            <a:rect l="l" t="t" r="r" b="b"/>
            <a:pathLst>
              <a:path w="2324993" h="463550">
                <a:moveTo>
                  <a:pt x="231775" y="0"/>
                </a:moveTo>
                <a:lnTo>
                  <a:pt x="2093218" y="0"/>
                </a:lnTo>
                <a:cubicBezTo>
                  <a:pt x="2220366" y="0"/>
                  <a:pt x="2324993" y="104627"/>
                  <a:pt x="2324993" y="231775"/>
                </a:cubicBezTo>
                <a:lnTo>
                  <a:pt x="2324993" y="231775"/>
                </a:lnTo>
                <a:cubicBezTo>
                  <a:pt x="2324993" y="358923"/>
                  <a:pt x="2220366" y="463550"/>
                  <a:pt x="2093218" y="463550"/>
                </a:cubicBezTo>
                <a:lnTo>
                  <a:pt x="231775" y="463550"/>
                </a:lnTo>
                <a:cubicBezTo>
                  <a:pt x="104627" y="463550"/>
                  <a:pt x="0" y="358923"/>
                  <a:pt x="0" y="231775"/>
                </a:cubicBezTo>
                <a:lnTo>
                  <a:pt x="0" y="231775"/>
                </a:lnTo>
                <a:cubicBezTo>
                  <a:pt x="0" y="104627"/>
                  <a:pt x="104627" y="0"/>
                  <a:pt x="231775" y="0"/>
                </a:cubicBezTo>
                <a:close/>
              </a:path>
            </a:pathLst>
          </a:custGeom>
          <a:solidFill>
            <a:srgbClr val="FFFFFF"/>
          </a:solidFill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9530457" y="944066"/>
            <a:ext cx="17153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เลือก 1 แบบตามสาขาวิชา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157" y="978991"/>
            <a:ext cx="152400" cy="152400"/>
          </a:xfrm>
          <a:prstGeom prst="rect">
            <a:avLst/>
          </a:prstGeom>
        </p:spPr>
      </p:pic>
      <p:sp>
        <p:nvSpPr>
          <p:cNvPr id="11" name="CSS box-shadow background"/>
          <p:cNvSpPr/>
          <p:nvPr/>
        </p:nvSpPr>
        <p:spPr>
          <a:xfrm>
            <a:off x="762000" y="1828800"/>
            <a:ext cx="3420467" cy="3686770"/>
          </a:xfrm>
          <a:custGeom>
            <a:avLst/>
            <a:gdLst/>
            <a:ahLst/>
            <a:cxnLst/>
            <a:rect l="l" t="t" r="r" b="b"/>
            <a:pathLst>
              <a:path w="3420467" h="3686770">
                <a:moveTo>
                  <a:pt x="165100" y="0"/>
                </a:moveTo>
                <a:lnTo>
                  <a:pt x="3255367" y="0"/>
                </a:lnTo>
                <a:cubicBezTo>
                  <a:pt x="3345939" y="0"/>
                  <a:pt x="3420467" y="74529"/>
                  <a:pt x="3420467" y="165100"/>
                </a:cubicBezTo>
                <a:lnTo>
                  <a:pt x="3420467" y="3521670"/>
                </a:lnTo>
                <a:cubicBezTo>
                  <a:pt x="3420467" y="3612241"/>
                  <a:pt x="3345939" y="3686770"/>
                  <a:pt x="3255367" y="3686770"/>
                </a:cubicBezTo>
                <a:lnTo>
                  <a:pt x="165100" y="3686770"/>
                </a:lnTo>
                <a:cubicBezTo>
                  <a:pt x="74529" y="3686770"/>
                  <a:pt x="0" y="3612241"/>
                  <a:pt x="0" y="352167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15900" dist="76200" dir="5400000" algn="bl" rotWithShape="0">
              <a:srgbClr val="1B2340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6"/>
          <p:cNvSpPr/>
          <p:nvPr/>
        </p:nvSpPr>
        <p:spPr>
          <a:xfrm>
            <a:off x="762000" y="1828800"/>
            <a:ext cx="3420467" cy="3686770"/>
          </a:xfrm>
          <a:custGeom>
            <a:avLst/>
            <a:gdLst/>
            <a:ahLst/>
            <a:cxnLst/>
            <a:rect l="l" t="t" r="r" b="b"/>
            <a:pathLst>
              <a:path w="3420467" h="3686770">
                <a:moveTo>
                  <a:pt x="165100" y="0"/>
                </a:moveTo>
                <a:lnTo>
                  <a:pt x="3255367" y="0"/>
                </a:lnTo>
                <a:cubicBezTo>
                  <a:pt x="3345939" y="0"/>
                  <a:pt x="3420467" y="74529"/>
                  <a:pt x="3420467" y="165100"/>
                </a:cubicBezTo>
                <a:lnTo>
                  <a:pt x="3420467" y="3521670"/>
                </a:lnTo>
                <a:cubicBezTo>
                  <a:pt x="3420467" y="3612241"/>
                  <a:pt x="3345939" y="3686770"/>
                  <a:pt x="3255367" y="3686770"/>
                </a:cubicBezTo>
                <a:lnTo>
                  <a:pt x="165100" y="3686770"/>
                </a:lnTo>
                <a:cubicBezTo>
                  <a:pt x="74529" y="3686770"/>
                  <a:pt x="0" y="3612241"/>
                  <a:pt x="0" y="352167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768350" y="1835150"/>
            <a:ext cx="3407767" cy="76200"/>
          </a:xfrm>
          <a:custGeom>
            <a:avLst/>
            <a:gdLst/>
            <a:ahLst/>
            <a:cxnLst/>
            <a:rect l="l" t="t" r="r" b="b"/>
            <a:pathLst>
              <a:path w="3407767" h="76200">
                <a:moveTo>
                  <a:pt x="76200" y="0"/>
                </a:moveTo>
                <a:lnTo>
                  <a:pt x="3331567" y="0"/>
                </a:lnTo>
                <a:cubicBezTo>
                  <a:pt x="3373369" y="0"/>
                  <a:pt x="3407767" y="34398"/>
                  <a:pt x="3407767" y="76200"/>
                </a:cubicBezTo>
                <a:lnTo>
                  <a:pt x="3407767" y="76200"/>
                </a:lnTo>
                <a:cubicBezTo>
                  <a:pt x="3407767" y="76200"/>
                  <a:pt x="3407767" y="76200"/>
                  <a:pt x="3407767" y="76200"/>
                </a:cubicBezTo>
                <a:lnTo>
                  <a:pt x="0" y="76200"/>
                </a:lnTo>
                <a:cubicBezTo>
                  <a:pt x="0" y="76200"/>
                  <a:pt x="0" y="76200"/>
                  <a:pt x="0" y="76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2E86D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8"/>
          <p:cNvSpPr/>
          <p:nvPr/>
        </p:nvSpPr>
        <p:spPr>
          <a:xfrm>
            <a:off x="996950" y="212725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139700" y="0"/>
                </a:moveTo>
                <a:lnTo>
                  <a:pt x="342900" y="0"/>
                </a:lnTo>
                <a:cubicBezTo>
                  <a:pt x="419537" y="0"/>
                  <a:pt x="482600" y="63063"/>
                  <a:pt x="482600" y="139700"/>
                </a:cubicBezTo>
                <a:lnTo>
                  <a:pt x="482600" y="342900"/>
                </a:lnTo>
                <a:cubicBezTo>
                  <a:pt x="482600" y="419537"/>
                  <a:pt x="419537" y="482600"/>
                  <a:pt x="342900" y="482600"/>
                </a:cubicBezTo>
                <a:lnTo>
                  <a:pt x="139700" y="482600"/>
                </a:lnTo>
                <a:cubicBezTo>
                  <a:pt x="63063" y="482600"/>
                  <a:pt x="0" y="419537"/>
                  <a:pt x="0" y="342900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solidFill>
            <a:srgbClr val="E2EEF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806" y="2260600"/>
            <a:ext cx="242888" cy="2159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72198" y="2193925"/>
            <a:ext cx="17532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ABCFF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996950" y="2717800"/>
            <a:ext cx="249604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เกมจำลองการตัดสินใจ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996950" y="3105150"/>
            <a:ext cx="161280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2E86D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สังคม · บริหาร · พยาบาล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96950" y="3426420"/>
            <a:ext cx="273764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Branching Scenario — เลือกเส้นทางแล้ว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96950" y="3655020"/>
            <a:ext cx="19989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เห็นผลลัพธ์ พร้อมคะแนนสะสม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996950" y="4245570"/>
            <a:ext cx="2950567" cy="1073150"/>
          </a:xfrm>
          <a:custGeom>
            <a:avLst/>
            <a:gdLst/>
            <a:ahLst/>
            <a:cxnLst/>
            <a:rect l="l" t="t" r="r" b="b"/>
            <a:pathLst>
              <a:path w="2950567" h="1073150">
                <a:moveTo>
                  <a:pt x="101600" y="0"/>
                </a:moveTo>
                <a:lnTo>
                  <a:pt x="2848967" y="0"/>
                </a:lnTo>
                <a:cubicBezTo>
                  <a:pt x="2904703" y="0"/>
                  <a:pt x="2950567" y="45864"/>
                  <a:pt x="2950567" y="101600"/>
                </a:cubicBezTo>
                <a:lnTo>
                  <a:pt x="2950567" y="971550"/>
                </a:lnTo>
                <a:cubicBezTo>
                  <a:pt x="2950567" y="1027286"/>
                  <a:pt x="2904703" y="1073150"/>
                  <a:pt x="2848967" y="1073150"/>
                </a:cubicBezTo>
                <a:lnTo>
                  <a:pt x="101600" y="1073150"/>
                </a:lnTo>
                <a:cubicBezTo>
                  <a:pt x="45864" y="1073150"/>
                  <a:pt x="0" y="1027286"/>
                  <a:pt x="0" y="97155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6F7FB"/>
          </a:solidFill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1130300" y="4372570"/>
            <a:ext cx="9134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ตัวอย่างหน้าจอ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1130300" y="4664670"/>
            <a:ext cx="2093416" cy="76200"/>
          </a:xfrm>
          <a:custGeom>
            <a:avLst/>
            <a:gdLst/>
            <a:ahLst/>
            <a:cxnLst/>
            <a:rect l="l" t="t" r="r" b="b"/>
            <a:pathLst>
              <a:path w="2093416" h="76200">
                <a:moveTo>
                  <a:pt x="38100" y="0"/>
                </a:moveTo>
                <a:lnTo>
                  <a:pt x="2055317" y="0"/>
                </a:lnTo>
                <a:cubicBezTo>
                  <a:pt x="2076218" y="0"/>
                  <a:pt x="2093417" y="17199"/>
                  <a:pt x="2093417" y="38100"/>
                </a:cubicBezTo>
                <a:lnTo>
                  <a:pt x="2093417" y="38100"/>
                </a:lnTo>
                <a:cubicBezTo>
                  <a:pt x="2093417" y="59001"/>
                  <a:pt x="2076218" y="76200"/>
                  <a:pt x="2055317" y="76200"/>
                </a:cubicBezTo>
                <a:lnTo>
                  <a:pt x="38100" y="76200"/>
                </a:lnTo>
                <a:cubicBezTo>
                  <a:pt x="17199" y="76200"/>
                  <a:pt x="0" y="59001"/>
                  <a:pt x="0" y="38100"/>
                </a:cubicBezTo>
                <a:lnTo>
                  <a:pt x="0" y="38100"/>
                </a:lnTo>
                <a:cubicBezTo>
                  <a:pt x="0" y="17199"/>
                  <a:pt x="17199" y="0"/>
                  <a:pt x="38100" y="0"/>
                </a:cubicBezTo>
                <a:close/>
              </a:path>
            </a:pathLst>
          </a:custGeom>
          <a:solidFill>
            <a:srgbClr val="D1E4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1130300" y="4804370"/>
            <a:ext cx="1610320" cy="76200"/>
          </a:xfrm>
          <a:custGeom>
            <a:avLst/>
            <a:gdLst/>
            <a:ahLst/>
            <a:cxnLst/>
            <a:rect l="l" t="t" r="r" b="b"/>
            <a:pathLst>
              <a:path w="1610320" h="76200">
                <a:moveTo>
                  <a:pt x="38100" y="0"/>
                </a:moveTo>
                <a:lnTo>
                  <a:pt x="1572220" y="0"/>
                </a:lnTo>
                <a:cubicBezTo>
                  <a:pt x="1593121" y="0"/>
                  <a:pt x="1610320" y="17199"/>
                  <a:pt x="1610320" y="38100"/>
                </a:cubicBezTo>
                <a:lnTo>
                  <a:pt x="1610320" y="38100"/>
                </a:lnTo>
                <a:cubicBezTo>
                  <a:pt x="1610320" y="59001"/>
                  <a:pt x="1593121" y="76200"/>
                  <a:pt x="1572220" y="76200"/>
                </a:cubicBezTo>
                <a:lnTo>
                  <a:pt x="38100" y="76200"/>
                </a:lnTo>
                <a:cubicBezTo>
                  <a:pt x="17199" y="76200"/>
                  <a:pt x="0" y="59001"/>
                  <a:pt x="0" y="38100"/>
                </a:cubicBezTo>
                <a:lnTo>
                  <a:pt x="0" y="38100"/>
                </a:lnTo>
                <a:cubicBezTo>
                  <a:pt x="0" y="17199"/>
                  <a:pt x="17199" y="0"/>
                  <a:pt x="38100" y="0"/>
                </a:cubicBezTo>
                <a:close/>
              </a:path>
            </a:pathLst>
          </a:custGeom>
          <a:solidFill>
            <a:srgbClr val="D1E4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18"/>
          <p:cNvSpPr/>
          <p:nvPr/>
        </p:nvSpPr>
        <p:spPr>
          <a:xfrm>
            <a:off x="1130300" y="4982170"/>
            <a:ext cx="1297484" cy="215900"/>
          </a:xfrm>
          <a:custGeom>
            <a:avLst/>
            <a:gdLst/>
            <a:ahLst/>
            <a:cxnLst/>
            <a:rect l="l" t="t" r="r" b="b"/>
            <a:pathLst>
              <a:path w="1297484" h="215900">
                <a:moveTo>
                  <a:pt x="57150" y="0"/>
                </a:moveTo>
                <a:lnTo>
                  <a:pt x="1240333" y="0"/>
                </a:lnTo>
                <a:cubicBezTo>
                  <a:pt x="1271685" y="0"/>
                  <a:pt x="1297483" y="25799"/>
                  <a:pt x="1297483" y="57150"/>
                </a:cubicBezTo>
                <a:lnTo>
                  <a:pt x="1297483" y="158750"/>
                </a:lnTo>
                <a:cubicBezTo>
                  <a:pt x="1297483" y="190101"/>
                  <a:pt x="1271685" y="215900"/>
                  <a:pt x="1240333" y="215900"/>
                </a:cubicBezTo>
                <a:lnTo>
                  <a:pt x="57150" y="215900"/>
                </a:lnTo>
                <a:cubicBezTo>
                  <a:pt x="25799" y="215900"/>
                  <a:pt x="0" y="190101"/>
                  <a:pt x="0" y="158750"/>
                </a:cubicBezTo>
                <a:lnTo>
                  <a:pt x="0" y="57150"/>
                </a:lnTo>
                <a:cubicBezTo>
                  <a:pt x="0" y="25799"/>
                  <a:pt x="25799" y="0"/>
                  <a:pt x="57150" y="0"/>
                </a:cubicBezTo>
                <a:close/>
              </a:path>
            </a:pathLst>
          </a:custGeom>
          <a:solidFill>
            <a:srgbClr val="2E86D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2491284" y="4982170"/>
            <a:ext cx="1322884" cy="57150"/>
          </a:xfrm>
          <a:custGeom>
            <a:avLst/>
            <a:gdLst/>
            <a:ahLst/>
            <a:cxnLst/>
            <a:rect l="l" t="t" r="r" b="b"/>
            <a:pathLst>
              <a:path w="1322884" h="57150">
                <a:moveTo>
                  <a:pt x="57150" y="0"/>
                </a:moveTo>
                <a:lnTo>
                  <a:pt x="1265733" y="0"/>
                </a:lnTo>
                <a:cubicBezTo>
                  <a:pt x="1297085" y="0"/>
                  <a:pt x="1322883" y="25799"/>
                  <a:pt x="1322883" y="57150"/>
                </a:cubicBezTo>
                <a:lnTo>
                  <a:pt x="1310183" y="57150"/>
                </a:lnTo>
                <a:cubicBezTo>
                  <a:pt x="1310183" y="32765"/>
                  <a:pt x="1290118" y="12700"/>
                  <a:pt x="1265733" y="12700"/>
                </a:cubicBezTo>
                <a:lnTo>
                  <a:pt x="57150" y="12700"/>
                </a:lnTo>
                <a:cubicBezTo>
                  <a:pt x="32765" y="12700"/>
                  <a:pt x="12700" y="32765"/>
                  <a:pt x="12700" y="57150"/>
                </a:cubicBezTo>
                <a:lnTo>
                  <a:pt x="0" y="57150"/>
                </a:lnTo>
                <a:cubicBezTo>
                  <a:pt x="0" y="25799"/>
                  <a:pt x="25799" y="0"/>
                  <a:pt x="57150" y="0"/>
                </a:cubicBezTo>
                <a:close/>
              </a:path>
            </a:pathLst>
          </a:custGeom>
          <a:solidFill>
            <a:srgbClr val="2E86DE"/>
          </a:solid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3757017" y="4982170"/>
            <a:ext cx="57150" cy="215900"/>
          </a:xfrm>
          <a:custGeom>
            <a:avLst/>
            <a:gdLst/>
            <a:ahLst/>
            <a:cxnLst/>
            <a:rect l="l" t="t" r="r" b="b"/>
            <a:pathLst>
              <a:path w="57150" h="215900">
                <a:moveTo>
                  <a:pt x="57150" y="57150"/>
                </a:moveTo>
                <a:lnTo>
                  <a:pt x="57150" y="158750"/>
                </a:lnTo>
                <a:cubicBezTo>
                  <a:pt x="57150" y="190101"/>
                  <a:pt x="31351" y="215900"/>
                  <a:pt x="0" y="215900"/>
                </a:cubicBezTo>
                <a:lnTo>
                  <a:pt x="0" y="203200"/>
                </a:lnTo>
                <a:cubicBezTo>
                  <a:pt x="24385" y="203200"/>
                  <a:pt x="44450" y="183135"/>
                  <a:pt x="44450" y="158750"/>
                </a:cubicBezTo>
                <a:lnTo>
                  <a:pt x="44450" y="57150"/>
                </a:lnTo>
                <a:cubicBezTo>
                  <a:pt x="44450" y="32765"/>
                  <a:pt x="24385" y="12700"/>
                  <a:pt x="0" y="12700"/>
                </a:cubicBezTo>
                <a:lnTo>
                  <a:pt x="0" y="0"/>
                </a:lnTo>
                <a:cubicBezTo>
                  <a:pt x="31351" y="0"/>
                  <a:pt x="57150" y="25799"/>
                  <a:pt x="57150" y="57150"/>
                </a:cubicBezTo>
                <a:close/>
              </a:path>
            </a:pathLst>
          </a:custGeom>
          <a:solidFill>
            <a:srgbClr val="2E86DE"/>
          </a:solid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1"/>
          <p:cNvSpPr/>
          <p:nvPr/>
        </p:nvSpPr>
        <p:spPr>
          <a:xfrm>
            <a:off x="2491284" y="5140920"/>
            <a:ext cx="1322884" cy="57150"/>
          </a:xfrm>
          <a:custGeom>
            <a:avLst/>
            <a:gdLst/>
            <a:ahLst/>
            <a:cxnLst/>
            <a:rect l="l" t="t" r="r" b="b"/>
            <a:pathLst>
              <a:path w="1322884" h="57150">
                <a:moveTo>
                  <a:pt x="1265733" y="57150"/>
                </a:moveTo>
                <a:lnTo>
                  <a:pt x="57150" y="57150"/>
                </a:lnTo>
                <a:cubicBezTo>
                  <a:pt x="25799" y="57150"/>
                  <a:pt x="0" y="31351"/>
                  <a:pt x="0" y="0"/>
                </a:cubicBezTo>
                <a:lnTo>
                  <a:pt x="12700" y="0"/>
                </a:lnTo>
                <a:cubicBezTo>
                  <a:pt x="12700" y="24385"/>
                  <a:pt x="32765" y="44450"/>
                  <a:pt x="57150" y="44450"/>
                </a:cubicBezTo>
                <a:lnTo>
                  <a:pt x="1265733" y="44450"/>
                </a:lnTo>
                <a:cubicBezTo>
                  <a:pt x="1290118" y="44450"/>
                  <a:pt x="1310183" y="24385"/>
                  <a:pt x="1310183" y="0"/>
                </a:cubicBezTo>
                <a:lnTo>
                  <a:pt x="1322883" y="0"/>
                </a:lnTo>
                <a:cubicBezTo>
                  <a:pt x="1322883" y="31351"/>
                  <a:pt x="1297085" y="57150"/>
                  <a:pt x="1265733" y="57150"/>
                </a:cubicBezTo>
                <a:close/>
              </a:path>
            </a:pathLst>
          </a:custGeom>
          <a:solidFill>
            <a:srgbClr val="2E86DE"/>
          </a:solid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2491284" y="4982170"/>
            <a:ext cx="57150" cy="215900"/>
          </a:xfrm>
          <a:custGeom>
            <a:avLst/>
            <a:gdLst/>
            <a:ahLst/>
            <a:cxnLst/>
            <a:rect l="l" t="t" r="r" b="b"/>
            <a:pathLst>
              <a:path w="57150" h="215900">
                <a:moveTo>
                  <a:pt x="0" y="158750"/>
                </a:moveTo>
                <a:lnTo>
                  <a:pt x="0" y="57150"/>
                </a:lnTo>
                <a:cubicBezTo>
                  <a:pt x="0" y="25799"/>
                  <a:pt x="25799" y="0"/>
                  <a:pt x="57150" y="0"/>
                </a:cubicBezTo>
                <a:lnTo>
                  <a:pt x="57150" y="12700"/>
                </a:lnTo>
                <a:cubicBezTo>
                  <a:pt x="32765" y="12700"/>
                  <a:pt x="12700" y="32765"/>
                  <a:pt x="12700" y="57150"/>
                </a:cubicBezTo>
                <a:lnTo>
                  <a:pt x="12700" y="158750"/>
                </a:lnTo>
                <a:cubicBezTo>
                  <a:pt x="12700" y="183135"/>
                  <a:pt x="32765" y="203200"/>
                  <a:pt x="57150" y="203200"/>
                </a:cubicBezTo>
                <a:lnTo>
                  <a:pt x="57150" y="215900"/>
                </a:lnTo>
                <a:cubicBezTo>
                  <a:pt x="25799" y="215900"/>
                  <a:pt x="0" y="190101"/>
                  <a:pt x="0" y="158750"/>
                </a:cubicBezTo>
                <a:close/>
              </a:path>
            </a:pathLst>
          </a:custGeom>
          <a:solidFill>
            <a:srgbClr val="2E86DE"/>
          </a:solid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CSS box-shadow background"/>
          <p:cNvSpPr/>
          <p:nvPr/>
        </p:nvSpPr>
        <p:spPr>
          <a:xfrm>
            <a:off x="4385667" y="1828800"/>
            <a:ext cx="3420566" cy="3686770"/>
          </a:xfrm>
          <a:custGeom>
            <a:avLst/>
            <a:gdLst/>
            <a:ahLst/>
            <a:cxnLst/>
            <a:rect l="l" t="t" r="r" b="b"/>
            <a:pathLst>
              <a:path w="3420566" h="3686770">
                <a:moveTo>
                  <a:pt x="165100" y="0"/>
                </a:moveTo>
                <a:lnTo>
                  <a:pt x="3255467" y="0"/>
                </a:lnTo>
                <a:cubicBezTo>
                  <a:pt x="3346038" y="0"/>
                  <a:pt x="3420567" y="74529"/>
                  <a:pt x="3420567" y="165100"/>
                </a:cubicBezTo>
                <a:lnTo>
                  <a:pt x="3420567" y="3521670"/>
                </a:lnTo>
                <a:cubicBezTo>
                  <a:pt x="3420567" y="3612241"/>
                  <a:pt x="3346038" y="3686770"/>
                  <a:pt x="3255467" y="3686770"/>
                </a:cubicBezTo>
                <a:lnTo>
                  <a:pt x="165100" y="3686770"/>
                </a:lnTo>
                <a:cubicBezTo>
                  <a:pt x="74529" y="3686770"/>
                  <a:pt x="0" y="3612241"/>
                  <a:pt x="0" y="352167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15900" dist="76200" dir="5400000" algn="bl" rotWithShape="0">
              <a:srgbClr val="1B2340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4"/>
          <p:cNvSpPr/>
          <p:nvPr/>
        </p:nvSpPr>
        <p:spPr>
          <a:xfrm>
            <a:off x="4385667" y="1828800"/>
            <a:ext cx="3420566" cy="3686770"/>
          </a:xfrm>
          <a:custGeom>
            <a:avLst/>
            <a:gdLst/>
            <a:ahLst/>
            <a:cxnLst/>
            <a:rect l="l" t="t" r="r" b="b"/>
            <a:pathLst>
              <a:path w="3420566" h="3686770">
                <a:moveTo>
                  <a:pt x="165100" y="0"/>
                </a:moveTo>
                <a:lnTo>
                  <a:pt x="3255467" y="0"/>
                </a:lnTo>
                <a:cubicBezTo>
                  <a:pt x="3346038" y="0"/>
                  <a:pt x="3420567" y="74529"/>
                  <a:pt x="3420567" y="165100"/>
                </a:cubicBezTo>
                <a:lnTo>
                  <a:pt x="3420567" y="3521670"/>
                </a:lnTo>
                <a:cubicBezTo>
                  <a:pt x="3420567" y="3612241"/>
                  <a:pt x="3346038" y="3686770"/>
                  <a:pt x="3255467" y="3686770"/>
                </a:cubicBezTo>
                <a:lnTo>
                  <a:pt x="165100" y="3686770"/>
                </a:lnTo>
                <a:cubicBezTo>
                  <a:pt x="74529" y="3686770"/>
                  <a:pt x="0" y="3612241"/>
                  <a:pt x="0" y="352167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4392017" y="1835150"/>
            <a:ext cx="3407866" cy="76200"/>
          </a:xfrm>
          <a:custGeom>
            <a:avLst/>
            <a:gdLst/>
            <a:ahLst/>
            <a:cxnLst/>
            <a:rect l="l" t="t" r="r" b="b"/>
            <a:pathLst>
              <a:path w="3407866" h="76200">
                <a:moveTo>
                  <a:pt x="76200" y="0"/>
                </a:moveTo>
                <a:lnTo>
                  <a:pt x="3331667" y="0"/>
                </a:lnTo>
                <a:cubicBezTo>
                  <a:pt x="3373469" y="0"/>
                  <a:pt x="3407867" y="34398"/>
                  <a:pt x="3407867" y="76200"/>
                </a:cubicBezTo>
                <a:lnTo>
                  <a:pt x="3407867" y="76200"/>
                </a:lnTo>
                <a:cubicBezTo>
                  <a:pt x="3407867" y="76200"/>
                  <a:pt x="3407867" y="76200"/>
                  <a:pt x="3407867" y="76200"/>
                </a:cubicBezTo>
                <a:lnTo>
                  <a:pt x="0" y="76200"/>
                </a:lnTo>
                <a:cubicBezTo>
                  <a:pt x="0" y="76200"/>
                  <a:pt x="0" y="76200"/>
                  <a:pt x="0" y="76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1FA97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26"/>
          <p:cNvSpPr/>
          <p:nvPr/>
        </p:nvSpPr>
        <p:spPr>
          <a:xfrm>
            <a:off x="4620617" y="212725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139700" y="0"/>
                </a:moveTo>
                <a:lnTo>
                  <a:pt x="342900" y="0"/>
                </a:lnTo>
                <a:cubicBezTo>
                  <a:pt x="419537" y="0"/>
                  <a:pt x="482600" y="63063"/>
                  <a:pt x="482600" y="139700"/>
                </a:cubicBezTo>
                <a:lnTo>
                  <a:pt x="482600" y="342900"/>
                </a:lnTo>
                <a:cubicBezTo>
                  <a:pt x="482600" y="419537"/>
                  <a:pt x="419537" y="482600"/>
                  <a:pt x="342900" y="482600"/>
                </a:cubicBezTo>
                <a:lnTo>
                  <a:pt x="139700" y="482600"/>
                </a:lnTo>
                <a:cubicBezTo>
                  <a:pt x="63063" y="482600"/>
                  <a:pt x="0" y="419537"/>
                  <a:pt x="0" y="342900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solidFill>
            <a:srgbClr val="E0F3EC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461" y="2260600"/>
            <a:ext cx="215900" cy="2159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400528" y="2193925"/>
            <a:ext cx="17075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A5DD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6" name="Text 28"/>
          <p:cNvSpPr/>
          <p:nvPr/>
        </p:nvSpPr>
        <p:spPr>
          <a:xfrm>
            <a:off x="4620617" y="2717800"/>
            <a:ext cx="235337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ห้องทดลองเสมือนจริง</a:t>
            </a:r>
            <a:endParaRPr lang="en-US" sz="2000" dirty="0"/>
          </a:p>
        </p:txBody>
      </p:sp>
      <p:sp>
        <p:nvSpPr>
          <p:cNvPr id="37" name="Text 29"/>
          <p:cNvSpPr/>
          <p:nvPr/>
        </p:nvSpPr>
        <p:spPr>
          <a:xfrm>
            <a:off x="4620617" y="3105150"/>
            <a:ext cx="139660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FA9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วิทย์ · วิศวะ · เทคโนฯ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4620617" y="3426420"/>
            <a:ext cx="273248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Virtual Lab / Simulator — เลื่อนแถบปรับ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620617" y="3655020"/>
            <a:ext cx="233084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ค่าตัวแปร แล้วเห็นกราฟเปลี่ยนทันที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620617" y="4232870"/>
            <a:ext cx="2950666" cy="1085850"/>
          </a:xfrm>
          <a:custGeom>
            <a:avLst/>
            <a:gdLst/>
            <a:ahLst/>
            <a:cxnLst/>
            <a:rect l="l" t="t" r="r" b="b"/>
            <a:pathLst>
              <a:path w="2950666" h="1085850">
                <a:moveTo>
                  <a:pt x="101600" y="0"/>
                </a:moveTo>
                <a:lnTo>
                  <a:pt x="2849067" y="0"/>
                </a:lnTo>
                <a:cubicBezTo>
                  <a:pt x="2904803" y="0"/>
                  <a:pt x="2950667" y="45864"/>
                  <a:pt x="2950667" y="101600"/>
                </a:cubicBezTo>
                <a:lnTo>
                  <a:pt x="2950667" y="984250"/>
                </a:lnTo>
                <a:cubicBezTo>
                  <a:pt x="2950667" y="1039986"/>
                  <a:pt x="2904803" y="1085850"/>
                  <a:pt x="2849067" y="1085850"/>
                </a:cubicBezTo>
                <a:lnTo>
                  <a:pt x="101600" y="1085850"/>
                </a:lnTo>
                <a:cubicBezTo>
                  <a:pt x="45864" y="1085850"/>
                  <a:pt x="0" y="1039986"/>
                  <a:pt x="0" y="98425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6F7FB"/>
          </a:solidFill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753967" y="4359870"/>
            <a:ext cx="9134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ตัวอย่างหน้าจอ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4753967" y="5080000"/>
            <a:ext cx="632817" cy="118070"/>
          </a:xfrm>
          <a:custGeom>
            <a:avLst/>
            <a:gdLst/>
            <a:ahLst/>
            <a:cxnLst/>
            <a:rect l="l" t="t" r="r" b="b"/>
            <a:pathLst>
              <a:path w="632817" h="118070">
                <a:moveTo>
                  <a:pt x="25400" y="0"/>
                </a:moveTo>
                <a:lnTo>
                  <a:pt x="607417" y="0"/>
                </a:lnTo>
                <a:cubicBezTo>
                  <a:pt x="621351" y="0"/>
                  <a:pt x="632817" y="11466"/>
                  <a:pt x="632817" y="25400"/>
                </a:cubicBezTo>
                <a:lnTo>
                  <a:pt x="632817" y="92670"/>
                </a:lnTo>
                <a:cubicBezTo>
                  <a:pt x="632817" y="106604"/>
                  <a:pt x="621351" y="118070"/>
                  <a:pt x="607417" y="118070"/>
                </a:cubicBezTo>
                <a:lnTo>
                  <a:pt x="25400" y="118070"/>
                </a:lnTo>
                <a:cubicBezTo>
                  <a:pt x="11466" y="118070"/>
                  <a:pt x="0" y="106604"/>
                  <a:pt x="0" y="92670"/>
                </a:cubicBezTo>
                <a:lnTo>
                  <a:pt x="0" y="25400"/>
                </a:lnTo>
                <a:cubicBezTo>
                  <a:pt x="0" y="11466"/>
                  <a:pt x="11466" y="0"/>
                  <a:pt x="25400" y="0"/>
                </a:cubicBezTo>
                <a:close/>
              </a:path>
            </a:pathLst>
          </a:custGeom>
          <a:solidFill>
            <a:srgbClr val="8FD4BD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35"/>
          <p:cNvSpPr/>
          <p:nvPr/>
        </p:nvSpPr>
        <p:spPr>
          <a:xfrm>
            <a:off x="5437584" y="4969768"/>
            <a:ext cx="632916" cy="228302"/>
          </a:xfrm>
          <a:custGeom>
            <a:avLst/>
            <a:gdLst/>
            <a:ahLst/>
            <a:cxnLst/>
            <a:rect l="l" t="t" r="r" b="b"/>
            <a:pathLst>
              <a:path w="632916" h="228302">
                <a:moveTo>
                  <a:pt x="25400" y="0"/>
                </a:moveTo>
                <a:lnTo>
                  <a:pt x="607517" y="0"/>
                </a:lnTo>
                <a:cubicBezTo>
                  <a:pt x="621451" y="0"/>
                  <a:pt x="632917" y="11466"/>
                  <a:pt x="632917" y="25400"/>
                </a:cubicBezTo>
                <a:lnTo>
                  <a:pt x="632917" y="202903"/>
                </a:lnTo>
                <a:cubicBezTo>
                  <a:pt x="632917" y="216837"/>
                  <a:pt x="621451" y="228303"/>
                  <a:pt x="607517" y="228303"/>
                </a:cubicBezTo>
                <a:lnTo>
                  <a:pt x="25400" y="228303"/>
                </a:lnTo>
                <a:cubicBezTo>
                  <a:pt x="11466" y="228303"/>
                  <a:pt x="0" y="216837"/>
                  <a:pt x="0" y="202903"/>
                </a:cubicBezTo>
                <a:lnTo>
                  <a:pt x="0" y="25400"/>
                </a:lnTo>
                <a:cubicBezTo>
                  <a:pt x="0" y="11466"/>
                  <a:pt x="11466" y="0"/>
                  <a:pt x="25400" y="0"/>
                </a:cubicBezTo>
                <a:close/>
              </a:path>
            </a:pathLst>
          </a:custGeom>
          <a:solidFill>
            <a:srgbClr val="74CAAD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36"/>
          <p:cNvSpPr/>
          <p:nvPr/>
        </p:nvSpPr>
        <p:spPr>
          <a:xfrm>
            <a:off x="6121301" y="4875312"/>
            <a:ext cx="632916" cy="322759"/>
          </a:xfrm>
          <a:custGeom>
            <a:avLst/>
            <a:gdLst/>
            <a:ahLst/>
            <a:cxnLst/>
            <a:rect l="l" t="t" r="r" b="b"/>
            <a:pathLst>
              <a:path w="632916" h="322759">
                <a:moveTo>
                  <a:pt x="25400" y="0"/>
                </a:moveTo>
                <a:lnTo>
                  <a:pt x="607517" y="0"/>
                </a:lnTo>
                <a:cubicBezTo>
                  <a:pt x="621451" y="0"/>
                  <a:pt x="632917" y="11466"/>
                  <a:pt x="632917" y="25400"/>
                </a:cubicBezTo>
                <a:lnTo>
                  <a:pt x="632917" y="297359"/>
                </a:lnTo>
                <a:cubicBezTo>
                  <a:pt x="632917" y="311293"/>
                  <a:pt x="621451" y="322759"/>
                  <a:pt x="607517" y="322759"/>
                </a:cubicBezTo>
                <a:lnTo>
                  <a:pt x="25400" y="322759"/>
                </a:lnTo>
                <a:cubicBezTo>
                  <a:pt x="11466" y="322759"/>
                  <a:pt x="0" y="311293"/>
                  <a:pt x="0" y="297359"/>
                </a:cubicBezTo>
                <a:lnTo>
                  <a:pt x="0" y="25400"/>
                </a:lnTo>
                <a:cubicBezTo>
                  <a:pt x="0" y="11466"/>
                  <a:pt x="11466" y="0"/>
                  <a:pt x="25400" y="0"/>
                </a:cubicBezTo>
                <a:close/>
              </a:path>
            </a:pathLst>
          </a:custGeom>
          <a:solidFill>
            <a:srgbClr val="1FA97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37"/>
          <p:cNvSpPr/>
          <p:nvPr/>
        </p:nvSpPr>
        <p:spPr>
          <a:xfrm>
            <a:off x="6805017" y="4804370"/>
            <a:ext cx="632916" cy="393700"/>
          </a:xfrm>
          <a:custGeom>
            <a:avLst/>
            <a:gdLst/>
            <a:ahLst/>
            <a:cxnLst/>
            <a:rect l="l" t="t" r="r" b="b"/>
            <a:pathLst>
              <a:path w="632916" h="393700">
                <a:moveTo>
                  <a:pt x="25400" y="0"/>
                </a:moveTo>
                <a:lnTo>
                  <a:pt x="607517" y="0"/>
                </a:lnTo>
                <a:cubicBezTo>
                  <a:pt x="621451" y="0"/>
                  <a:pt x="632917" y="11466"/>
                  <a:pt x="632917" y="25400"/>
                </a:cubicBezTo>
                <a:lnTo>
                  <a:pt x="632917" y="368300"/>
                </a:lnTo>
                <a:cubicBezTo>
                  <a:pt x="632917" y="382234"/>
                  <a:pt x="621451" y="393700"/>
                  <a:pt x="607517" y="393700"/>
                </a:cubicBezTo>
                <a:lnTo>
                  <a:pt x="25400" y="393700"/>
                </a:lnTo>
                <a:cubicBezTo>
                  <a:pt x="11466" y="393700"/>
                  <a:pt x="0" y="382234"/>
                  <a:pt x="0" y="368300"/>
                </a:cubicBezTo>
                <a:lnTo>
                  <a:pt x="0" y="25400"/>
                </a:lnTo>
                <a:cubicBezTo>
                  <a:pt x="0" y="11466"/>
                  <a:pt x="11466" y="0"/>
                  <a:pt x="25400" y="0"/>
                </a:cubicBezTo>
                <a:close/>
              </a:path>
            </a:pathLst>
          </a:custGeom>
          <a:solidFill>
            <a:srgbClr val="1FA97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CSS box-shadow background"/>
          <p:cNvSpPr/>
          <p:nvPr/>
        </p:nvSpPr>
        <p:spPr>
          <a:xfrm>
            <a:off x="8009434" y="1828800"/>
            <a:ext cx="3420566" cy="3686770"/>
          </a:xfrm>
          <a:custGeom>
            <a:avLst/>
            <a:gdLst/>
            <a:ahLst/>
            <a:cxnLst/>
            <a:rect l="l" t="t" r="r" b="b"/>
            <a:pathLst>
              <a:path w="3420566" h="3686770">
                <a:moveTo>
                  <a:pt x="165100" y="0"/>
                </a:moveTo>
                <a:lnTo>
                  <a:pt x="3255467" y="0"/>
                </a:lnTo>
                <a:cubicBezTo>
                  <a:pt x="3346038" y="0"/>
                  <a:pt x="3420567" y="74529"/>
                  <a:pt x="3420567" y="165100"/>
                </a:cubicBezTo>
                <a:lnTo>
                  <a:pt x="3420567" y="3521670"/>
                </a:lnTo>
                <a:cubicBezTo>
                  <a:pt x="3420567" y="3612241"/>
                  <a:pt x="3346038" y="3686770"/>
                  <a:pt x="3255467" y="3686770"/>
                </a:cubicBezTo>
                <a:lnTo>
                  <a:pt x="165100" y="3686770"/>
                </a:lnTo>
                <a:cubicBezTo>
                  <a:pt x="74529" y="3686770"/>
                  <a:pt x="0" y="3612241"/>
                  <a:pt x="0" y="352167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15900" dist="76200" dir="5400000" algn="bl" rotWithShape="0">
              <a:srgbClr val="1B2340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39"/>
          <p:cNvSpPr/>
          <p:nvPr/>
        </p:nvSpPr>
        <p:spPr>
          <a:xfrm>
            <a:off x="8009434" y="1828800"/>
            <a:ext cx="3420566" cy="3686770"/>
          </a:xfrm>
          <a:custGeom>
            <a:avLst/>
            <a:gdLst/>
            <a:ahLst/>
            <a:cxnLst/>
            <a:rect l="l" t="t" r="r" b="b"/>
            <a:pathLst>
              <a:path w="3420566" h="3686770">
                <a:moveTo>
                  <a:pt x="165100" y="0"/>
                </a:moveTo>
                <a:lnTo>
                  <a:pt x="3255467" y="0"/>
                </a:lnTo>
                <a:cubicBezTo>
                  <a:pt x="3346038" y="0"/>
                  <a:pt x="3420567" y="74529"/>
                  <a:pt x="3420567" y="165100"/>
                </a:cubicBezTo>
                <a:lnTo>
                  <a:pt x="3420567" y="3521670"/>
                </a:lnTo>
                <a:cubicBezTo>
                  <a:pt x="3420567" y="3612241"/>
                  <a:pt x="3346038" y="3686770"/>
                  <a:pt x="3255467" y="3686770"/>
                </a:cubicBezTo>
                <a:lnTo>
                  <a:pt x="165100" y="3686770"/>
                </a:lnTo>
                <a:cubicBezTo>
                  <a:pt x="74529" y="3686770"/>
                  <a:pt x="0" y="3612241"/>
                  <a:pt x="0" y="352167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0"/>
          <p:cNvSpPr/>
          <p:nvPr/>
        </p:nvSpPr>
        <p:spPr>
          <a:xfrm>
            <a:off x="8015784" y="1835150"/>
            <a:ext cx="3407866" cy="76200"/>
          </a:xfrm>
          <a:custGeom>
            <a:avLst/>
            <a:gdLst/>
            <a:ahLst/>
            <a:cxnLst/>
            <a:rect l="l" t="t" r="r" b="b"/>
            <a:pathLst>
              <a:path w="3407866" h="76200">
                <a:moveTo>
                  <a:pt x="76200" y="0"/>
                </a:moveTo>
                <a:lnTo>
                  <a:pt x="3331667" y="0"/>
                </a:lnTo>
                <a:cubicBezTo>
                  <a:pt x="3373469" y="0"/>
                  <a:pt x="3407867" y="34398"/>
                  <a:pt x="3407867" y="76200"/>
                </a:cubicBezTo>
                <a:lnTo>
                  <a:pt x="3407867" y="76200"/>
                </a:lnTo>
                <a:cubicBezTo>
                  <a:pt x="3407867" y="76200"/>
                  <a:pt x="3407867" y="76200"/>
                  <a:pt x="3407867" y="76200"/>
                </a:cubicBezTo>
                <a:lnTo>
                  <a:pt x="0" y="76200"/>
                </a:lnTo>
                <a:cubicBezTo>
                  <a:pt x="0" y="76200"/>
                  <a:pt x="0" y="76200"/>
                  <a:pt x="0" y="762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7B4BD6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1"/>
          <p:cNvSpPr/>
          <p:nvPr/>
        </p:nvSpPr>
        <p:spPr>
          <a:xfrm>
            <a:off x="8244384" y="212725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139700" y="0"/>
                </a:moveTo>
                <a:lnTo>
                  <a:pt x="342900" y="0"/>
                </a:lnTo>
                <a:cubicBezTo>
                  <a:pt x="419537" y="0"/>
                  <a:pt x="482600" y="63063"/>
                  <a:pt x="482600" y="139700"/>
                </a:cubicBezTo>
                <a:lnTo>
                  <a:pt x="482600" y="342900"/>
                </a:lnTo>
                <a:cubicBezTo>
                  <a:pt x="482600" y="419537"/>
                  <a:pt x="419537" y="482600"/>
                  <a:pt x="342900" y="482600"/>
                </a:cubicBezTo>
                <a:lnTo>
                  <a:pt x="139700" y="482600"/>
                </a:lnTo>
                <a:cubicBezTo>
                  <a:pt x="63063" y="482600"/>
                  <a:pt x="0" y="419537"/>
                  <a:pt x="0" y="342900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solidFill>
            <a:srgbClr val="EDE6F9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734" y="2260600"/>
            <a:ext cx="215900" cy="2159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1033224" y="2193925"/>
            <a:ext cx="1618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CAB7E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52" name="Text 43"/>
          <p:cNvSpPr/>
          <p:nvPr/>
        </p:nvSpPr>
        <p:spPr>
          <a:xfrm>
            <a:off x="8244384" y="2717800"/>
            <a:ext cx="2639318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บอร์ดจัดหมวดหมู่ / เรียง</a:t>
            </a:r>
            <a:endParaRPr lang="en-US" sz="2000" dirty="0"/>
          </a:p>
        </p:txBody>
      </p:sp>
      <p:sp>
        <p:nvSpPr>
          <p:cNvPr id="53" name="Text 44"/>
          <p:cNvSpPr/>
          <p:nvPr/>
        </p:nvSpPr>
        <p:spPr>
          <a:xfrm>
            <a:off x="8244384" y="3009900"/>
            <a:ext cx="624483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ลำดับ</a:t>
            </a:r>
            <a:endParaRPr lang="en-US" sz="2000" dirty="0"/>
          </a:p>
        </p:txBody>
      </p:sp>
      <p:sp>
        <p:nvSpPr>
          <p:cNvPr id="54" name="Text 45"/>
          <p:cNvSpPr/>
          <p:nvPr/>
        </p:nvSpPr>
        <p:spPr>
          <a:xfrm>
            <a:off x="8244384" y="3397250"/>
            <a:ext cx="11891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7B4B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ใช้ได้ทุกสาขาวิชา</a:t>
            </a:r>
            <a:endParaRPr lang="en-US" sz="1200" dirty="0"/>
          </a:p>
        </p:txBody>
      </p:sp>
      <p:sp>
        <p:nvSpPr>
          <p:cNvPr id="55" name="Text 46"/>
          <p:cNvSpPr/>
          <p:nvPr/>
        </p:nvSpPr>
        <p:spPr>
          <a:xfrm>
            <a:off x="8244384" y="3718520"/>
            <a:ext cx="28368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ลากวางจัดกลุ่มหรือเรียงขั้นตอน พร้อมระบบ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8244384" y="3947120"/>
            <a:ext cx="14064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ตรวจคำตอบอัตโนมัติ</a:t>
            </a:r>
            <a:endParaRPr lang="en-US" sz="1200" dirty="0"/>
          </a:p>
        </p:txBody>
      </p:sp>
      <p:sp>
        <p:nvSpPr>
          <p:cNvPr id="57" name="Shape 48"/>
          <p:cNvSpPr/>
          <p:nvPr/>
        </p:nvSpPr>
        <p:spPr>
          <a:xfrm>
            <a:off x="8244384" y="4321770"/>
            <a:ext cx="2950666" cy="996950"/>
          </a:xfrm>
          <a:custGeom>
            <a:avLst/>
            <a:gdLst/>
            <a:ahLst/>
            <a:cxnLst/>
            <a:rect l="l" t="t" r="r" b="b"/>
            <a:pathLst>
              <a:path w="2950666" h="996950">
                <a:moveTo>
                  <a:pt x="101600" y="0"/>
                </a:moveTo>
                <a:lnTo>
                  <a:pt x="2849067" y="0"/>
                </a:lnTo>
                <a:cubicBezTo>
                  <a:pt x="2904803" y="0"/>
                  <a:pt x="2950667" y="45864"/>
                  <a:pt x="2950667" y="101600"/>
                </a:cubicBezTo>
                <a:lnTo>
                  <a:pt x="2950667" y="895350"/>
                </a:lnTo>
                <a:cubicBezTo>
                  <a:pt x="2950667" y="951086"/>
                  <a:pt x="2904803" y="996950"/>
                  <a:pt x="2849067" y="996950"/>
                </a:cubicBezTo>
                <a:lnTo>
                  <a:pt x="101600" y="996950"/>
                </a:lnTo>
                <a:cubicBezTo>
                  <a:pt x="45864" y="996950"/>
                  <a:pt x="0" y="951086"/>
                  <a:pt x="0" y="89535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6F7FB"/>
          </a:solidFill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8377734" y="4448770"/>
            <a:ext cx="9134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ตัวอย่างหน้าจอ</a:t>
            </a:r>
            <a:endParaRPr lang="en-US" sz="1100" dirty="0"/>
          </a:p>
        </p:txBody>
      </p:sp>
      <p:sp>
        <p:nvSpPr>
          <p:cNvPr id="59" name="Shape 50"/>
          <p:cNvSpPr/>
          <p:nvPr/>
        </p:nvSpPr>
        <p:spPr>
          <a:xfrm>
            <a:off x="8377734" y="4740870"/>
            <a:ext cx="266700" cy="190500"/>
          </a:xfrm>
          <a:custGeom>
            <a:avLst/>
            <a:gdLst/>
            <a:ahLst/>
            <a:cxnLst/>
            <a:rect l="l" t="t" r="r" b="b"/>
            <a:pathLst>
              <a:path w="266700" h="190500">
                <a:moveTo>
                  <a:pt x="50800" y="0"/>
                </a:moveTo>
                <a:lnTo>
                  <a:pt x="215900" y="0"/>
                </a:lnTo>
                <a:cubicBezTo>
                  <a:pt x="243768" y="0"/>
                  <a:pt x="266700" y="22932"/>
                  <a:pt x="266700" y="50800"/>
                </a:cubicBezTo>
                <a:lnTo>
                  <a:pt x="266700" y="139700"/>
                </a:lnTo>
                <a:cubicBezTo>
                  <a:pt x="266700" y="167568"/>
                  <a:pt x="243768" y="190500"/>
                  <a:pt x="215900" y="190500"/>
                </a:cubicBezTo>
                <a:lnTo>
                  <a:pt x="50800" y="190500"/>
                </a:lnTo>
                <a:cubicBezTo>
                  <a:pt x="22932" y="190500"/>
                  <a:pt x="0" y="167568"/>
                  <a:pt x="0" y="139700"/>
                </a:cubicBezTo>
                <a:lnTo>
                  <a:pt x="0" y="50800"/>
                </a:lnTo>
                <a:cubicBezTo>
                  <a:pt x="0" y="22932"/>
                  <a:pt x="22932" y="0"/>
                  <a:pt x="50800" y="0"/>
                </a:cubicBezTo>
                <a:close/>
              </a:path>
            </a:pathLst>
          </a:custGeom>
          <a:solidFill>
            <a:srgbClr val="E7DF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634" y="4785320"/>
            <a:ext cx="101600" cy="101600"/>
          </a:xfrm>
          <a:prstGeom prst="rect">
            <a:avLst/>
          </a:prstGeom>
        </p:spPr>
      </p:pic>
      <p:sp>
        <p:nvSpPr>
          <p:cNvPr id="61" name="Shape 51"/>
          <p:cNvSpPr/>
          <p:nvPr/>
        </p:nvSpPr>
        <p:spPr>
          <a:xfrm>
            <a:off x="8707934" y="4740870"/>
            <a:ext cx="2353766" cy="190500"/>
          </a:xfrm>
          <a:custGeom>
            <a:avLst/>
            <a:gdLst/>
            <a:ahLst/>
            <a:cxnLst/>
            <a:rect l="l" t="t" r="r" b="b"/>
            <a:pathLst>
              <a:path w="2353766" h="190500">
                <a:moveTo>
                  <a:pt x="50800" y="0"/>
                </a:moveTo>
                <a:lnTo>
                  <a:pt x="2302967" y="0"/>
                </a:lnTo>
                <a:cubicBezTo>
                  <a:pt x="2330835" y="0"/>
                  <a:pt x="2353767" y="22932"/>
                  <a:pt x="2353767" y="50800"/>
                </a:cubicBezTo>
                <a:lnTo>
                  <a:pt x="2353767" y="139700"/>
                </a:lnTo>
                <a:cubicBezTo>
                  <a:pt x="2353767" y="167568"/>
                  <a:pt x="2330835" y="190500"/>
                  <a:pt x="2302967" y="190500"/>
                </a:cubicBezTo>
                <a:lnTo>
                  <a:pt x="50800" y="190500"/>
                </a:lnTo>
                <a:cubicBezTo>
                  <a:pt x="22932" y="190500"/>
                  <a:pt x="0" y="167568"/>
                  <a:pt x="0" y="139700"/>
                </a:cubicBezTo>
                <a:lnTo>
                  <a:pt x="0" y="50800"/>
                </a:lnTo>
                <a:cubicBezTo>
                  <a:pt x="0" y="22932"/>
                  <a:pt x="22932" y="0"/>
                  <a:pt x="50800" y="0"/>
                </a:cubicBezTo>
                <a:close/>
              </a:path>
            </a:pathLst>
          </a:custGeom>
          <a:solidFill>
            <a:srgbClr val="E7DFF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52"/>
          <p:cNvSpPr/>
          <p:nvPr/>
        </p:nvSpPr>
        <p:spPr>
          <a:xfrm>
            <a:off x="8377734" y="5007570"/>
            <a:ext cx="2353766" cy="190500"/>
          </a:xfrm>
          <a:custGeom>
            <a:avLst/>
            <a:gdLst/>
            <a:ahLst/>
            <a:cxnLst/>
            <a:rect l="l" t="t" r="r" b="b"/>
            <a:pathLst>
              <a:path w="2353766" h="190500">
                <a:moveTo>
                  <a:pt x="50800" y="0"/>
                </a:moveTo>
                <a:lnTo>
                  <a:pt x="2302967" y="0"/>
                </a:lnTo>
                <a:cubicBezTo>
                  <a:pt x="2330835" y="0"/>
                  <a:pt x="2353767" y="22932"/>
                  <a:pt x="2353767" y="50800"/>
                </a:cubicBezTo>
                <a:lnTo>
                  <a:pt x="2353767" y="139700"/>
                </a:lnTo>
                <a:cubicBezTo>
                  <a:pt x="2353767" y="167568"/>
                  <a:pt x="2330835" y="190500"/>
                  <a:pt x="2302967" y="190500"/>
                </a:cubicBezTo>
                <a:lnTo>
                  <a:pt x="50800" y="190500"/>
                </a:lnTo>
                <a:cubicBezTo>
                  <a:pt x="22932" y="190500"/>
                  <a:pt x="0" y="167568"/>
                  <a:pt x="0" y="139700"/>
                </a:cubicBezTo>
                <a:lnTo>
                  <a:pt x="0" y="50800"/>
                </a:lnTo>
                <a:cubicBezTo>
                  <a:pt x="0" y="22932"/>
                  <a:pt x="22932" y="0"/>
                  <a:pt x="50800" y="0"/>
                </a:cubicBezTo>
                <a:close/>
              </a:path>
            </a:pathLst>
          </a:custGeom>
          <a:solidFill>
            <a:srgbClr val="D7C9F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53"/>
          <p:cNvSpPr/>
          <p:nvPr/>
        </p:nvSpPr>
        <p:spPr>
          <a:xfrm>
            <a:off x="10795000" y="5007570"/>
            <a:ext cx="266700" cy="190500"/>
          </a:xfrm>
          <a:custGeom>
            <a:avLst/>
            <a:gdLst/>
            <a:ahLst/>
            <a:cxnLst/>
            <a:rect l="l" t="t" r="r" b="b"/>
            <a:pathLst>
              <a:path w="266700" h="190500">
                <a:moveTo>
                  <a:pt x="50800" y="0"/>
                </a:moveTo>
                <a:lnTo>
                  <a:pt x="215900" y="0"/>
                </a:lnTo>
                <a:cubicBezTo>
                  <a:pt x="243768" y="0"/>
                  <a:pt x="266700" y="22932"/>
                  <a:pt x="266700" y="50800"/>
                </a:cubicBezTo>
                <a:lnTo>
                  <a:pt x="266700" y="139700"/>
                </a:lnTo>
                <a:cubicBezTo>
                  <a:pt x="266700" y="167568"/>
                  <a:pt x="243768" y="190500"/>
                  <a:pt x="215900" y="190500"/>
                </a:cubicBezTo>
                <a:lnTo>
                  <a:pt x="50800" y="190500"/>
                </a:lnTo>
                <a:cubicBezTo>
                  <a:pt x="22932" y="190500"/>
                  <a:pt x="0" y="167568"/>
                  <a:pt x="0" y="139700"/>
                </a:cubicBezTo>
                <a:lnTo>
                  <a:pt x="0" y="50800"/>
                </a:lnTo>
                <a:cubicBezTo>
                  <a:pt x="0" y="22932"/>
                  <a:pt x="22932" y="0"/>
                  <a:pt x="50800" y="0"/>
                </a:cubicBezTo>
                <a:close/>
              </a:path>
            </a:pathLst>
          </a:custGeom>
          <a:solidFill>
            <a:srgbClr val="7B4BD6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3900" y="5052020"/>
            <a:ext cx="101600" cy="101600"/>
          </a:xfrm>
          <a:prstGeom prst="rect">
            <a:avLst/>
          </a:prstGeom>
        </p:spPr>
      </p:pic>
      <p:sp>
        <p:nvSpPr>
          <p:cNvPr id="65" name="Shape 54"/>
          <p:cNvSpPr/>
          <p:nvPr/>
        </p:nvSpPr>
        <p:spPr>
          <a:xfrm>
            <a:off x="4753967" y="4651970"/>
            <a:ext cx="2683966" cy="88900"/>
          </a:xfrm>
          <a:custGeom>
            <a:avLst/>
            <a:gdLst/>
            <a:ahLst/>
            <a:cxnLst/>
            <a:rect l="l" t="t" r="r" b="b"/>
            <a:pathLst>
              <a:path w="2683966" h="88900">
                <a:moveTo>
                  <a:pt x="44450" y="0"/>
                </a:moveTo>
                <a:lnTo>
                  <a:pt x="2639517" y="0"/>
                </a:lnTo>
                <a:cubicBezTo>
                  <a:pt x="2663901" y="0"/>
                  <a:pt x="2683967" y="20065"/>
                  <a:pt x="2683967" y="44450"/>
                </a:cubicBezTo>
                <a:lnTo>
                  <a:pt x="2683967" y="44450"/>
                </a:lnTo>
                <a:cubicBezTo>
                  <a:pt x="2683967" y="68835"/>
                  <a:pt x="2663901" y="88900"/>
                  <a:pt x="2639517" y="88900"/>
                </a:cubicBezTo>
                <a:lnTo>
                  <a:pt x="44450" y="88900"/>
                </a:lnTo>
                <a:cubicBezTo>
                  <a:pt x="20065" y="88900"/>
                  <a:pt x="0" y="68835"/>
                  <a:pt x="0" y="44450"/>
                </a:cubicBezTo>
                <a:lnTo>
                  <a:pt x="0" y="44450"/>
                </a:lnTo>
                <a:cubicBezTo>
                  <a:pt x="0" y="20065"/>
                  <a:pt x="20065" y="0"/>
                  <a:pt x="44450" y="0"/>
                </a:cubicBezTo>
                <a:close/>
              </a:path>
            </a:pathLst>
          </a:custGeom>
          <a:solidFill>
            <a:srgbClr val="D9DEEE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3837" y="4613870"/>
            <a:ext cx="165100" cy="165100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762000" y="6356350"/>
            <a:ext cx="54959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kern="0" spc="12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เคล็ดลับ: ยิ่งอธิบายกติกาและหน้าตาชัดเจน Gemini ยิ่งสร้างได้ตรงใจตั้งแต่รอบแรก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89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482600"/>
            <a:ext cx="84722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730970" y="482600"/>
            <a:ext cx="648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17700" y="482600"/>
            <a:ext cx="92531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ลงมือปฏิบัติ</a:t>
            </a:r>
            <a:endParaRPr lang="en-US" sz="1200" dirty="0"/>
          </a:p>
        </p:txBody>
      </p:sp>
      <p:grpSp>
        <p:nvGrpSpPr>
          <p:cNvPr id="5" name="ma"/>
          <p:cNvGrpSpPr/>
          <p:nvPr/>
        </p:nvGrpSpPr>
        <p:grpSpPr>
          <a:xfrm>
            <a:off x="762000" y="774700"/>
            <a:ext cx="9194502" cy="552450"/>
            <a:chOff x="762000" y="774700"/>
            <a:chExt cx="9194502" cy="552450"/>
          </a:xfrm>
        </p:grpSpPr>
        <p:sp>
          <p:nvSpPr>
            <p:cNvPr id="6" name="Text 0"/>
            <p:cNvSpPr/>
            <p:nvPr/>
          </p:nvSpPr>
          <p:spPr>
            <a:xfrm>
              <a:off x="762000" y="774700"/>
              <a:ext cx="2852142" cy="552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i="0" dirty="0">
                  <a:solidFill>
                    <a:srgbClr val="1B2340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Workshop 3 —</a:t>
              </a:r>
              <a:endParaRPr lang="en-US" sz="3200" dirty="0"/>
            </a:p>
          </p:txBody>
        </p:sp>
        <p:sp>
          <p:nvSpPr>
            <p:cNvPr id="7" name="Text 1"/>
            <p:cNvSpPr/>
            <p:nvPr/>
          </p:nvSpPr>
          <p:spPr>
            <a:xfrm>
              <a:off x="3715742" y="774700"/>
              <a:ext cx="6240760" cy="552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i="0" dirty="0">
                  <a:solidFill>
                    <a:srgbClr val="4B62C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Build Your Interactive Mini-App</a:t>
              </a:r>
              <a:endParaRPr lang="en-US" sz="3200" dirty="0"/>
            </a:p>
          </p:txBody>
        </p:sp>
      </p:grp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50" y="1968500"/>
            <a:ext cx="25400" cy="4282083"/>
          </a:xfrm>
          <a:prstGeom prst="rect">
            <a:avLst/>
          </a:prstGeom>
        </p:spPr>
      </p:pic>
      <p:sp>
        <p:nvSpPr>
          <p:cNvPr id="9" name="CSS box-shadow background"/>
          <p:cNvSpPr/>
          <p:nvPr/>
        </p:nvSpPr>
        <p:spPr>
          <a:xfrm>
            <a:off x="1422400" y="1816100"/>
            <a:ext cx="5054600" cy="1401961"/>
          </a:xfrm>
          <a:custGeom>
            <a:avLst/>
            <a:gdLst/>
            <a:ahLst/>
            <a:cxnLst/>
            <a:rect l="l" t="t" r="r" b="b"/>
            <a:pathLst>
              <a:path w="5054600" h="1401961">
                <a:moveTo>
                  <a:pt x="139700" y="0"/>
                </a:moveTo>
                <a:lnTo>
                  <a:pt x="4914900" y="0"/>
                </a:lnTo>
                <a:cubicBezTo>
                  <a:pt x="4991537" y="0"/>
                  <a:pt x="5054600" y="63063"/>
                  <a:pt x="5054600" y="139700"/>
                </a:cubicBezTo>
                <a:lnTo>
                  <a:pt x="5054600" y="1262261"/>
                </a:lnTo>
                <a:cubicBezTo>
                  <a:pt x="5054600" y="1338898"/>
                  <a:pt x="4991537" y="1401961"/>
                  <a:pt x="4914900" y="1401961"/>
                </a:cubicBezTo>
                <a:lnTo>
                  <a:pt x="139700" y="1401961"/>
                </a:lnTo>
                <a:cubicBezTo>
                  <a:pt x="63063" y="1401961"/>
                  <a:pt x="0" y="1338898"/>
                  <a:pt x="0" y="1262261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77800" dist="63500" dir="5400000" algn="bl" rotWithShape="0">
              <a:srgbClr val="1B2340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4"/>
          <p:cNvSpPr/>
          <p:nvPr/>
        </p:nvSpPr>
        <p:spPr>
          <a:xfrm>
            <a:off x="1422400" y="1816100"/>
            <a:ext cx="5054600" cy="1401961"/>
          </a:xfrm>
          <a:custGeom>
            <a:avLst/>
            <a:gdLst/>
            <a:ahLst/>
            <a:cxnLst/>
            <a:rect l="l" t="t" r="r" b="b"/>
            <a:pathLst>
              <a:path w="5054600" h="1401961">
                <a:moveTo>
                  <a:pt x="139700" y="0"/>
                </a:moveTo>
                <a:lnTo>
                  <a:pt x="4914900" y="0"/>
                </a:lnTo>
                <a:cubicBezTo>
                  <a:pt x="4991537" y="0"/>
                  <a:pt x="5054600" y="63063"/>
                  <a:pt x="5054600" y="139700"/>
                </a:cubicBezTo>
                <a:lnTo>
                  <a:pt x="5054600" y="1262261"/>
                </a:lnTo>
                <a:cubicBezTo>
                  <a:pt x="5054600" y="1338898"/>
                  <a:pt x="4991537" y="1401961"/>
                  <a:pt x="4914900" y="1401961"/>
                </a:cubicBezTo>
                <a:lnTo>
                  <a:pt x="139700" y="1401961"/>
                </a:lnTo>
                <a:cubicBezTo>
                  <a:pt x="63063" y="1401961"/>
                  <a:pt x="0" y="1338898"/>
                  <a:pt x="0" y="1262261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1950" y="2101850"/>
            <a:ext cx="177800" cy="177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876425" y="2006600"/>
            <a:ext cx="3873103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เปิดโหมด Canvas แล้วรัน Prompt</a:t>
            </a:r>
            <a:endParaRPr lang="en-US" sz="2000" dirty="0"/>
          </a:p>
        </p:txBody>
      </p:sp>
      <p:sp>
        <p:nvSpPr>
          <p:cNvPr id="13" name="Text 6"/>
          <p:cNvSpPr/>
          <p:nvPr/>
        </p:nvSpPr>
        <p:spPr>
          <a:xfrm>
            <a:off x="1631950" y="2463800"/>
            <a:ext cx="459878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วาง prompt สร้างเว็บแอปประจำวิชาของคุณ แล้วกด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1631950" y="2758380"/>
            <a:ext cx="31253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เริ่ม</a:t>
            </a:r>
            <a:endParaRPr lang="en-US" sz="1600" dirty="0"/>
          </a:p>
        </p:txBody>
      </p:sp>
      <p:sp>
        <p:nvSpPr>
          <p:cNvPr id="15" name="CSS box-shadow background"/>
          <p:cNvSpPr/>
          <p:nvPr/>
        </p:nvSpPr>
        <p:spPr>
          <a:xfrm>
            <a:off x="771525" y="1825625"/>
            <a:ext cx="450850" cy="450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3E8F"/>
            </a:solidFill>
            <a:prstDash val="solid"/>
          </a:ln>
          <a:effectLst>
            <a:outerShdw blurRad="127000" dist="50800" dir="5400000" algn="bl" rotWithShape="0">
              <a:srgbClr val="2A3E8F">
                <a:alpha val="1411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938808" y="1914525"/>
            <a:ext cx="11628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CSS box-shadow background"/>
          <p:cNvSpPr/>
          <p:nvPr/>
        </p:nvSpPr>
        <p:spPr>
          <a:xfrm>
            <a:off x="1422400" y="3408561"/>
            <a:ext cx="5054600" cy="1401961"/>
          </a:xfrm>
          <a:custGeom>
            <a:avLst/>
            <a:gdLst/>
            <a:ahLst/>
            <a:cxnLst/>
            <a:rect l="l" t="t" r="r" b="b"/>
            <a:pathLst>
              <a:path w="5054600" h="1401961">
                <a:moveTo>
                  <a:pt x="139700" y="0"/>
                </a:moveTo>
                <a:lnTo>
                  <a:pt x="4914900" y="0"/>
                </a:lnTo>
                <a:cubicBezTo>
                  <a:pt x="4991537" y="0"/>
                  <a:pt x="5054600" y="63063"/>
                  <a:pt x="5054600" y="139700"/>
                </a:cubicBezTo>
                <a:lnTo>
                  <a:pt x="5054600" y="1262261"/>
                </a:lnTo>
                <a:cubicBezTo>
                  <a:pt x="5054600" y="1338898"/>
                  <a:pt x="4991537" y="1401961"/>
                  <a:pt x="4914900" y="1401961"/>
                </a:cubicBezTo>
                <a:lnTo>
                  <a:pt x="139700" y="1401961"/>
                </a:lnTo>
                <a:cubicBezTo>
                  <a:pt x="63063" y="1401961"/>
                  <a:pt x="0" y="1338898"/>
                  <a:pt x="0" y="1262261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77800" dist="63500" dir="5400000" algn="bl" rotWithShape="0">
              <a:srgbClr val="1B2340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1"/>
          <p:cNvSpPr/>
          <p:nvPr/>
        </p:nvSpPr>
        <p:spPr>
          <a:xfrm>
            <a:off x="1422400" y="3408561"/>
            <a:ext cx="5054600" cy="1401961"/>
          </a:xfrm>
          <a:custGeom>
            <a:avLst/>
            <a:gdLst/>
            <a:ahLst/>
            <a:cxnLst/>
            <a:rect l="l" t="t" r="r" b="b"/>
            <a:pathLst>
              <a:path w="5054600" h="1401961">
                <a:moveTo>
                  <a:pt x="139700" y="0"/>
                </a:moveTo>
                <a:lnTo>
                  <a:pt x="4914900" y="0"/>
                </a:lnTo>
                <a:cubicBezTo>
                  <a:pt x="4991537" y="0"/>
                  <a:pt x="5054600" y="63063"/>
                  <a:pt x="5054600" y="139700"/>
                </a:cubicBezTo>
                <a:lnTo>
                  <a:pt x="5054600" y="1262261"/>
                </a:lnTo>
                <a:cubicBezTo>
                  <a:pt x="5054600" y="1338898"/>
                  <a:pt x="4991537" y="1401961"/>
                  <a:pt x="4914900" y="1401961"/>
                </a:cubicBezTo>
                <a:lnTo>
                  <a:pt x="139700" y="1401961"/>
                </a:lnTo>
                <a:cubicBezTo>
                  <a:pt x="63063" y="1401961"/>
                  <a:pt x="0" y="1338898"/>
                  <a:pt x="0" y="1262261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950" y="3694311"/>
            <a:ext cx="177800" cy="1778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854200" y="3599061"/>
            <a:ext cx="355520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กดเล่น (Preview) และทดลองใช้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1631950" y="4056261"/>
            <a:ext cx="408880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ลองกดตัวเลือก ตรวจคำตอบ และเช็คว่าคะแนน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1631950" y="4350841"/>
            <a:ext cx="119955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ทำงานถูกต้อง</a:t>
            </a:r>
            <a:endParaRPr lang="en-US" sz="1600" dirty="0"/>
          </a:p>
        </p:txBody>
      </p:sp>
      <p:sp>
        <p:nvSpPr>
          <p:cNvPr id="23" name="CSS box-shadow background"/>
          <p:cNvSpPr/>
          <p:nvPr/>
        </p:nvSpPr>
        <p:spPr>
          <a:xfrm>
            <a:off x="771525" y="3418086"/>
            <a:ext cx="450850" cy="450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3E8F"/>
            </a:solidFill>
            <a:prstDash val="solid"/>
          </a:ln>
          <a:effectLst>
            <a:outerShdw blurRad="127000" dist="50800" dir="5400000" algn="bl" rotWithShape="0">
              <a:srgbClr val="2A3E8F">
                <a:alpha val="1411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938808" y="3506986"/>
            <a:ext cx="11628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CSS box-shadow background"/>
          <p:cNvSpPr/>
          <p:nvPr/>
        </p:nvSpPr>
        <p:spPr>
          <a:xfrm>
            <a:off x="1422400" y="5001022"/>
            <a:ext cx="5054600" cy="1401961"/>
          </a:xfrm>
          <a:custGeom>
            <a:avLst/>
            <a:gdLst/>
            <a:ahLst/>
            <a:cxnLst/>
            <a:rect l="l" t="t" r="r" b="b"/>
            <a:pathLst>
              <a:path w="5054600" h="1401961">
                <a:moveTo>
                  <a:pt x="139700" y="0"/>
                </a:moveTo>
                <a:lnTo>
                  <a:pt x="4914900" y="0"/>
                </a:lnTo>
                <a:cubicBezTo>
                  <a:pt x="4991537" y="0"/>
                  <a:pt x="5054600" y="63063"/>
                  <a:pt x="5054600" y="139700"/>
                </a:cubicBezTo>
                <a:lnTo>
                  <a:pt x="5054600" y="1262261"/>
                </a:lnTo>
                <a:cubicBezTo>
                  <a:pt x="5054600" y="1338898"/>
                  <a:pt x="4991537" y="1401961"/>
                  <a:pt x="4914900" y="1401961"/>
                </a:cubicBezTo>
                <a:lnTo>
                  <a:pt x="139700" y="1401961"/>
                </a:lnTo>
                <a:cubicBezTo>
                  <a:pt x="63063" y="1401961"/>
                  <a:pt x="0" y="1338898"/>
                  <a:pt x="0" y="1262261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77800" dist="63500" dir="5400000" algn="bl" rotWithShape="0">
              <a:srgbClr val="1B2340">
                <a:alpha val="5098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18"/>
          <p:cNvSpPr/>
          <p:nvPr/>
        </p:nvSpPr>
        <p:spPr>
          <a:xfrm>
            <a:off x="1422400" y="5001022"/>
            <a:ext cx="5054600" cy="1401961"/>
          </a:xfrm>
          <a:custGeom>
            <a:avLst/>
            <a:gdLst/>
            <a:ahLst/>
            <a:cxnLst/>
            <a:rect l="l" t="t" r="r" b="b"/>
            <a:pathLst>
              <a:path w="5054600" h="1401961">
                <a:moveTo>
                  <a:pt x="139700" y="0"/>
                </a:moveTo>
                <a:lnTo>
                  <a:pt x="4914900" y="0"/>
                </a:lnTo>
                <a:cubicBezTo>
                  <a:pt x="4991537" y="0"/>
                  <a:pt x="5054600" y="63063"/>
                  <a:pt x="5054600" y="139700"/>
                </a:cubicBezTo>
                <a:lnTo>
                  <a:pt x="5054600" y="1262261"/>
                </a:lnTo>
                <a:cubicBezTo>
                  <a:pt x="5054600" y="1338898"/>
                  <a:pt x="4991537" y="1401961"/>
                  <a:pt x="4914900" y="1401961"/>
                </a:cubicBezTo>
                <a:lnTo>
                  <a:pt x="139700" y="1401961"/>
                </a:lnTo>
                <a:cubicBezTo>
                  <a:pt x="63063" y="1401961"/>
                  <a:pt x="0" y="1338898"/>
                  <a:pt x="0" y="1262261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1950" y="5286772"/>
            <a:ext cx="177800" cy="1778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898650" y="5191522"/>
            <a:ext cx="372695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ปรับแก้ดีไซน์ด้วยภาษาพูดธรรมดา</a:t>
            </a:r>
            <a:endParaRPr lang="en-US" sz="2000" dirty="0"/>
          </a:p>
        </p:txBody>
      </p:sp>
      <p:sp>
        <p:nvSpPr>
          <p:cNvPr id="29" name="Text 20"/>
          <p:cNvSpPr/>
          <p:nvPr/>
        </p:nvSpPr>
        <p:spPr>
          <a:xfrm>
            <a:off x="1631950" y="5648722"/>
            <a:ext cx="4075708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เช่น “เปลี่ยนปุ่มเป็นสีน้ำเงิน ตัวใหญ่ขึ้น และเพิ่ม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1631950" y="5943302"/>
            <a:ext cx="1744365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ข้อความให้กำลังใจ”</a:t>
            </a:r>
            <a:endParaRPr lang="en-US" sz="1600" dirty="0"/>
          </a:p>
        </p:txBody>
      </p:sp>
      <p:sp>
        <p:nvSpPr>
          <p:cNvPr id="31" name="CSS box-shadow background"/>
          <p:cNvSpPr/>
          <p:nvPr/>
        </p:nvSpPr>
        <p:spPr>
          <a:xfrm>
            <a:off x="771525" y="5010547"/>
            <a:ext cx="450850" cy="450850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5A623"/>
            </a:solidFill>
            <a:prstDash val="solid"/>
          </a:ln>
          <a:effectLst>
            <a:outerShdw blurRad="127000" dist="50800" dir="5400000" algn="bl" rotWithShape="0">
              <a:srgbClr val="F5A623">
                <a:alpha val="27843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938808" y="5099447"/>
            <a:ext cx="11628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pic>
        <p:nvPicPr>
          <p:cNvPr id="33" name="CSS box-shadow raster outer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925" y="1711325"/>
            <a:ext cx="5010150" cy="1981200"/>
          </a:xfrm>
          <a:prstGeom prst="rect">
            <a:avLst/>
          </a:prstGeom>
        </p:spPr>
      </p:pic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1816100"/>
            <a:ext cx="4572000" cy="1543050"/>
          </a:xfrm>
          <a:prstGeom prst="rect">
            <a:avLst/>
          </a:prstGeom>
        </p:spPr>
      </p:pic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1200" y="2047875"/>
            <a:ext cx="185738" cy="1651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335837" y="2019300"/>
            <a:ext cx="13291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72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ตัวอย่าง PROMPT</a:t>
            </a:r>
            <a:endParaRPr lang="en-US" sz="1200" dirty="0"/>
          </a:p>
        </p:txBody>
      </p:sp>
      <p:grpSp>
        <p:nvGrpSpPr>
          <p:cNvPr id="37" name="ma"/>
          <p:cNvGrpSpPr/>
          <p:nvPr/>
        </p:nvGrpSpPr>
        <p:grpSpPr>
          <a:xfrm>
            <a:off x="7061200" y="2381250"/>
            <a:ext cx="4056062" cy="774700"/>
            <a:chOff x="7061200" y="2381250"/>
            <a:chExt cx="4056062" cy="774700"/>
          </a:xfrm>
        </p:grpSpPr>
        <p:sp>
          <p:nvSpPr>
            <p:cNvPr id="38" name="Text 0"/>
            <p:cNvSpPr/>
            <p:nvPr/>
          </p:nvSpPr>
          <p:spPr>
            <a:xfrm>
              <a:off x="7061200" y="2381250"/>
              <a:ext cx="1945184" cy="241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0" i="0" dirty="0">
                  <a:solidFill>
                    <a:srgbClr val="FFFFFF">
                      <a:alpha val="94000"/>
                    </a:srgbClr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“สร้างเกมสื่อการสอนเรื่อง</a:t>
              </a:r>
              <a:endParaRPr lang="en-US" sz="1400" dirty="0"/>
            </a:p>
          </p:txBody>
        </p:sp>
        <p:sp>
          <p:nvSpPr>
            <p:cNvPr id="39" name="Text 1"/>
            <p:cNvSpPr/>
            <p:nvPr/>
          </p:nvSpPr>
          <p:spPr>
            <a:xfrm>
              <a:off x="10730012" y="2381250"/>
              <a:ext cx="352127" cy="241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0" i="0" dirty="0">
                  <a:solidFill>
                    <a:srgbClr val="FFFFFF">
                      <a:alpha val="94000"/>
                    </a:srgbClr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ให้ 5</a:t>
              </a:r>
              <a:endParaRPr lang="en-US" sz="1400" dirty="0"/>
            </a:p>
          </p:txBody>
        </p:sp>
        <p:sp>
          <p:nvSpPr>
            <p:cNvPr id="40" name="Text 2"/>
            <p:cNvSpPr/>
            <p:nvPr/>
          </p:nvSpPr>
          <p:spPr>
            <a:xfrm>
              <a:off x="7061200" y="2647950"/>
              <a:ext cx="4056062" cy="241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0" i="0" dirty="0">
                  <a:solidFill>
                    <a:srgbClr val="FFFFFF">
                      <a:alpha val="94000"/>
                    </a:srgbClr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สถานการณ์ แต่ละข้อมี 3 ตัวเลือก มีคะแนนสะสม และ</a:t>
              </a:r>
              <a:endParaRPr lang="en-US" sz="1400" dirty="0"/>
            </a:p>
          </p:txBody>
        </p:sp>
        <p:sp>
          <p:nvSpPr>
            <p:cNvPr id="41" name="Text 3"/>
            <p:cNvSpPr/>
            <p:nvPr/>
          </p:nvSpPr>
          <p:spPr>
            <a:xfrm>
              <a:off x="7061200" y="2914650"/>
              <a:ext cx="1646535" cy="241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0" i="0" dirty="0">
                  <a:solidFill>
                    <a:srgbClr val="FFFFFF">
                      <a:alpha val="94000"/>
                    </a:srgbClr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เฉลยพร้อมคำอธิบาย”</a:t>
              </a:r>
              <a:endParaRPr lang="en-US" sz="1400" dirty="0"/>
            </a:p>
          </p:txBody>
        </p:sp>
        <p:sp>
          <p:nvSpPr>
            <p:cNvPr id="42" name="Text 4"/>
            <p:cNvSpPr/>
            <p:nvPr/>
          </p:nvSpPr>
          <p:spPr>
            <a:xfrm>
              <a:off x="9006384" y="2381250"/>
              <a:ext cx="1677491" cy="241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i="0" dirty="0">
                  <a:solidFill>
                    <a:srgbClr val="F5A62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จริยธรรมในการใช้ AI</a:t>
              </a:r>
              <a:endParaRPr lang="en-US" sz="1400" dirty="0"/>
            </a:p>
          </p:txBody>
        </p:sp>
      </p:grpSp>
      <p:pic>
        <p:nvPicPr>
          <p:cNvPr id="43" name="CSS box-shadow raster outer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6875" y="3502025"/>
            <a:ext cx="4794250" cy="2241550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6858000" y="3536950"/>
            <a:ext cx="4572000" cy="2019300"/>
          </a:xfrm>
          <a:custGeom>
            <a:avLst/>
            <a:gdLst/>
            <a:ahLst/>
            <a:cxnLst/>
            <a:rect l="l" t="t" r="r" b="b"/>
            <a:pathLst>
              <a:path w="4572000" h="2019300">
                <a:moveTo>
                  <a:pt x="152400" y="0"/>
                </a:moveTo>
                <a:lnTo>
                  <a:pt x="4419600" y="0"/>
                </a:lnTo>
                <a:cubicBezTo>
                  <a:pt x="4503204" y="0"/>
                  <a:pt x="4572000" y="68796"/>
                  <a:pt x="4572000" y="152400"/>
                </a:cubicBezTo>
                <a:lnTo>
                  <a:pt x="4572000" y="1866900"/>
                </a:lnTo>
                <a:cubicBezTo>
                  <a:pt x="4572000" y="1950504"/>
                  <a:pt x="4503204" y="2019300"/>
                  <a:pt x="4419600" y="2019300"/>
                </a:cubicBezTo>
                <a:lnTo>
                  <a:pt x="152400" y="2019300"/>
                </a:lnTo>
                <a:cubicBezTo>
                  <a:pt x="68796" y="2019300"/>
                  <a:pt x="0" y="1950504"/>
                  <a:pt x="0" y="1866900"/>
                </a:cubicBezTo>
                <a:lnTo>
                  <a:pt x="0" y="152400"/>
                </a:lnTo>
                <a:cubicBezTo>
                  <a:pt x="0" y="68796"/>
                  <a:pt x="68796" y="0"/>
                  <a:pt x="152400" y="0"/>
                </a:cubicBezTo>
                <a:close/>
              </a:path>
            </a:pathLst>
          </a:custGeom>
          <a:noFill/>
          <a:ln w="6350">
            <a:solidFill>
              <a:srgbClr val="D9DEEE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26"/>
          <p:cNvSpPr/>
          <p:nvPr/>
        </p:nvSpPr>
        <p:spPr>
          <a:xfrm>
            <a:off x="6864350" y="3543300"/>
            <a:ext cx="4559300" cy="2006600"/>
          </a:xfrm>
          <a:custGeom>
            <a:avLst/>
            <a:gdLst/>
            <a:ahLst/>
            <a:cxnLst/>
            <a:rect l="l" t="t" r="r" b="b"/>
            <a:pathLst>
              <a:path w="4559300" h="2006600">
                <a:moveTo>
                  <a:pt x="152400" y="0"/>
                </a:moveTo>
                <a:lnTo>
                  <a:pt x="4406900" y="0"/>
                </a:lnTo>
                <a:cubicBezTo>
                  <a:pt x="4490504" y="0"/>
                  <a:pt x="4559300" y="68796"/>
                  <a:pt x="4559300" y="152400"/>
                </a:cubicBezTo>
                <a:lnTo>
                  <a:pt x="4559300" y="1854200"/>
                </a:lnTo>
                <a:cubicBezTo>
                  <a:pt x="4559300" y="1937804"/>
                  <a:pt x="4490504" y="2006600"/>
                  <a:pt x="4406900" y="2006600"/>
                </a:cubicBezTo>
                <a:lnTo>
                  <a:pt x="152400" y="2006600"/>
                </a:lnTo>
                <a:cubicBezTo>
                  <a:pt x="68796" y="2006600"/>
                  <a:pt x="0" y="1937804"/>
                  <a:pt x="0" y="1854200"/>
                </a:cubicBezTo>
                <a:lnTo>
                  <a:pt x="0" y="152400"/>
                </a:lnTo>
                <a:cubicBezTo>
                  <a:pt x="0" y="68796"/>
                  <a:pt x="68796" y="0"/>
                  <a:pt x="152400" y="0"/>
                </a:cubicBezTo>
                <a:close/>
              </a:path>
            </a:pathLst>
          </a:custGeom>
          <a:blipFill rotWithShape="1">
            <a:blip r:embed="rId12"/>
            <a:stretch>
              <a:fillRect/>
            </a:stretch>
          </a:blip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27"/>
          <p:cNvSpPr/>
          <p:nvPr/>
        </p:nvSpPr>
        <p:spPr>
          <a:xfrm>
            <a:off x="762000" y="6356350"/>
            <a:ext cx="526742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kern="0" spc="12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เป้าหมาย Workshop: อาจารย์ทุกคนได้ mini-app 1 ชิ้นที่ใช้กับวิชาตัวเองได้จริง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3302000" y="2070100"/>
            <a:ext cx="2794000" cy="952500"/>
          </a:xfrm>
          <a:custGeom>
            <a:avLst/>
            <a:gdLst/>
            <a:ahLst/>
            <a:cxnLst/>
            <a:rect l="l" t="t" r="r" b="b"/>
            <a:pathLst>
              <a:path w="2794000" h="952500">
                <a:moveTo>
                  <a:pt x="2794000" y="0"/>
                </a:moveTo>
                <a:lnTo>
                  <a:pt x="2794000" y="381000"/>
                </a:lnTo>
                <a:quadBezTo>
                  <a:pt x="2794000" y="533400"/>
                  <a:pt x="2641600" y="533400"/>
                </a:quadBezTo>
                <a:lnTo>
                  <a:pt x="152400" y="533400"/>
                </a:lnTo>
                <a:quadBezTo>
                  <a:pt x="0" y="533400"/>
                  <a:pt x="0" y="685800"/>
                </a:quadBezTo>
                <a:lnTo>
                  <a:pt x="0" y="95250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FA97A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Shape 1"/>
          <p:cNvSpPr/>
          <p:nvPr/>
        </p:nvSpPr>
        <p:spPr>
          <a:xfrm>
            <a:off x="6096000" y="2070100"/>
            <a:ext cx="2794000" cy="952500"/>
          </a:xfrm>
          <a:custGeom>
            <a:avLst/>
            <a:gdLst/>
            <a:ahLst/>
            <a:cxnLst/>
            <a:rect l="l" t="t" r="r" b="b"/>
            <a:pathLst>
              <a:path w="2794000" h="952500">
                <a:moveTo>
                  <a:pt x="0" y="0"/>
                </a:moveTo>
                <a:lnTo>
                  <a:pt x="0" y="381000"/>
                </a:lnTo>
                <a:quadBezTo>
                  <a:pt x="0" y="533400"/>
                  <a:pt x="152400" y="533400"/>
                </a:quadBezTo>
                <a:lnTo>
                  <a:pt x="2641600" y="533400"/>
                </a:lnTo>
                <a:quadBezTo>
                  <a:pt x="2794000" y="533400"/>
                  <a:pt x="2794000" y="685800"/>
                </a:quadBezTo>
                <a:lnTo>
                  <a:pt x="2794000" y="95250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4B62C8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89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762000" y="482600"/>
            <a:ext cx="84722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สไลด์ที่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0970" y="482600"/>
            <a:ext cx="6488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17700" y="482600"/>
            <a:ext cx="10109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2A3E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นำขึ้นใช้งาน</a:t>
            </a:r>
            <a:endParaRPr lang="en-US" sz="1200" dirty="0"/>
          </a:p>
        </p:txBody>
      </p:sp>
      <p:grpSp>
        <p:nvGrpSpPr>
          <p:cNvPr id="7" name="ma"/>
          <p:cNvGrpSpPr/>
          <p:nvPr/>
        </p:nvGrpSpPr>
        <p:grpSpPr>
          <a:xfrm>
            <a:off x="762000" y="774700"/>
            <a:ext cx="6245523" cy="552450"/>
            <a:chOff x="762000" y="774700"/>
            <a:chExt cx="6245523" cy="552450"/>
          </a:xfrm>
        </p:grpSpPr>
        <p:sp>
          <p:nvSpPr>
            <p:cNvPr id="8" name="Text 0"/>
            <p:cNvSpPr/>
            <p:nvPr/>
          </p:nvSpPr>
          <p:spPr>
            <a:xfrm>
              <a:off x="762000" y="774700"/>
              <a:ext cx="3437632" cy="552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i="0" dirty="0">
                  <a:solidFill>
                    <a:srgbClr val="1B2340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การนำไปใช้งานจริง</a:t>
              </a:r>
              <a:endParaRPr lang="en-US" sz="3200" dirty="0"/>
            </a:p>
          </p:txBody>
        </p:sp>
        <p:sp>
          <p:nvSpPr>
            <p:cNvPr id="9" name="Text 1"/>
            <p:cNvSpPr/>
            <p:nvPr/>
          </p:nvSpPr>
          <p:spPr>
            <a:xfrm>
              <a:off x="4301232" y="774700"/>
              <a:ext cx="2706291" cy="552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i="0" dirty="0">
                  <a:solidFill>
                    <a:srgbClr val="4B62C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(Deployment)</a:t>
              </a:r>
              <a:endParaRPr lang="en-US" sz="3200" dirty="0"/>
            </a:p>
          </p:txBody>
        </p:sp>
      </p:grpSp>
      <p:sp>
        <p:nvSpPr>
          <p:cNvPr id="10" name="CSS box-shadow background"/>
          <p:cNvSpPr/>
          <p:nvPr/>
        </p:nvSpPr>
        <p:spPr>
          <a:xfrm>
            <a:off x="762000" y="3124200"/>
            <a:ext cx="5080000" cy="3073400"/>
          </a:xfrm>
          <a:custGeom>
            <a:avLst/>
            <a:gdLst/>
            <a:ahLst/>
            <a:cxnLst/>
            <a:rect l="l" t="t" r="r" b="b"/>
            <a:pathLst>
              <a:path w="5080000" h="3073400">
                <a:moveTo>
                  <a:pt x="152400" y="0"/>
                </a:moveTo>
                <a:lnTo>
                  <a:pt x="4927600" y="0"/>
                </a:lnTo>
                <a:cubicBezTo>
                  <a:pt x="5011204" y="0"/>
                  <a:pt x="5080000" y="68796"/>
                  <a:pt x="5080000" y="152400"/>
                </a:cubicBezTo>
                <a:lnTo>
                  <a:pt x="5080000" y="2921000"/>
                </a:lnTo>
                <a:cubicBezTo>
                  <a:pt x="5080000" y="3004604"/>
                  <a:pt x="5011204" y="3073400"/>
                  <a:pt x="4927600" y="3073400"/>
                </a:cubicBezTo>
                <a:lnTo>
                  <a:pt x="152400" y="3073400"/>
                </a:lnTo>
                <a:cubicBezTo>
                  <a:pt x="68796" y="3073400"/>
                  <a:pt x="0" y="3004604"/>
                  <a:pt x="0" y="2921000"/>
                </a:cubicBezTo>
                <a:lnTo>
                  <a:pt x="0" y="152400"/>
                </a:lnTo>
                <a:cubicBezTo>
                  <a:pt x="0" y="68796"/>
                  <a:pt x="68796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15900" dist="76200" dir="5400000" algn="bl" rotWithShape="0">
              <a:srgbClr val="1B2340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24200"/>
            <a:ext cx="5080000" cy="30734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022350" y="3514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7000" y="0"/>
                </a:moveTo>
                <a:lnTo>
                  <a:pt x="330200" y="0"/>
                </a:lnTo>
                <a:cubicBezTo>
                  <a:pt x="399870" y="0"/>
                  <a:pt x="457200" y="57330"/>
                  <a:pt x="457200" y="127000"/>
                </a:cubicBezTo>
                <a:lnTo>
                  <a:pt x="457200" y="330200"/>
                </a:lnTo>
                <a:cubicBezTo>
                  <a:pt x="457200" y="399870"/>
                  <a:pt x="399870" y="457200"/>
                  <a:pt x="330200" y="457200"/>
                </a:cubicBezTo>
                <a:lnTo>
                  <a:pt x="127000" y="457200"/>
                </a:lnTo>
                <a:cubicBezTo>
                  <a:pt x="57330" y="457200"/>
                  <a:pt x="0" y="399870"/>
                  <a:pt x="0" y="3302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E0F3EC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3641725"/>
            <a:ext cx="254000" cy="203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93850" y="3435350"/>
            <a:ext cx="192335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ทางที่ 1 · แชร์ลิงก์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593850" y="3835400"/>
            <a:ext cx="12101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1FA9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เร็วที่สุด ใช้ได้ทันที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350" y="4321175"/>
            <a:ext cx="152400" cy="1524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76350" y="4254500"/>
            <a:ext cx="293499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กด “Share” สร้างลิงก์จาก Canvas</a:t>
            </a:r>
            <a:endParaRPr lang="en-US" sz="16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350" y="4733925"/>
            <a:ext cx="152400" cy="1524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76350" y="4667250"/>
            <a:ext cx="3969643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ส่งต่อผ่านอีเมล แชท หรือ Google Classroom</a:t>
            </a:r>
            <a:endParaRPr lang="en-US" sz="16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350" y="5146675"/>
            <a:ext cx="152400" cy="1524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276350" y="5080000"/>
            <a:ext cx="294530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นักศึกษาเปิดลิงก์แล้วใช้งานได้เลย</a:t>
            </a:r>
            <a:endParaRPr lang="en-US" sz="1600" dirty="0"/>
          </a:p>
        </p:txBody>
      </p:sp>
      <p:sp>
        <p:nvSpPr>
          <p:cNvPr id="22" name="Shape 12"/>
          <p:cNvSpPr/>
          <p:nvPr/>
        </p:nvSpPr>
        <p:spPr>
          <a:xfrm>
            <a:off x="1022350" y="5537200"/>
            <a:ext cx="4559300" cy="438150"/>
          </a:xfrm>
          <a:custGeom>
            <a:avLst/>
            <a:gdLst/>
            <a:ahLst/>
            <a:cxnLst/>
            <a:rect l="l" t="t" r="r" b="b"/>
            <a:pathLst>
              <a:path w="4559300" h="438150">
                <a:moveTo>
                  <a:pt x="76200" y="0"/>
                </a:moveTo>
                <a:lnTo>
                  <a:pt x="4483100" y="0"/>
                </a:lnTo>
                <a:cubicBezTo>
                  <a:pt x="4524902" y="0"/>
                  <a:pt x="4559300" y="34398"/>
                  <a:pt x="4559300" y="76200"/>
                </a:cubicBezTo>
                <a:lnTo>
                  <a:pt x="4559300" y="361950"/>
                </a:lnTo>
                <a:cubicBezTo>
                  <a:pt x="4559300" y="403752"/>
                  <a:pt x="4524902" y="438150"/>
                  <a:pt x="4483100" y="438150"/>
                </a:cubicBezTo>
                <a:lnTo>
                  <a:pt x="76200" y="438150"/>
                </a:lnTo>
                <a:cubicBezTo>
                  <a:pt x="34398" y="438150"/>
                  <a:pt x="0" y="403752"/>
                  <a:pt x="0" y="36195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F6F7FB"/>
          </a:solidFill>
          <a:ln w="6350">
            <a:solidFill>
              <a:srgbClr val="D9DEEE"/>
            </a:solidFill>
            <a:custDash>
              <a:ds d="400000" sp="300000"/>
            </a:custDash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3"/>
          <p:cNvSpPr/>
          <p:nvPr/>
        </p:nvSpPr>
        <p:spPr>
          <a:xfrm>
            <a:off x="1155700" y="5645150"/>
            <a:ext cx="22053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รูปแบบลิงก์: g.co/gemini/share</a:t>
            </a:r>
            <a:endParaRPr lang="en-US" sz="1200" dirty="0"/>
          </a:p>
        </p:txBody>
      </p:sp>
      <p:sp>
        <p:nvSpPr>
          <p:cNvPr id="24" name="CSS box-shadow background"/>
          <p:cNvSpPr/>
          <p:nvPr/>
        </p:nvSpPr>
        <p:spPr>
          <a:xfrm>
            <a:off x="6350000" y="3124200"/>
            <a:ext cx="5080000" cy="3321050"/>
          </a:xfrm>
          <a:custGeom>
            <a:avLst/>
            <a:gdLst/>
            <a:ahLst/>
            <a:cxnLst/>
            <a:rect l="l" t="t" r="r" b="b"/>
            <a:pathLst>
              <a:path w="5080000" h="3321050">
                <a:moveTo>
                  <a:pt x="152400" y="0"/>
                </a:moveTo>
                <a:lnTo>
                  <a:pt x="4927600" y="0"/>
                </a:lnTo>
                <a:cubicBezTo>
                  <a:pt x="5011204" y="0"/>
                  <a:pt x="5080000" y="68796"/>
                  <a:pt x="5080000" y="152400"/>
                </a:cubicBezTo>
                <a:lnTo>
                  <a:pt x="5080000" y="3168650"/>
                </a:lnTo>
                <a:cubicBezTo>
                  <a:pt x="5080000" y="3252254"/>
                  <a:pt x="5011204" y="3321050"/>
                  <a:pt x="4927600" y="3321050"/>
                </a:cubicBezTo>
                <a:lnTo>
                  <a:pt x="152400" y="3321050"/>
                </a:lnTo>
                <a:cubicBezTo>
                  <a:pt x="68796" y="3321050"/>
                  <a:pt x="0" y="3252254"/>
                  <a:pt x="0" y="3168650"/>
                </a:cubicBezTo>
                <a:lnTo>
                  <a:pt x="0" y="152400"/>
                </a:lnTo>
                <a:cubicBezTo>
                  <a:pt x="0" y="68796"/>
                  <a:pt x="68796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15900" dist="76200" dir="5400000" algn="bl" rotWithShape="0">
              <a:srgbClr val="1B2340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0" y="3124200"/>
            <a:ext cx="5080000" cy="3321050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6610350" y="3514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7000" y="0"/>
                </a:moveTo>
                <a:lnTo>
                  <a:pt x="330200" y="0"/>
                </a:lnTo>
                <a:cubicBezTo>
                  <a:pt x="399870" y="0"/>
                  <a:pt x="457200" y="57330"/>
                  <a:pt x="457200" y="127000"/>
                </a:cubicBezTo>
                <a:lnTo>
                  <a:pt x="457200" y="330200"/>
                </a:lnTo>
                <a:cubicBezTo>
                  <a:pt x="457200" y="399870"/>
                  <a:pt x="399870" y="457200"/>
                  <a:pt x="330200" y="457200"/>
                </a:cubicBezTo>
                <a:lnTo>
                  <a:pt x="127000" y="457200"/>
                </a:lnTo>
                <a:cubicBezTo>
                  <a:pt x="57330" y="457200"/>
                  <a:pt x="0" y="399870"/>
                  <a:pt x="0" y="3302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E6E9F7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1950" y="3641725"/>
            <a:ext cx="254000" cy="2032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181850" y="3435350"/>
            <a:ext cx="286305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ทางที่ 2 · ฝังโค้ด (Embed)</a:t>
            </a:r>
            <a:endParaRPr lang="en-US" sz="2000" dirty="0"/>
          </a:p>
        </p:txBody>
      </p:sp>
      <p:sp>
        <p:nvSpPr>
          <p:cNvPr id="29" name="Text 17"/>
          <p:cNvSpPr/>
          <p:nvPr/>
        </p:nvSpPr>
        <p:spPr>
          <a:xfrm>
            <a:off x="7181850" y="3835400"/>
            <a:ext cx="24535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4B62C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รวมเข้ากับเว็บ/ระบบของมหาวิทยาลัย</a:t>
            </a:r>
            <a:endParaRPr lang="en-US" sz="1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4321175"/>
            <a:ext cx="152400" cy="1524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864350" y="4254500"/>
            <a:ext cx="3276402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คัดลอกโค้ด HTML ที่ Canvas สร้างให้</a:t>
            </a:r>
            <a:endParaRPr lang="en-US" sz="16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4733925"/>
            <a:ext cx="152400" cy="15240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864350" y="4667250"/>
            <a:ext cx="4035524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Google Sites: คลิกขวา → Embed → วางโค้ด</a:t>
            </a:r>
            <a:endParaRPr lang="en-US" sz="16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5146675"/>
            <a:ext cx="152400" cy="15240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864350" y="5080000"/>
            <a:ext cx="279658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1B23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หรือฝังใน LMS ของมหาวิทยาลัย</a:t>
            </a:r>
            <a:endParaRPr lang="en-US" sz="1600" dirty="0"/>
          </a:p>
        </p:txBody>
      </p:sp>
      <p:sp>
        <p:nvSpPr>
          <p:cNvPr id="36" name="Shape 21"/>
          <p:cNvSpPr/>
          <p:nvPr/>
        </p:nvSpPr>
        <p:spPr>
          <a:xfrm>
            <a:off x="6610350" y="5537200"/>
            <a:ext cx="4559300" cy="685800"/>
          </a:xfrm>
          <a:custGeom>
            <a:avLst/>
            <a:gdLst/>
            <a:ahLst/>
            <a:cxnLst/>
            <a:rect l="l" t="t" r="r" b="b"/>
            <a:pathLst>
              <a:path w="4559300" h="685800">
                <a:moveTo>
                  <a:pt x="76200" y="0"/>
                </a:moveTo>
                <a:lnTo>
                  <a:pt x="4483100" y="0"/>
                </a:lnTo>
                <a:cubicBezTo>
                  <a:pt x="4524902" y="0"/>
                  <a:pt x="4559300" y="34398"/>
                  <a:pt x="4559300" y="76200"/>
                </a:cubicBezTo>
                <a:lnTo>
                  <a:pt x="4559300" y="609600"/>
                </a:lnTo>
                <a:cubicBezTo>
                  <a:pt x="4559300" y="651402"/>
                  <a:pt x="4524902" y="685800"/>
                  <a:pt x="4483100" y="685800"/>
                </a:cubicBezTo>
                <a:lnTo>
                  <a:pt x="76200" y="685800"/>
                </a:lnTo>
                <a:cubicBezTo>
                  <a:pt x="34398" y="685800"/>
                  <a:pt x="0" y="651402"/>
                  <a:pt x="0" y="609600"/>
                </a:cubicBezTo>
                <a:lnTo>
                  <a:pt x="0" y="76200"/>
                </a:lnTo>
                <a:cubicBezTo>
                  <a:pt x="0" y="34398"/>
                  <a:pt x="34398" y="0"/>
                  <a:pt x="76200" y="0"/>
                </a:cubicBezTo>
                <a:close/>
              </a:path>
            </a:pathLst>
          </a:custGeom>
          <a:solidFill>
            <a:srgbClr val="F6F7FB"/>
          </a:solidFill>
          <a:ln w="6350">
            <a:solidFill>
              <a:srgbClr val="D9DEEE"/>
            </a:solidFill>
            <a:custDash>
              <a:ds d="400000" sp="300000"/>
            </a:custDash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2"/>
          <p:cNvSpPr/>
          <p:nvPr/>
        </p:nvSpPr>
        <p:spPr>
          <a:xfrm>
            <a:off x="6743700" y="5645150"/>
            <a:ext cx="40722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LMS เช่น Instructure Canvas ต้องเชื่อมผ่าน Gemini LTI (ผู้</a:t>
            </a:r>
            <a:endParaRPr lang="en-US" sz="1200" dirty="0"/>
          </a:p>
        </p:txBody>
      </p:sp>
      <p:sp>
        <p:nvSpPr>
          <p:cNvPr id="38" name="Text 23"/>
          <p:cNvSpPr/>
          <p:nvPr/>
        </p:nvSpPr>
        <p:spPr>
          <a:xfrm>
            <a:off x="6743700" y="5892800"/>
            <a:ext cx="106035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ดูแลระบบตั้งค่า)</a:t>
            </a:r>
            <a:endParaRPr lang="en-US" sz="1200" dirty="0"/>
          </a:p>
        </p:txBody>
      </p:sp>
      <p:sp>
        <p:nvSpPr>
          <p:cNvPr id="39" name="Text 24"/>
          <p:cNvSpPr/>
          <p:nvPr/>
        </p:nvSpPr>
        <p:spPr>
          <a:xfrm>
            <a:off x="762000" y="6356350"/>
            <a:ext cx="101912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0" i="0" kern="0" spc="12" dirty="0">
                <a:solidFill>
                  <a:srgbClr val="5A6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ที่มา: Google Gemini Help — การแชร์ผลงานจาก Canvas (support.google.com/gemini/answer/16047321) · คู่มือเชื่อม Gemini LTI กับ Canvas LMS</a:t>
            </a:r>
            <a:endParaRPr lang="en-US" sz="1200" dirty="0"/>
          </a:p>
        </p:txBody>
      </p:sp>
      <p:sp>
        <p:nvSpPr>
          <p:cNvPr id="40" name="CSS box-shadow background"/>
          <p:cNvSpPr/>
          <p:nvPr/>
        </p:nvSpPr>
        <p:spPr>
          <a:xfrm>
            <a:off x="4606776" y="1587500"/>
            <a:ext cx="2978448" cy="482600"/>
          </a:xfrm>
          <a:custGeom>
            <a:avLst/>
            <a:gdLst/>
            <a:ahLst/>
            <a:cxnLst/>
            <a:rect l="l" t="t" r="r" b="b"/>
            <a:pathLst>
              <a:path w="2978448" h="482600">
                <a:moveTo>
                  <a:pt x="241300" y="0"/>
                </a:moveTo>
                <a:lnTo>
                  <a:pt x="2737147" y="0"/>
                </a:lnTo>
                <a:cubicBezTo>
                  <a:pt x="2869521" y="0"/>
                  <a:pt x="2978447" y="108927"/>
                  <a:pt x="2978447" y="241300"/>
                </a:cubicBezTo>
                <a:lnTo>
                  <a:pt x="2978447" y="241300"/>
                </a:lnTo>
                <a:cubicBezTo>
                  <a:pt x="2978447" y="373673"/>
                  <a:pt x="2869521" y="482600"/>
                  <a:pt x="2737147" y="482600"/>
                </a:cubicBezTo>
                <a:lnTo>
                  <a:pt x="241300" y="482600"/>
                </a:lnTo>
                <a:cubicBezTo>
                  <a:pt x="108927" y="482600"/>
                  <a:pt x="0" y="373673"/>
                  <a:pt x="0" y="241300"/>
                </a:cubicBezTo>
                <a:lnTo>
                  <a:pt x="0" y="241300"/>
                </a:lnTo>
                <a:cubicBezTo>
                  <a:pt x="0" y="108927"/>
                  <a:pt x="108927" y="0"/>
                  <a:pt x="241300" y="0"/>
                </a:cubicBezTo>
                <a:close/>
              </a:path>
            </a:pathLst>
          </a:custGeom>
          <a:solidFill>
            <a:srgbClr val="2A3E8F"/>
          </a:solidFill>
          <a:ln w="12700">
            <a:prstDash val="solid"/>
          </a:ln>
          <a:effectLst>
            <a:outerShdw blurRad="215900" dist="88900" dir="5400000" algn="bl" rotWithShape="0">
              <a:srgbClr val="2A3E8F">
                <a:alpha val="30196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6"/>
          <p:cNvSpPr/>
          <p:nvPr/>
        </p:nvSpPr>
        <p:spPr>
          <a:xfrm>
            <a:off x="5089376" y="1701800"/>
            <a:ext cx="22799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เว็บแอปจาก Gemini Canvas</a:t>
            </a:r>
            <a:endParaRPr lang="en-US" sz="14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2676" y="17399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0575" y="0"/>
            <a:ext cx="2511425" cy="2511425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94275"/>
            <a:ext cx="2371725" cy="18637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622300"/>
            <a:ext cx="8437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ชั่วโมงที่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727597" y="622300"/>
            <a:ext cx="647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914227" y="622300"/>
            <a:ext cx="3357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kern="0" spc="168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สรุป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2000" y="1022350"/>
            <a:ext cx="4775994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สรุป: ก้าวต่อไปของคุณ</a:t>
            </a:r>
            <a:endParaRPr lang="en-US" sz="3900" dirty="0"/>
          </a:p>
        </p:txBody>
      </p:sp>
      <p:sp>
        <p:nvSpPr>
          <p:cNvPr id="7" name="Shape 4"/>
          <p:cNvSpPr/>
          <p:nvPr/>
        </p:nvSpPr>
        <p:spPr>
          <a:xfrm>
            <a:off x="762000" y="2159000"/>
            <a:ext cx="10668000" cy="749300"/>
          </a:xfrm>
          <a:custGeom>
            <a:avLst/>
            <a:gdLst/>
            <a:ahLst/>
            <a:cxnLst/>
            <a:rect l="l" t="t" r="r" b="b"/>
            <a:pathLst>
              <a:path w="10668000" h="749300">
                <a:moveTo>
                  <a:pt x="127000" y="0"/>
                </a:moveTo>
                <a:lnTo>
                  <a:pt x="10541000" y="0"/>
                </a:lnTo>
                <a:cubicBezTo>
                  <a:pt x="10610670" y="0"/>
                  <a:pt x="10668000" y="57330"/>
                  <a:pt x="10668000" y="127000"/>
                </a:cubicBezTo>
                <a:lnTo>
                  <a:pt x="10668000" y="622300"/>
                </a:lnTo>
                <a:cubicBezTo>
                  <a:pt x="10668000" y="691970"/>
                  <a:pt x="10610670" y="749300"/>
                  <a:pt x="10541000" y="749300"/>
                </a:cubicBezTo>
                <a:lnTo>
                  <a:pt x="127000" y="749300"/>
                </a:lnTo>
                <a:cubicBezTo>
                  <a:pt x="57330" y="749300"/>
                  <a:pt x="0" y="691970"/>
                  <a:pt x="0" y="6223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996950" y="23304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536" y="0"/>
                  <a:pt x="406400" y="45864"/>
                  <a:pt x="406400" y="101600"/>
                </a:cubicBezTo>
                <a:lnTo>
                  <a:pt x="406400" y="304800"/>
                </a:lnTo>
                <a:cubicBezTo>
                  <a:pt x="406400" y="360536"/>
                  <a:pt x="360536" y="406400"/>
                  <a:pt x="304800" y="406400"/>
                </a:cubicBezTo>
                <a:lnTo>
                  <a:pt x="101600" y="406400"/>
                </a:lnTo>
                <a:cubicBezTo>
                  <a:pt x="45864" y="406400"/>
                  <a:pt x="0" y="360536"/>
                  <a:pt x="0" y="3048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5A62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362" y="2444750"/>
            <a:ext cx="177800" cy="177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81150" y="2371725"/>
            <a:ext cx="5023545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Canvas เปลี่ยนคำพูดของคุณให้เป็นเว็บแอปได้ทันที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62000" y="3048000"/>
            <a:ext cx="10668000" cy="749300"/>
          </a:xfrm>
          <a:custGeom>
            <a:avLst/>
            <a:gdLst/>
            <a:ahLst/>
            <a:cxnLst/>
            <a:rect l="l" t="t" r="r" b="b"/>
            <a:pathLst>
              <a:path w="10668000" h="749300">
                <a:moveTo>
                  <a:pt x="127000" y="0"/>
                </a:moveTo>
                <a:lnTo>
                  <a:pt x="10541000" y="0"/>
                </a:lnTo>
                <a:cubicBezTo>
                  <a:pt x="10610670" y="0"/>
                  <a:pt x="10668000" y="57330"/>
                  <a:pt x="10668000" y="127000"/>
                </a:cubicBezTo>
                <a:lnTo>
                  <a:pt x="10668000" y="622300"/>
                </a:lnTo>
                <a:cubicBezTo>
                  <a:pt x="10668000" y="691970"/>
                  <a:pt x="10610670" y="749300"/>
                  <a:pt x="10541000" y="749300"/>
                </a:cubicBezTo>
                <a:lnTo>
                  <a:pt x="127000" y="749300"/>
                </a:lnTo>
                <a:cubicBezTo>
                  <a:pt x="57330" y="749300"/>
                  <a:pt x="0" y="691970"/>
                  <a:pt x="0" y="6223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996950" y="32194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536" y="0"/>
                  <a:pt x="406400" y="45864"/>
                  <a:pt x="406400" y="101600"/>
                </a:cubicBezTo>
                <a:lnTo>
                  <a:pt x="406400" y="304800"/>
                </a:lnTo>
                <a:cubicBezTo>
                  <a:pt x="406400" y="360536"/>
                  <a:pt x="360536" y="406400"/>
                  <a:pt x="304800" y="406400"/>
                </a:cubicBezTo>
                <a:lnTo>
                  <a:pt x="101600" y="406400"/>
                </a:lnTo>
                <a:cubicBezTo>
                  <a:pt x="45864" y="406400"/>
                  <a:pt x="0" y="360536"/>
                  <a:pt x="0" y="3048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4B62C8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250" y="3333750"/>
            <a:ext cx="177800" cy="177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81150" y="3260725"/>
            <a:ext cx="4910832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อาจารย์เป็น “ผู้กำกับ” — Gemini เป็นผู้ลงมือเขียน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62000" y="3937000"/>
            <a:ext cx="10668000" cy="749300"/>
          </a:xfrm>
          <a:custGeom>
            <a:avLst/>
            <a:gdLst/>
            <a:ahLst/>
            <a:cxnLst/>
            <a:rect l="l" t="t" r="r" b="b"/>
            <a:pathLst>
              <a:path w="10668000" h="749300">
                <a:moveTo>
                  <a:pt x="127000" y="0"/>
                </a:moveTo>
                <a:lnTo>
                  <a:pt x="10541000" y="0"/>
                </a:lnTo>
                <a:cubicBezTo>
                  <a:pt x="10610670" y="0"/>
                  <a:pt x="10668000" y="57330"/>
                  <a:pt x="10668000" y="127000"/>
                </a:cubicBezTo>
                <a:lnTo>
                  <a:pt x="10668000" y="622300"/>
                </a:lnTo>
                <a:cubicBezTo>
                  <a:pt x="10668000" y="691970"/>
                  <a:pt x="10610670" y="749300"/>
                  <a:pt x="10541000" y="749300"/>
                </a:cubicBezTo>
                <a:lnTo>
                  <a:pt x="127000" y="749300"/>
                </a:lnTo>
                <a:cubicBezTo>
                  <a:pt x="57330" y="749300"/>
                  <a:pt x="0" y="691970"/>
                  <a:pt x="0" y="622300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996950" y="41084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536" y="0"/>
                  <a:pt x="406400" y="45864"/>
                  <a:pt x="406400" y="101600"/>
                </a:cubicBezTo>
                <a:lnTo>
                  <a:pt x="406400" y="304800"/>
                </a:lnTo>
                <a:cubicBezTo>
                  <a:pt x="406400" y="360536"/>
                  <a:pt x="360536" y="406400"/>
                  <a:pt x="304800" y="406400"/>
                </a:cubicBezTo>
                <a:lnTo>
                  <a:pt x="101600" y="406400"/>
                </a:lnTo>
                <a:cubicBezTo>
                  <a:pt x="45864" y="406400"/>
                  <a:pt x="0" y="360536"/>
                  <a:pt x="0" y="3048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1FA97A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362" y="4222750"/>
            <a:ext cx="177800" cy="177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81150" y="4149725"/>
            <a:ext cx="4446885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แชร์ลิงก์หรือ Embed เข้า Sites / LMS ได้เลย</a:t>
            </a:r>
            <a:endParaRPr lang="en-US" sz="18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867400"/>
            <a:ext cx="241300" cy="241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38237" y="5810250"/>
            <a:ext cx="6542187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เลือก 1 แนวคิดในวิชาของคุณ แล้วสร้าง mini-app แรกวันนี้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762000" y="6216650"/>
            <a:ext cx="1418729" cy="349250"/>
          </a:xfrm>
          <a:custGeom>
            <a:avLst/>
            <a:gdLst/>
            <a:ahLst/>
            <a:cxnLst/>
            <a:rect l="l" t="t" r="r" b="b"/>
            <a:pathLst>
              <a:path w="1418729" h="349250">
                <a:moveTo>
                  <a:pt x="174625" y="0"/>
                </a:moveTo>
                <a:lnTo>
                  <a:pt x="1244104" y="0"/>
                </a:lnTo>
                <a:cubicBezTo>
                  <a:pt x="1339900" y="0"/>
                  <a:pt x="1418729" y="78829"/>
                  <a:pt x="1418729" y="174625"/>
                </a:cubicBezTo>
                <a:lnTo>
                  <a:pt x="1418729" y="174625"/>
                </a:lnTo>
                <a:cubicBezTo>
                  <a:pt x="1418729" y="270421"/>
                  <a:pt x="1339900" y="349250"/>
                  <a:pt x="1244104" y="349250"/>
                </a:cubicBezTo>
                <a:lnTo>
                  <a:pt x="174625" y="349250"/>
                </a:lnTo>
                <a:cubicBezTo>
                  <a:pt x="78829" y="349250"/>
                  <a:pt x="0" y="270421"/>
                  <a:pt x="0" y="174625"/>
                </a:cubicBezTo>
                <a:lnTo>
                  <a:pt x="0" y="174625"/>
                </a:lnTo>
                <a:cubicBezTo>
                  <a:pt x="0" y="78829"/>
                  <a:pt x="78829" y="0"/>
                  <a:pt x="174625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908050" y="6286500"/>
            <a:ext cx="112662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Gemini Canvas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269629" y="6216650"/>
            <a:ext cx="1091307" cy="349250"/>
          </a:xfrm>
          <a:custGeom>
            <a:avLst/>
            <a:gdLst/>
            <a:ahLst/>
            <a:cxnLst/>
            <a:rect l="l" t="t" r="r" b="b"/>
            <a:pathLst>
              <a:path w="1091307" h="349250">
                <a:moveTo>
                  <a:pt x="174625" y="0"/>
                </a:moveTo>
                <a:lnTo>
                  <a:pt x="916682" y="0"/>
                </a:lnTo>
                <a:cubicBezTo>
                  <a:pt x="1012479" y="0"/>
                  <a:pt x="1091307" y="78829"/>
                  <a:pt x="1091307" y="174625"/>
                </a:cubicBezTo>
                <a:lnTo>
                  <a:pt x="1091307" y="174625"/>
                </a:lnTo>
                <a:cubicBezTo>
                  <a:pt x="1091307" y="270421"/>
                  <a:pt x="1012479" y="349250"/>
                  <a:pt x="916682" y="349250"/>
                </a:cubicBezTo>
                <a:lnTo>
                  <a:pt x="174625" y="349250"/>
                </a:lnTo>
                <a:cubicBezTo>
                  <a:pt x="78829" y="349250"/>
                  <a:pt x="0" y="270421"/>
                  <a:pt x="0" y="174625"/>
                </a:cubicBezTo>
                <a:lnTo>
                  <a:pt x="0" y="174625"/>
                </a:lnTo>
                <a:cubicBezTo>
                  <a:pt x="0" y="78829"/>
                  <a:pt x="78829" y="0"/>
                  <a:pt x="174625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2415679" y="6286500"/>
            <a:ext cx="79920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Share Link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449836" y="6216650"/>
            <a:ext cx="810121" cy="349250"/>
          </a:xfrm>
          <a:custGeom>
            <a:avLst/>
            <a:gdLst/>
            <a:ahLst/>
            <a:cxnLst/>
            <a:rect l="l" t="t" r="r" b="b"/>
            <a:pathLst>
              <a:path w="810121" h="349250">
                <a:moveTo>
                  <a:pt x="174625" y="0"/>
                </a:moveTo>
                <a:lnTo>
                  <a:pt x="635496" y="0"/>
                </a:lnTo>
                <a:cubicBezTo>
                  <a:pt x="731293" y="0"/>
                  <a:pt x="810121" y="78829"/>
                  <a:pt x="810121" y="174625"/>
                </a:cubicBezTo>
                <a:lnTo>
                  <a:pt x="810121" y="174625"/>
                </a:lnTo>
                <a:cubicBezTo>
                  <a:pt x="810121" y="270421"/>
                  <a:pt x="731293" y="349250"/>
                  <a:pt x="635496" y="349250"/>
                </a:cubicBezTo>
                <a:lnTo>
                  <a:pt x="174625" y="349250"/>
                </a:lnTo>
                <a:cubicBezTo>
                  <a:pt x="78829" y="349250"/>
                  <a:pt x="0" y="270421"/>
                  <a:pt x="0" y="174625"/>
                </a:cubicBezTo>
                <a:lnTo>
                  <a:pt x="0" y="174625"/>
                </a:lnTo>
                <a:cubicBezTo>
                  <a:pt x="0" y="78829"/>
                  <a:pt x="78829" y="0"/>
                  <a:pt x="174625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3595886" y="6286500"/>
            <a:ext cx="5180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Embed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348857" y="6216650"/>
            <a:ext cx="1655366" cy="349250"/>
          </a:xfrm>
          <a:custGeom>
            <a:avLst/>
            <a:gdLst/>
            <a:ahLst/>
            <a:cxnLst/>
            <a:rect l="l" t="t" r="r" b="b"/>
            <a:pathLst>
              <a:path w="1655366" h="349250">
                <a:moveTo>
                  <a:pt x="174625" y="0"/>
                </a:moveTo>
                <a:lnTo>
                  <a:pt x="1480741" y="0"/>
                </a:lnTo>
                <a:cubicBezTo>
                  <a:pt x="1576537" y="0"/>
                  <a:pt x="1655365" y="78829"/>
                  <a:pt x="1655365" y="174625"/>
                </a:cubicBezTo>
                <a:lnTo>
                  <a:pt x="1655365" y="174625"/>
                </a:lnTo>
                <a:cubicBezTo>
                  <a:pt x="1655365" y="270421"/>
                  <a:pt x="1576537" y="349250"/>
                  <a:pt x="1480741" y="349250"/>
                </a:cubicBezTo>
                <a:lnTo>
                  <a:pt x="174625" y="349250"/>
                </a:lnTo>
                <a:cubicBezTo>
                  <a:pt x="78829" y="349250"/>
                  <a:pt x="0" y="270421"/>
                  <a:pt x="0" y="174625"/>
                </a:cubicBezTo>
                <a:lnTo>
                  <a:pt x="0" y="174625"/>
                </a:lnTo>
                <a:cubicBezTo>
                  <a:pt x="0" y="78829"/>
                  <a:pt x="78829" y="0"/>
                  <a:pt x="174625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6350">
            <a:solidFill>
              <a:srgbClr val="FFFFFF">
                <a:alpha val="18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494907" y="6286500"/>
            <a:ext cx="136326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Google Classroom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</Words>
  <Application>Microsoft Office PowerPoint</Application>
  <PresentationFormat>Widescreen</PresentationFormat>
  <Paragraphs>139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by aippt</dc:title>
  <dc:subject>Generated by aippt</dc:subject>
  <dc:creator>aippt</dc:creator>
  <cp:lastModifiedBy>KHANCHAI SAE-TAE</cp:lastModifiedBy>
  <cp:revision>1</cp:revision>
  <dcterms:created xsi:type="dcterms:W3CDTF">2026-10-20T15:32:04Z</dcterms:created>
  <dcterms:modified xsi:type="dcterms:W3CDTF">2026-10-20T16:03:28Z</dcterms:modified>
</cp:coreProperties>
</file>