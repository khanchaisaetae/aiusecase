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27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0"/>
            <a:ext cx="2286000" cy="2159000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5778500"/>
            <a:ext cx="1905000" cy="1079500"/>
          </a:xfrm>
          <a:prstGeom prst="rect">
            <a:avLst/>
          </a:prstGeom>
        </p:spPr>
      </p:pic>
      <p:sp>
        <p:nvSpPr>
          <p:cNvPr id="3" name="CSS box-shadow background"/>
          <p:cNvSpPr/>
          <p:nvPr/>
        </p:nvSpPr>
        <p:spPr>
          <a:xfrm>
            <a:off x="6921500" y="2178050"/>
            <a:ext cx="4445000" cy="2501900"/>
          </a:xfrm>
          <a:custGeom>
            <a:avLst/>
            <a:gdLst/>
            <a:ahLst/>
            <a:cxnLst/>
            <a:rect l="l" t="t" r="r" b="b"/>
            <a:pathLst>
              <a:path w="4445000" h="2501900">
                <a:moveTo>
                  <a:pt x="127000" y="0"/>
                </a:moveTo>
                <a:lnTo>
                  <a:pt x="4318000" y="0"/>
                </a:lnTo>
                <a:cubicBezTo>
                  <a:pt x="4387670" y="0"/>
                  <a:pt x="4445000" y="57330"/>
                  <a:pt x="4445000" y="127000"/>
                </a:cubicBezTo>
                <a:lnTo>
                  <a:pt x="4445000" y="2374900"/>
                </a:lnTo>
                <a:cubicBezTo>
                  <a:pt x="4445000" y="2444570"/>
                  <a:pt x="4387670" y="2501900"/>
                  <a:pt x="4318000" y="2501900"/>
                </a:cubicBezTo>
                <a:lnTo>
                  <a:pt x="127000" y="2501900"/>
                </a:lnTo>
                <a:cubicBezTo>
                  <a:pt x="57330" y="2501900"/>
                  <a:pt x="0" y="2444570"/>
                  <a:pt x="0" y="23749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381000" dist="165100" dir="5400000" algn="bl" rotWithShape="0">
              <a:srgbClr val="16233A">
                <a:alpha val="1411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6921500" y="2178050"/>
            <a:ext cx="4445000" cy="2501900"/>
          </a:xfrm>
          <a:custGeom>
            <a:avLst/>
            <a:gdLst/>
            <a:ahLst/>
            <a:cxnLst/>
            <a:rect l="l" t="t" r="r" b="b"/>
            <a:pathLst>
              <a:path w="4445000" h="2501900">
                <a:moveTo>
                  <a:pt x="127000" y="0"/>
                </a:moveTo>
                <a:lnTo>
                  <a:pt x="4318000" y="0"/>
                </a:lnTo>
                <a:cubicBezTo>
                  <a:pt x="4387670" y="0"/>
                  <a:pt x="4445000" y="57330"/>
                  <a:pt x="4445000" y="127000"/>
                </a:cubicBezTo>
                <a:lnTo>
                  <a:pt x="4445000" y="2374900"/>
                </a:lnTo>
                <a:cubicBezTo>
                  <a:pt x="4445000" y="2444570"/>
                  <a:pt x="4387670" y="2501900"/>
                  <a:pt x="4318000" y="2501900"/>
                </a:cubicBezTo>
                <a:lnTo>
                  <a:pt x="127000" y="2501900"/>
                </a:lnTo>
                <a:cubicBezTo>
                  <a:pt x="57330" y="2501900"/>
                  <a:pt x="0" y="2444570"/>
                  <a:pt x="0" y="23749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927850" y="2184400"/>
            <a:ext cx="4432300" cy="2489200"/>
          </a:xfrm>
          <a:custGeom>
            <a:avLst/>
            <a:gdLst/>
            <a:ahLst/>
            <a:cxnLst/>
            <a:rect l="l" t="t" r="r" b="b"/>
            <a:pathLst>
              <a:path w="4432300" h="2489200">
                <a:moveTo>
                  <a:pt x="127000" y="0"/>
                </a:moveTo>
                <a:lnTo>
                  <a:pt x="4305300" y="0"/>
                </a:lnTo>
                <a:cubicBezTo>
                  <a:pt x="4374970" y="0"/>
                  <a:pt x="4432300" y="57330"/>
                  <a:pt x="4432300" y="127000"/>
                </a:cubicBezTo>
                <a:lnTo>
                  <a:pt x="4432300" y="2362200"/>
                </a:lnTo>
                <a:cubicBezTo>
                  <a:pt x="4432300" y="2431870"/>
                  <a:pt x="4374970" y="2489200"/>
                  <a:pt x="4305300" y="2489200"/>
                </a:cubicBezTo>
                <a:lnTo>
                  <a:pt x="127000" y="2489200"/>
                </a:lnTo>
                <a:cubicBezTo>
                  <a:pt x="57330" y="2489200"/>
                  <a:pt x="0" y="2431870"/>
                  <a:pt x="0" y="23622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6" name="ma"/>
          <p:cNvGrpSpPr/>
          <p:nvPr/>
        </p:nvGrpSpPr>
        <p:grpSpPr>
          <a:xfrm>
            <a:off x="698500" y="1885156"/>
            <a:ext cx="4730552" cy="2124075"/>
            <a:chOff x="698500" y="1885156"/>
            <a:chExt cx="4730552" cy="2124075"/>
          </a:xfrm>
        </p:grpSpPr>
        <p:sp>
          <p:nvSpPr>
            <p:cNvPr id="7" name="Text 0"/>
            <p:cNvSpPr/>
            <p:nvPr/>
          </p:nvSpPr>
          <p:spPr>
            <a:xfrm>
              <a:off x="698500" y="1885156"/>
              <a:ext cx="4730552" cy="8318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4800" b="1" i="0" dirty="0">
                  <a:solidFill>
                    <a:srgbClr val="16233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Custom Gems &amp;</a:t>
              </a:r>
              <a:endParaRPr lang="th" sz="4800" dirty="0"/>
            </a:p>
          </p:txBody>
        </p:sp>
        <p:sp>
          <p:nvSpPr>
            <p:cNvPr id="8" name="Text 1"/>
            <p:cNvSpPr/>
            <p:nvPr/>
          </p:nvSpPr>
          <p:spPr>
            <a:xfrm>
              <a:off x="698500" y="3177381"/>
              <a:ext cx="3166269" cy="8318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4800" b="1" i="0" dirty="0">
                  <a:solidFill>
                    <a:srgbClr val="16233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Workflows</a:t>
              </a:r>
              <a:endParaRPr lang="th" sz="4800" dirty="0"/>
            </a:p>
          </p:txBody>
        </p:sp>
        <p:sp>
          <p:nvSpPr>
            <p:cNvPr id="9" name="Text 2"/>
            <p:cNvSpPr/>
            <p:nvPr/>
          </p:nvSpPr>
          <p:spPr>
            <a:xfrm>
              <a:off x="698500" y="2531269"/>
              <a:ext cx="3931345" cy="8318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4800" b="1" i="0" dirty="0">
                  <a:solidFill>
                    <a:srgbClr val="0E7C6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Academic QA</a:t>
              </a:r>
              <a:endParaRPr lang="th" sz="4800" dirty="0"/>
            </a:p>
          </p:txBody>
        </p:sp>
      </p:grpSp>
      <p:sp>
        <p:nvSpPr>
          <p:cNvPr id="10" name="Text 3"/>
          <p:cNvSpPr/>
          <p:nvPr/>
        </p:nvSpPr>
        <p:spPr>
          <a:xfrm>
            <a:off x="698500" y="4109244"/>
            <a:ext cx="5706368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ปั้นผู้ช่วย AI ประจำหลักสูตรและระบบประเมินผล 360</a:t>
            </a:r>
            <a:endParaRPr lang="th" sz="2000" dirty="0"/>
          </a:p>
        </p:txBody>
      </p:sp>
      <p:sp>
        <p:nvSpPr>
          <p:cNvPr id="11" name="Text 4"/>
          <p:cNvSpPr/>
          <p:nvPr/>
        </p:nvSpPr>
        <p:spPr>
          <a:xfrm>
            <a:off x="698500" y="4464844"/>
            <a:ext cx="58043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องศา</a:t>
            </a:r>
            <a:endParaRPr lang="th" sz="2000" dirty="0"/>
          </a:p>
        </p:txBody>
      </p:sp>
      <p:sp>
        <p:nvSpPr>
          <p:cNvPr id="12" name="Shape 5"/>
          <p:cNvSpPr/>
          <p:nvPr/>
        </p:nvSpPr>
        <p:spPr>
          <a:xfrm>
            <a:off x="698500" y="5099844"/>
            <a:ext cx="1612702" cy="419100"/>
          </a:xfrm>
          <a:custGeom>
            <a:avLst/>
            <a:gdLst/>
            <a:ahLst/>
            <a:cxnLst/>
            <a:rect l="l" t="t" r="r" b="b"/>
            <a:pathLst>
              <a:path w="1612702" h="419100">
                <a:moveTo>
                  <a:pt x="88900" y="0"/>
                </a:moveTo>
                <a:lnTo>
                  <a:pt x="1523801" y="0"/>
                </a:lnTo>
                <a:cubicBezTo>
                  <a:pt x="1572571" y="0"/>
                  <a:pt x="1612701" y="40131"/>
                  <a:pt x="1612701" y="88900"/>
                </a:cubicBezTo>
                <a:lnTo>
                  <a:pt x="1612701" y="330200"/>
                </a:lnTo>
                <a:cubicBezTo>
                  <a:pt x="1612701" y="378969"/>
                  <a:pt x="1572571" y="419100"/>
                  <a:pt x="1523801" y="419100"/>
                </a:cubicBezTo>
                <a:lnTo>
                  <a:pt x="88900" y="419100"/>
                </a:lnTo>
                <a:cubicBezTo>
                  <a:pt x="40131" y="419100"/>
                  <a:pt x="0" y="378969"/>
                  <a:pt x="0" y="330200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E8ECF8"/>
          </a:solidFill>
          <a:ln w="6350">
            <a:solidFill>
              <a:srgbClr val="23306B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1098550" y="5195094"/>
            <a:ext cx="1053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2330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Custom Gem</a:t>
            </a:r>
            <a:endParaRPr lang="th" sz="1300" dirty="0"/>
          </a:p>
        </p:txBody>
      </p:sp>
      <p:sp>
        <p:nvSpPr>
          <p:cNvPr id="14" name="Text 7"/>
          <p:cNvSpPr/>
          <p:nvPr/>
        </p:nvSpPr>
        <p:spPr>
          <a:xfrm>
            <a:off x="857250" y="5220494"/>
            <a:ext cx="165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2A59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</a:t>
            </a:r>
            <a:endParaRPr lang="th" sz="1300" dirty="0"/>
          </a:p>
        </p:txBody>
      </p:sp>
      <p:sp>
        <p:nvSpPr>
          <p:cNvPr id="15" name="Shape 8"/>
          <p:cNvSpPr/>
          <p:nvPr/>
        </p:nvSpPr>
        <p:spPr>
          <a:xfrm>
            <a:off x="2412802" y="5099844"/>
            <a:ext cx="1091009" cy="419100"/>
          </a:xfrm>
          <a:custGeom>
            <a:avLst/>
            <a:gdLst/>
            <a:ahLst/>
            <a:cxnLst/>
            <a:rect l="l" t="t" r="r" b="b"/>
            <a:pathLst>
              <a:path w="1091009" h="419100">
                <a:moveTo>
                  <a:pt x="88900" y="0"/>
                </a:moveTo>
                <a:lnTo>
                  <a:pt x="1002109" y="0"/>
                </a:lnTo>
                <a:cubicBezTo>
                  <a:pt x="1050879" y="0"/>
                  <a:pt x="1091009" y="40131"/>
                  <a:pt x="1091009" y="88900"/>
                </a:cubicBezTo>
                <a:lnTo>
                  <a:pt x="1091009" y="330200"/>
                </a:lnTo>
                <a:cubicBezTo>
                  <a:pt x="1091009" y="378969"/>
                  <a:pt x="1050879" y="419100"/>
                  <a:pt x="1002109" y="419100"/>
                </a:cubicBezTo>
                <a:lnTo>
                  <a:pt x="88900" y="419100"/>
                </a:lnTo>
                <a:cubicBezTo>
                  <a:pt x="40131" y="419100"/>
                  <a:pt x="0" y="378969"/>
                  <a:pt x="0" y="330200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E8ECF8"/>
          </a:solidFill>
          <a:ln w="6350">
            <a:solidFill>
              <a:srgbClr val="23306B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2812852" y="5195094"/>
            <a:ext cx="5322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2330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Rubric</a:t>
            </a:r>
            <a:endParaRPr lang="th" sz="1300" dirty="0"/>
          </a:p>
        </p:txBody>
      </p:sp>
      <p:sp>
        <p:nvSpPr>
          <p:cNvPr id="17" name="Text 10"/>
          <p:cNvSpPr/>
          <p:nvPr/>
        </p:nvSpPr>
        <p:spPr>
          <a:xfrm>
            <a:off x="2571552" y="5220494"/>
            <a:ext cx="165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2A59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</a:t>
            </a:r>
            <a:endParaRPr lang="th" sz="1300" dirty="0"/>
          </a:p>
        </p:txBody>
      </p:sp>
      <p:sp>
        <p:nvSpPr>
          <p:cNvPr id="18" name="Shape 11"/>
          <p:cNvSpPr/>
          <p:nvPr/>
        </p:nvSpPr>
        <p:spPr>
          <a:xfrm>
            <a:off x="3605411" y="5099844"/>
            <a:ext cx="1394916" cy="419100"/>
          </a:xfrm>
          <a:custGeom>
            <a:avLst/>
            <a:gdLst/>
            <a:ahLst/>
            <a:cxnLst/>
            <a:rect l="l" t="t" r="r" b="b"/>
            <a:pathLst>
              <a:path w="1394916" h="419100">
                <a:moveTo>
                  <a:pt x="88900" y="0"/>
                </a:moveTo>
                <a:lnTo>
                  <a:pt x="1306017" y="0"/>
                </a:lnTo>
                <a:cubicBezTo>
                  <a:pt x="1354786" y="0"/>
                  <a:pt x="1394917" y="40131"/>
                  <a:pt x="1394917" y="88900"/>
                </a:cubicBezTo>
                <a:lnTo>
                  <a:pt x="1394917" y="330200"/>
                </a:lnTo>
                <a:cubicBezTo>
                  <a:pt x="1394917" y="378969"/>
                  <a:pt x="1354786" y="419100"/>
                  <a:pt x="1306017" y="419100"/>
                </a:cubicBezTo>
                <a:lnTo>
                  <a:pt x="88900" y="419100"/>
                </a:lnTo>
                <a:cubicBezTo>
                  <a:pt x="40131" y="419100"/>
                  <a:pt x="0" y="378969"/>
                  <a:pt x="0" y="330200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E8ECF8"/>
          </a:solidFill>
          <a:ln w="6350">
            <a:solidFill>
              <a:srgbClr val="23306B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4026098" y="5195094"/>
            <a:ext cx="81547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2330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OBE / CLO</a:t>
            </a:r>
            <a:endParaRPr lang="th" sz="1300" dirty="0"/>
          </a:p>
        </p:txBody>
      </p:sp>
      <p:sp>
        <p:nvSpPr>
          <p:cNvPr id="20" name="Text 13"/>
          <p:cNvSpPr/>
          <p:nvPr/>
        </p:nvSpPr>
        <p:spPr>
          <a:xfrm>
            <a:off x="3764161" y="5220494"/>
            <a:ext cx="1857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2A59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</a:t>
            </a:r>
            <a:endParaRPr lang="th" sz="1300" dirty="0"/>
          </a:p>
        </p:txBody>
      </p:sp>
      <p:sp>
        <p:nvSpPr>
          <p:cNvPr id="21" name="Shape 14"/>
          <p:cNvSpPr/>
          <p:nvPr/>
        </p:nvSpPr>
        <p:spPr>
          <a:xfrm>
            <a:off x="698500" y="1339056"/>
            <a:ext cx="3674666" cy="412750"/>
          </a:xfrm>
          <a:custGeom>
            <a:avLst/>
            <a:gdLst/>
            <a:ahLst/>
            <a:cxnLst/>
            <a:rect l="l" t="t" r="r" b="b"/>
            <a:pathLst>
              <a:path w="3674666" h="412750">
                <a:moveTo>
                  <a:pt x="206375" y="0"/>
                </a:moveTo>
                <a:lnTo>
                  <a:pt x="3468291" y="0"/>
                </a:lnTo>
                <a:cubicBezTo>
                  <a:pt x="3581504" y="0"/>
                  <a:pt x="3674665" y="93161"/>
                  <a:pt x="3674665" y="206375"/>
                </a:cubicBezTo>
                <a:lnTo>
                  <a:pt x="3674665" y="206375"/>
                </a:lnTo>
                <a:cubicBezTo>
                  <a:pt x="3674665" y="319589"/>
                  <a:pt x="3581504" y="412750"/>
                  <a:pt x="3468291" y="412750"/>
                </a:cubicBezTo>
                <a:lnTo>
                  <a:pt x="206375" y="412750"/>
                </a:lnTo>
                <a:cubicBezTo>
                  <a:pt x="93161" y="412750"/>
                  <a:pt x="0" y="319589"/>
                  <a:pt x="0" y="206375"/>
                </a:cubicBezTo>
                <a:lnTo>
                  <a:pt x="0" y="206375"/>
                </a:lnTo>
                <a:cubicBezTo>
                  <a:pt x="0" y="93161"/>
                  <a:pt x="93161" y="0"/>
                  <a:pt x="206375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1088926" y="1434306"/>
            <a:ext cx="31381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4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ชั่วโมงที่ 4 · อบรมเชิงปฏิบัติการสำหรับอาจารย์</a:t>
            </a:r>
            <a:endParaRPr lang="th" sz="1200" dirty="0"/>
          </a:p>
        </p:txBody>
      </p:sp>
      <p:sp>
        <p:nvSpPr>
          <p:cNvPr id="23" name="Text 16"/>
          <p:cNvSpPr/>
          <p:nvPr/>
        </p:nvSpPr>
        <p:spPr>
          <a:xfrm>
            <a:off x="844550" y="1462881"/>
            <a:ext cx="15547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4" dirty="0">
                <a:solidFill>
                  <a:srgbClr val="12A59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</a:t>
            </a:r>
            <a:endParaRPr lang="th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698500" y="692150"/>
            <a:ext cx="6707684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จากการสั่งงานรายครั้ง สู่ผู้ช่วย AI ถาวร</a:t>
            </a:r>
            <a:endParaRPr lang="th" sz="3200" dirty="0"/>
          </a:p>
        </p:txBody>
      </p:sp>
      <p:sp>
        <p:nvSpPr>
          <p:cNvPr id="2" name="Text 1"/>
          <p:cNvSpPr/>
          <p:nvPr/>
        </p:nvSpPr>
        <p:spPr>
          <a:xfrm>
            <a:off x="698500" y="1286966"/>
            <a:ext cx="81644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ต่างกันที่ “ความจำของเกณฑ์” — แชททั่วไปลืมทุกครั้งที่เปิดใหม่ แต่ Custom Gem จำมาตรฐานของหลักสูตรไว้ตลอด</a:t>
            </a:r>
            <a:endParaRPr lang="th" sz="1300" dirty="0"/>
          </a:p>
        </p:txBody>
      </p:sp>
      <p:sp>
        <p:nvSpPr>
          <p:cNvPr id="3" name="Text 2"/>
          <p:cNvSpPr/>
          <p:nvPr/>
        </p:nvSpPr>
        <p:spPr>
          <a:xfrm>
            <a:off x="917277" y="431800"/>
            <a:ext cx="17479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72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13 · แนวคิดหลัก</a:t>
            </a:r>
            <a:endParaRPr lang="th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66725"/>
            <a:ext cx="152400" cy="152400"/>
          </a:xfrm>
          <a:prstGeom prst="rect">
            <a:avLst/>
          </a:prstGeom>
        </p:spPr>
      </p:pic>
      <p:sp>
        <p:nvSpPr>
          <p:cNvPr id="5" name="CSS box-shadow background"/>
          <p:cNvSpPr/>
          <p:nvPr/>
        </p:nvSpPr>
        <p:spPr>
          <a:xfrm>
            <a:off x="698500" y="1841500"/>
            <a:ext cx="5283200" cy="2620963"/>
          </a:xfrm>
          <a:custGeom>
            <a:avLst/>
            <a:gdLst/>
            <a:ahLst/>
            <a:cxnLst/>
            <a:rect l="l" t="t" r="r" b="b"/>
            <a:pathLst>
              <a:path w="5283200" h="2620963">
                <a:moveTo>
                  <a:pt x="127000" y="0"/>
                </a:moveTo>
                <a:lnTo>
                  <a:pt x="5156200" y="0"/>
                </a:lnTo>
                <a:cubicBezTo>
                  <a:pt x="5225870" y="0"/>
                  <a:pt x="5283200" y="57330"/>
                  <a:pt x="5283200" y="127000"/>
                </a:cubicBezTo>
                <a:lnTo>
                  <a:pt x="5283200" y="2493963"/>
                </a:lnTo>
                <a:cubicBezTo>
                  <a:pt x="5283200" y="2563633"/>
                  <a:pt x="5225870" y="2620963"/>
                  <a:pt x="5156200" y="2620963"/>
                </a:cubicBezTo>
                <a:lnTo>
                  <a:pt x="127000" y="2620963"/>
                </a:lnTo>
                <a:cubicBezTo>
                  <a:pt x="57330" y="2620963"/>
                  <a:pt x="0" y="2563633"/>
                  <a:pt x="0" y="2493963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6233A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98500" y="1841500"/>
            <a:ext cx="5283200" cy="2620963"/>
          </a:xfrm>
          <a:custGeom>
            <a:avLst/>
            <a:gdLst/>
            <a:ahLst/>
            <a:cxnLst/>
            <a:rect l="l" t="t" r="r" b="b"/>
            <a:pathLst>
              <a:path w="5283200" h="2620963">
                <a:moveTo>
                  <a:pt x="127000" y="0"/>
                </a:moveTo>
                <a:lnTo>
                  <a:pt x="5156200" y="0"/>
                </a:lnTo>
                <a:cubicBezTo>
                  <a:pt x="5225870" y="0"/>
                  <a:pt x="5283200" y="57330"/>
                  <a:pt x="5283200" y="127000"/>
                </a:cubicBezTo>
                <a:lnTo>
                  <a:pt x="5283200" y="2493963"/>
                </a:lnTo>
                <a:cubicBezTo>
                  <a:pt x="5283200" y="2563633"/>
                  <a:pt x="5225870" y="2620963"/>
                  <a:pt x="5156200" y="2620963"/>
                </a:cubicBezTo>
                <a:lnTo>
                  <a:pt x="127000" y="2620963"/>
                </a:lnTo>
                <a:cubicBezTo>
                  <a:pt x="57330" y="2620963"/>
                  <a:pt x="0" y="2563633"/>
                  <a:pt x="0" y="2493963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04850" y="1847850"/>
            <a:ext cx="5270500" cy="685800"/>
          </a:xfrm>
          <a:custGeom>
            <a:avLst/>
            <a:gdLst/>
            <a:ahLst/>
            <a:cxnLst/>
            <a:rect l="l" t="t" r="r" b="b"/>
            <a:pathLst>
              <a:path w="5270500" h="685800">
                <a:moveTo>
                  <a:pt x="127000" y="0"/>
                </a:moveTo>
                <a:lnTo>
                  <a:pt x="5143500" y="0"/>
                </a:lnTo>
                <a:cubicBezTo>
                  <a:pt x="5213170" y="0"/>
                  <a:pt x="5270500" y="57330"/>
                  <a:pt x="5270500" y="127000"/>
                </a:cubicBezTo>
                <a:lnTo>
                  <a:pt x="5270500" y="685800"/>
                </a:lnTo>
                <a:cubicBezTo>
                  <a:pt x="5270500" y="685800"/>
                  <a:pt x="5270500" y="685800"/>
                  <a:pt x="5270500" y="685800"/>
                </a:cubicBezTo>
                <a:lnTo>
                  <a:pt x="0" y="685800"/>
                </a:lnTo>
                <a:cubicBezTo>
                  <a:pt x="0" y="685800"/>
                  <a:pt x="0" y="685800"/>
                  <a:pt x="0" y="6858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EBEDF0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5550" y="2006600"/>
            <a:ext cx="150872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แชท AI ทั่วไป</a:t>
            </a:r>
            <a:endParaRPr lang="th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2076450"/>
            <a:ext cx="228600" cy="2286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711450"/>
            <a:ext cx="165100" cy="165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2050" y="2686050"/>
            <a:ext cx="4446488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ต้องอธิบายเกณฑ์และบริบทซ้ำทุกครั้งที่เริ่มแชทใหม่</a:t>
            </a:r>
            <a:endParaRPr lang="th" sz="1600" dirty="0"/>
          </a:p>
        </p:txBody>
      </p:sp>
      <p:sp>
        <p:nvSpPr>
          <p:cNvPr id="12" name="Shape 8"/>
          <p:cNvSpPr/>
          <p:nvPr/>
        </p:nvSpPr>
        <p:spPr>
          <a:xfrm>
            <a:off x="895350" y="3065066"/>
            <a:ext cx="4889500" cy="0"/>
          </a:xfrm>
          <a:prstGeom prst="line">
            <a:avLst/>
          </a:pr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3195241"/>
            <a:ext cx="206375" cy="1651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3325" y="3169841"/>
            <a:ext cx="4093567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หลุดบริบทง่ายเมื่อบทสนทนายาว ผลลัพธ์ไม่คงที่</a:t>
            </a:r>
            <a:endParaRPr lang="th" sz="1600" dirty="0"/>
          </a:p>
        </p:txBody>
      </p:sp>
      <p:sp>
        <p:nvSpPr>
          <p:cNvPr id="15" name="Shape 10"/>
          <p:cNvSpPr/>
          <p:nvPr/>
        </p:nvSpPr>
        <p:spPr>
          <a:xfrm>
            <a:off x="895350" y="3548856"/>
            <a:ext cx="4889500" cy="0"/>
          </a:xfrm>
          <a:prstGeom prst="line">
            <a:avLst/>
          </a:pr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3679031"/>
            <a:ext cx="165100" cy="1651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1413" y="3653631"/>
            <a:ext cx="429150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เป็นงานเฉพาะบุคคล แชร์หรือถ่ายทอดให้ทีมไม่ได้</a:t>
            </a:r>
            <a:endParaRPr lang="th" sz="1600" dirty="0"/>
          </a:p>
        </p:txBody>
      </p:sp>
      <p:sp>
        <p:nvSpPr>
          <p:cNvPr id="18" name="CSS box-shadow background"/>
          <p:cNvSpPr/>
          <p:nvPr/>
        </p:nvSpPr>
        <p:spPr>
          <a:xfrm>
            <a:off x="6210300" y="1841500"/>
            <a:ext cx="5283200" cy="2620963"/>
          </a:xfrm>
          <a:custGeom>
            <a:avLst/>
            <a:gdLst/>
            <a:ahLst/>
            <a:cxnLst/>
            <a:rect l="l" t="t" r="r" b="b"/>
            <a:pathLst>
              <a:path w="5283200" h="2620963">
                <a:moveTo>
                  <a:pt x="127000" y="0"/>
                </a:moveTo>
                <a:lnTo>
                  <a:pt x="5156200" y="0"/>
                </a:lnTo>
                <a:cubicBezTo>
                  <a:pt x="5225870" y="0"/>
                  <a:pt x="5283200" y="57330"/>
                  <a:pt x="5283200" y="127000"/>
                </a:cubicBezTo>
                <a:lnTo>
                  <a:pt x="5283200" y="2493963"/>
                </a:lnTo>
                <a:cubicBezTo>
                  <a:pt x="5283200" y="2563633"/>
                  <a:pt x="5225870" y="2620963"/>
                  <a:pt x="5156200" y="2620963"/>
                </a:cubicBezTo>
                <a:lnTo>
                  <a:pt x="127000" y="2620963"/>
                </a:lnTo>
                <a:cubicBezTo>
                  <a:pt x="57330" y="2620963"/>
                  <a:pt x="0" y="2563633"/>
                  <a:pt x="0" y="2493963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6233A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6210300" y="1841500"/>
            <a:ext cx="5283200" cy="2620963"/>
          </a:xfrm>
          <a:custGeom>
            <a:avLst/>
            <a:gdLst/>
            <a:ahLst/>
            <a:cxnLst/>
            <a:rect l="l" t="t" r="r" b="b"/>
            <a:pathLst>
              <a:path w="5283200" h="2620963">
                <a:moveTo>
                  <a:pt x="127000" y="0"/>
                </a:moveTo>
                <a:lnTo>
                  <a:pt x="5156200" y="0"/>
                </a:lnTo>
                <a:cubicBezTo>
                  <a:pt x="5225870" y="0"/>
                  <a:pt x="5283200" y="57330"/>
                  <a:pt x="5283200" y="127000"/>
                </a:cubicBezTo>
                <a:lnTo>
                  <a:pt x="5283200" y="2493963"/>
                </a:lnTo>
                <a:cubicBezTo>
                  <a:pt x="5283200" y="2563633"/>
                  <a:pt x="5225870" y="2620963"/>
                  <a:pt x="5156200" y="2620963"/>
                </a:cubicBezTo>
                <a:lnTo>
                  <a:pt x="127000" y="2620963"/>
                </a:lnTo>
                <a:cubicBezTo>
                  <a:pt x="57330" y="2620963"/>
                  <a:pt x="0" y="2563633"/>
                  <a:pt x="0" y="2493963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6216650" y="1847850"/>
            <a:ext cx="5270500" cy="685800"/>
          </a:xfrm>
          <a:custGeom>
            <a:avLst/>
            <a:gdLst/>
            <a:ahLst/>
            <a:cxnLst/>
            <a:rect l="l" t="t" r="r" b="b"/>
            <a:pathLst>
              <a:path w="5270500" h="685800">
                <a:moveTo>
                  <a:pt x="127000" y="0"/>
                </a:moveTo>
                <a:lnTo>
                  <a:pt x="5143500" y="0"/>
                </a:lnTo>
                <a:cubicBezTo>
                  <a:pt x="5213170" y="0"/>
                  <a:pt x="5270500" y="57330"/>
                  <a:pt x="5270500" y="127000"/>
                </a:cubicBezTo>
                <a:lnTo>
                  <a:pt x="5270500" y="685800"/>
                </a:lnTo>
                <a:cubicBezTo>
                  <a:pt x="5270500" y="685800"/>
                  <a:pt x="5270500" y="685800"/>
                  <a:pt x="5270500" y="685800"/>
                </a:cubicBezTo>
                <a:lnTo>
                  <a:pt x="0" y="685800"/>
                </a:lnTo>
                <a:cubicBezTo>
                  <a:pt x="0" y="685800"/>
                  <a:pt x="0" y="685800"/>
                  <a:pt x="0" y="6858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737350" y="2006600"/>
            <a:ext cx="383996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Custom Gem ใน Gem Manager</a:t>
            </a:r>
            <a:endParaRPr lang="th" sz="2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7150" y="2076450"/>
            <a:ext cx="228600" cy="228600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7150" y="2711450"/>
            <a:ext cx="165100" cy="1651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53212" y="2686050"/>
            <a:ext cx="392241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ตั้งชุดคำสั่งครั้งเดียว ใช้ซ้ำได้ทุกครั้งที่เรียกใช้</a:t>
            </a:r>
            <a:endParaRPr lang="th" sz="1600" dirty="0"/>
          </a:p>
        </p:txBody>
      </p:sp>
      <p:sp>
        <p:nvSpPr>
          <p:cNvPr id="25" name="Shape 17"/>
          <p:cNvSpPr/>
          <p:nvPr/>
        </p:nvSpPr>
        <p:spPr>
          <a:xfrm>
            <a:off x="6407150" y="3065066"/>
            <a:ext cx="4889500" cy="0"/>
          </a:xfrm>
          <a:prstGeom prst="line">
            <a:avLst/>
          </a:pr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7150" y="3195241"/>
            <a:ext cx="206375" cy="1651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15125" y="3169841"/>
            <a:ext cx="453707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ให้ผลตามมาตรฐานเดิม ตรวจงานด้วยเกณฑ์เดียวกัน</a:t>
            </a:r>
            <a:endParaRPr lang="th" sz="1600" dirty="0"/>
          </a:p>
        </p:txBody>
      </p:sp>
      <p:sp>
        <p:nvSpPr>
          <p:cNvPr id="28" name="Text 19"/>
          <p:cNvSpPr/>
          <p:nvPr/>
        </p:nvSpPr>
        <p:spPr>
          <a:xfrm>
            <a:off x="6715125" y="3444081"/>
            <a:ext cx="449461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เสมอ</a:t>
            </a:r>
            <a:endParaRPr lang="th" sz="1600" dirty="0"/>
          </a:p>
        </p:txBody>
      </p:sp>
      <p:sp>
        <p:nvSpPr>
          <p:cNvPr id="29" name="Shape 20"/>
          <p:cNvSpPr/>
          <p:nvPr/>
        </p:nvSpPr>
        <p:spPr>
          <a:xfrm>
            <a:off x="6407150" y="3823097"/>
            <a:ext cx="4889500" cy="0"/>
          </a:xfrm>
          <a:prstGeom prst="line">
            <a:avLst/>
          </a:pr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7150" y="3953272"/>
            <a:ext cx="206375" cy="1651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715125" y="3927872"/>
            <a:ext cx="369966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แชร์ให้ทีมอาจารย์ใช้ร่วมกันได้ ทั้งหลักสูตร</a:t>
            </a:r>
            <a:endParaRPr lang="th" sz="1600" dirty="0"/>
          </a:p>
        </p:txBody>
      </p:sp>
      <p:sp>
        <p:nvSpPr>
          <p:cNvPr id="32" name="CSS box-shadow background"/>
          <p:cNvSpPr/>
          <p:nvPr/>
        </p:nvSpPr>
        <p:spPr>
          <a:xfrm>
            <a:off x="698500" y="5358209"/>
            <a:ext cx="3471267" cy="1042591"/>
          </a:xfrm>
          <a:custGeom>
            <a:avLst/>
            <a:gdLst/>
            <a:ahLst/>
            <a:cxnLst/>
            <a:rect l="l" t="t" r="r" b="b"/>
            <a:pathLst>
              <a:path w="3471267" h="1042591">
                <a:moveTo>
                  <a:pt x="127000" y="0"/>
                </a:moveTo>
                <a:lnTo>
                  <a:pt x="3344267" y="0"/>
                </a:lnTo>
                <a:cubicBezTo>
                  <a:pt x="3413937" y="0"/>
                  <a:pt x="3471267" y="57330"/>
                  <a:pt x="3471267" y="127000"/>
                </a:cubicBezTo>
                <a:lnTo>
                  <a:pt x="3471267" y="915591"/>
                </a:lnTo>
                <a:cubicBezTo>
                  <a:pt x="3471267" y="985261"/>
                  <a:pt x="3413937" y="1042591"/>
                  <a:pt x="3344267" y="1042591"/>
                </a:cubicBezTo>
                <a:lnTo>
                  <a:pt x="127000" y="1042591"/>
                </a:lnTo>
                <a:cubicBezTo>
                  <a:pt x="57330" y="1042591"/>
                  <a:pt x="0" y="985261"/>
                  <a:pt x="0" y="9155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65100" dist="635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23"/>
          <p:cNvSpPr/>
          <p:nvPr/>
        </p:nvSpPr>
        <p:spPr>
          <a:xfrm>
            <a:off x="698500" y="5358209"/>
            <a:ext cx="3471267" cy="1042591"/>
          </a:xfrm>
          <a:custGeom>
            <a:avLst/>
            <a:gdLst/>
            <a:ahLst/>
            <a:cxnLst/>
            <a:rect l="l" t="t" r="r" b="b"/>
            <a:pathLst>
              <a:path w="3471267" h="1042591">
                <a:moveTo>
                  <a:pt x="127000" y="0"/>
                </a:moveTo>
                <a:lnTo>
                  <a:pt x="3344267" y="0"/>
                </a:lnTo>
                <a:cubicBezTo>
                  <a:pt x="3413937" y="0"/>
                  <a:pt x="3471267" y="57330"/>
                  <a:pt x="3471267" y="127000"/>
                </a:cubicBezTo>
                <a:lnTo>
                  <a:pt x="3471267" y="915591"/>
                </a:lnTo>
                <a:cubicBezTo>
                  <a:pt x="3471267" y="985261"/>
                  <a:pt x="3413937" y="1042591"/>
                  <a:pt x="3344267" y="1042591"/>
                </a:cubicBezTo>
                <a:lnTo>
                  <a:pt x="127000" y="1042591"/>
                </a:lnTo>
                <a:cubicBezTo>
                  <a:pt x="57330" y="1042591"/>
                  <a:pt x="0" y="985261"/>
                  <a:pt x="0" y="9155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24"/>
          <p:cNvSpPr/>
          <p:nvPr/>
        </p:nvSpPr>
        <p:spPr>
          <a:xfrm>
            <a:off x="882650" y="551695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536" y="0"/>
                  <a:pt x="406400" y="45864"/>
                  <a:pt x="406400" y="101600"/>
                </a:cubicBezTo>
                <a:lnTo>
                  <a:pt x="406400" y="304800"/>
                </a:lnTo>
                <a:cubicBezTo>
                  <a:pt x="406400" y="360536"/>
                  <a:pt x="360536" y="406400"/>
                  <a:pt x="304800" y="406400"/>
                </a:cubicBezTo>
                <a:lnTo>
                  <a:pt x="101600" y="406400"/>
                </a:lnTo>
                <a:cubicBezTo>
                  <a:pt x="45864" y="406400"/>
                  <a:pt x="0" y="360536"/>
                  <a:pt x="0" y="3048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E8EC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5624909"/>
            <a:ext cx="190500" cy="1905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416050" y="5529659"/>
            <a:ext cx="13032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บทบาทและภารกิจ</a:t>
            </a:r>
            <a:endParaRPr lang="th" sz="1300" dirty="0"/>
          </a:p>
        </p:txBody>
      </p:sp>
      <p:sp>
        <p:nvSpPr>
          <p:cNvPr id="37" name="Text 26"/>
          <p:cNvSpPr/>
          <p:nvPr/>
        </p:nvSpPr>
        <p:spPr>
          <a:xfrm>
            <a:off x="1416050" y="5815409"/>
            <a:ext cx="231179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กำหนดว่า Gem เป็นผู้ช่วยตรวจงาน</a:t>
            </a:r>
            <a:endParaRPr lang="th" sz="1200" dirty="0"/>
          </a:p>
        </p:txBody>
      </p:sp>
      <p:sp>
        <p:nvSpPr>
          <p:cNvPr id="38" name="Text 27"/>
          <p:cNvSpPr/>
          <p:nvPr/>
        </p:nvSpPr>
        <p:spPr>
          <a:xfrm>
            <a:off x="1416050" y="6028730"/>
            <a:ext cx="11142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สาขาใด ระดับใด</a:t>
            </a:r>
            <a:endParaRPr lang="th" sz="1200" dirty="0"/>
          </a:p>
        </p:txBody>
      </p:sp>
      <p:sp>
        <p:nvSpPr>
          <p:cNvPr id="39" name="CSS box-shadow background"/>
          <p:cNvSpPr/>
          <p:nvPr/>
        </p:nvSpPr>
        <p:spPr>
          <a:xfrm>
            <a:off x="4360267" y="5358209"/>
            <a:ext cx="3471366" cy="1042591"/>
          </a:xfrm>
          <a:custGeom>
            <a:avLst/>
            <a:gdLst/>
            <a:ahLst/>
            <a:cxnLst/>
            <a:rect l="l" t="t" r="r" b="b"/>
            <a:pathLst>
              <a:path w="3471366" h="1042591">
                <a:moveTo>
                  <a:pt x="127000" y="0"/>
                </a:moveTo>
                <a:lnTo>
                  <a:pt x="3344367" y="0"/>
                </a:lnTo>
                <a:cubicBezTo>
                  <a:pt x="3414037" y="0"/>
                  <a:pt x="3471367" y="57330"/>
                  <a:pt x="3471367" y="127000"/>
                </a:cubicBezTo>
                <a:lnTo>
                  <a:pt x="3471367" y="915591"/>
                </a:lnTo>
                <a:cubicBezTo>
                  <a:pt x="3471367" y="985261"/>
                  <a:pt x="3414037" y="1042591"/>
                  <a:pt x="3344367" y="1042591"/>
                </a:cubicBezTo>
                <a:lnTo>
                  <a:pt x="127000" y="1042591"/>
                </a:lnTo>
                <a:cubicBezTo>
                  <a:pt x="57330" y="1042591"/>
                  <a:pt x="0" y="985261"/>
                  <a:pt x="0" y="9155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65100" dist="635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29"/>
          <p:cNvSpPr/>
          <p:nvPr/>
        </p:nvSpPr>
        <p:spPr>
          <a:xfrm>
            <a:off x="4360267" y="5358209"/>
            <a:ext cx="3471366" cy="1042591"/>
          </a:xfrm>
          <a:custGeom>
            <a:avLst/>
            <a:gdLst/>
            <a:ahLst/>
            <a:cxnLst/>
            <a:rect l="l" t="t" r="r" b="b"/>
            <a:pathLst>
              <a:path w="3471366" h="1042591">
                <a:moveTo>
                  <a:pt x="127000" y="0"/>
                </a:moveTo>
                <a:lnTo>
                  <a:pt x="3344367" y="0"/>
                </a:lnTo>
                <a:cubicBezTo>
                  <a:pt x="3414037" y="0"/>
                  <a:pt x="3471367" y="57330"/>
                  <a:pt x="3471367" y="127000"/>
                </a:cubicBezTo>
                <a:lnTo>
                  <a:pt x="3471367" y="915591"/>
                </a:lnTo>
                <a:cubicBezTo>
                  <a:pt x="3471367" y="985261"/>
                  <a:pt x="3414037" y="1042591"/>
                  <a:pt x="3344367" y="1042591"/>
                </a:cubicBezTo>
                <a:lnTo>
                  <a:pt x="127000" y="1042591"/>
                </a:lnTo>
                <a:cubicBezTo>
                  <a:pt x="57330" y="1042591"/>
                  <a:pt x="0" y="985261"/>
                  <a:pt x="0" y="9155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0"/>
          <p:cNvSpPr/>
          <p:nvPr/>
        </p:nvSpPr>
        <p:spPr>
          <a:xfrm>
            <a:off x="4544417" y="551695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536" y="0"/>
                  <a:pt x="406400" y="45864"/>
                  <a:pt x="406400" y="101600"/>
                </a:cubicBezTo>
                <a:lnTo>
                  <a:pt x="406400" y="304800"/>
                </a:lnTo>
                <a:cubicBezTo>
                  <a:pt x="406400" y="360536"/>
                  <a:pt x="360536" y="406400"/>
                  <a:pt x="304800" y="406400"/>
                </a:cubicBezTo>
                <a:lnTo>
                  <a:pt x="101600" y="406400"/>
                </a:lnTo>
                <a:cubicBezTo>
                  <a:pt x="45864" y="406400"/>
                  <a:pt x="0" y="360536"/>
                  <a:pt x="0" y="3048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E8EC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52367" y="5624909"/>
            <a:ext cx="190500" cy="19050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077817" y="5529659"/>
            <a:ext cx="2419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เกณฑ์ Rubric และน้ำหนักคะแนน</a:t>
            </a:r>
            <a:endParaRPr lang="th" sz="1300" dirty="0"/>
          </a:p>
        </p:txBody>
      </p:sp>
      <p:sp>
        <p:nvSpPr>
          <p:cNvPr id="44" name="Text 32"/>
          <p:cNvSpPr/>
          <p:nvPr/>
        </p:nvSpPr>
        <p:spPr>
          <a:xfrm>
            <a:off x="5077817" y="5815409"/>
            <a:ext cx="237460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วางเกณฑ์ ระดับคุณภาพ และสัดส่วน</a:t>
            </a:r>
            <a:endParaRPr lang="th" sz="1200" dirty="0"/>
          </a:p>
        </p:txBody>
      </p:sp>
      <p:sp>
        <p:nvSpPr>
          <p:cNvPr id="45" name="Text 33"/>
          <p:cNvSpPr/>
          <p:nvPr/>
        </p:nvSpPr>
        <p:spPr>
          <a:xfrm>
            <a:off x="5077817" y="6028730"/>
            <a:ext cx="11132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คะแนนให้ชัดเจน</a:t>
            </a:r>
            <a:endParaRPr lang="th" sz="1200" dirty="0"/>
          </a:p>
        </p:txBody>
      </p:sp>
      <p:sp>
        <p:nvSpPr>
          <p:cNvPr id="46" name="CSS box-shadow background"/>
          <p:cNvSpPr/>
          <p:nvPr/>
        </p:nvSpPr>
        <p:spPr>
          <a:xfrm>
            <a:off x="8022134" y="5358209"/>
            <a:ext cx="3471366" cy="1042591"/>
          </a:xfrm>
          <a:custGeom>
            <a:avLst/>
            <a:gdLst/>
            <a:ahLst/>
            <a:cxnLst/>
            <a:rect l="l" t="t" r="r" b="b"/>
            <a:pathLst>
              <a:path w="3471366" h="1042591">
                <a:moveTo>
                  <a:pt x="127000" y="0"/>
                </a:moveTo>
                <a:lnTo>
                  <a:pt x="3344367" y="0"/>
                </a:lnTo>
                <a:cubicBezTo>
                  <a:pt x="3414037" y="0"/>
                  <a:pt x="3471367" y="57330"/>
                  <a:pt x="3471367" y="127000"/>
                </a:cubicBezTo>
                <a:lnTo>
                  <a:pt x="3471367" y="915591"/>
                </a:lnTo>
                <a:cubicBezTo>
                  <a:pt x="3471367" y="985261"/>
                  <a:pt x="3414037" y="1042591"/>
                  <a:pt x="3344367" y="1042591"/>
                </a:cubicBezTo>
                <a:lnTo>
                  <a:pt x="127000" y="1042591"/>
                </a:lnTo>
                <a:cubicBezTo>
                  <a:pt x="57330" y="1042591"/>
                  <a:pt x="0" y="985261"/>
                  <a:pt x="0" y="9155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65100" dist="635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35"/>
          <p:cNvSpPr/>
          <p:nvPr/>
        </p:nvSpPr>
        <p:spPr>
          <a:xfrm>
            <a:off x="8022134" y="5358209"/>
            <a:ext cx="3471366" cy="1042591"/>
          </a:xfrm>
          <a:custGeom>
            <a:avLst/>
            <a:gdLst/>
            <a:ahLst/>
            <a:cxnLst/>
            <a:rect l="l" t="t" r="r" b="b"/>
            <a:pathLst>
              <a:path w="3471366" h="1042591">
                <a:moveTo>
                  <a:pt x="127000" y="0"/>
                </a:moveTo>
                <a:lnTo>
                  <a:pt x="3344367" y="0"/>
                </a:lnTo>
                <a:cubicBezTo>
                  <a:pt x="3414037" y="0"/>
                  <a:pt x="3471367" y="57330"/>
                  <a:pt x="3471367" y="127000"/>
                </a:cubicBezTo>
                <a:lnTo>
                  <a:pt x="3471367" y="915591"/>
                </a:lnTo>
                <a:cubicBezTo>
                  <a:pt x="3471367" y="985261"/>
                  <a:pt x="3414037" y="1042591"/>
                  <a:pt x="3344367" y="1042591"/>
                </a:cubicBezTo>
                <a:lnTo>
                  <a:pt x="127000" y="1042591"/>
                </a:lnTo>
                <a:cubicBezTo>
                  <a:pt x="57330" y="1042591"/>
                  <a:pt x="0" y="985261"/>
                  <a:pt x="0" y="9155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36"/>
          <p:cNvSpPr/>
          <p:nvPr/>
        </p:nvSpPr>
        <p:spPr>
          <a:xfrm>
            <a:off x="8206284" y="551695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536" y="0"/>
                  <a:pt x="406400" y="45864"/>
                  <a:pt x="406400" y="101600"/>
                </a:cubicBezTo>
                <a:lnTo>
                  <a:pt x="406400" y="304800"/>
                </a:lnTo>
                <a:cubicBezTo>
                  <a:pt x="406400" y="360536"/>
                  <a:pt x="360536" y="406400"/>
                  <a:pt x="304800" y="406400"/>
                </a:cubicBezTo>
                <a:lnTo>
                  <a:pt x="101600" y="406400"/>
                </a:lnTo>
                <a:cubicBezTo>
                  <a:pt x="45864" y="406400"/>
                  <a:pt x="0" y="360536"/>
                  <a:pt x="0" y="3048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E8EC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8046" y="5624909"/>
            <a:ext cx="190500" cy="19050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8739684" y="5529659"/>
            <a:ext cx="9085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กติกาผลลัพธ์</a:t>
            </a:r>
            <a:endParaRPr lang="th" sz="1300" dirty="0"/>
          </a:p>
        </p:txBody>
      </p:sp>
      <p:sp>
        <p:nvSpPr>
          <p:cNvPr id="51" name="Text 38"/>
          <p:cNvSpPr/>
          <p:nvPr/>
        </p:nvSpPr>
        <p:spPr>
          <a:xfrm>
            <a:off x="8739684" y="5815409"/>
            <a:ext cx="25612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กำหนดรูปแบบคำตอบและข้อจำกัด เช่น</a:t>
            </a:r>
            <a:endParaRPr lang="th" sz="1200" dirty="0"/>
          </a:p>
        </p:txBody>
      </p:sp>
      <p:sp>
        <p:nvSpPr>
          <p:cNvPr id="52" name="Text 39"/>
          <p:cNvSpPr/>
          <p:nvPr/>
        </p:nvSpPr>
        <p:spPr>
          <a:xfrm>
            <a:off x="8739684" y="6028730"/>
            <a:ext cx="141039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ต้องอ้าง rubric ทุกข้อ</a:t>
            </a:r>
            <a:endParaRPr lang="th" sz="1200" dirty="0"/>
          </a:p>
        </p:txBody>
      </p:sp>
      <p:sp>
        <p:nvSpPr>
          <p:cNvPr id="53" name="Text 40"/>
          <p:cNvSpPr/>
          <p:nvPr/>
        </p:nvSpPr>
        <p:spPr>
          <a:xfrm>
            <a:off x="960437" y="4996259"/>
            <a:ext cx="41270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2330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หัวใจของ Gem คือการฝังเกณฑ์ลง System Instructions</a:t>
            </a:r>
            <a:endParaRPr lang="th" sz="13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8500" y="5031184"/>
            <a:ext cx="185738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698500" y="692150"/>
            <a:ext cx="6861373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Use Case ระดับหลักสูตรและงานบริหาร</a:t>
            </a:r>
            <a:endParaRPr lang="th" sz="3200" dirty="0"/>
          </a:p>
        </p:txBody>
      </p:sp>
      <p:sp>
        <p:nvSpPr>
          <p:cNvPr id="2" name="Text 1"/>
          <p:cNvSpPr/>
          <p:nvPr/>
        </p:nvSpPr>
        <p:spPr>
          <a:xfrm>
            <a:off x="698500" y="1286966"/>
            <a:ext cx="77432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สอง Gem ที่คณาจารย์นำไปใช้ได้ทันทีหลังอบรม — ตรวจงานให้คะแนน และตรวจความสอดคล้องของหลักสูตร</a:t>
            </a:r>
            <a:endParaRPr lang="th" sz="1300" dirty="0"/>
          </a:p>
        </p:txBody>
      </p:sp>
      <p:sp>
        <p:nvSpPr>
          <p:cNvPr id="3" name="Text 2"/>
          <p:cNvSpPr/>
          <p:nvPr/>
        </p:nvSpPr>
        <p:spPr>
          <a:xfrm>
            <a:off x="955377" y="431800"/>
            <a:ext cx="16686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72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14 · USE CASE</a:t>
            </a:r>
            <a:endParaRPr lang="th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66725"/>
            <a:ext cx="180677" cy="152400"/>
          </a:xfrm>
          <a:prstGeom prst="rect">
            <a:avLst/>
          </a:prstGeom>
        </p:spPr>
      </p:pic>
      <p:sp>
        <p:nvSpPr>
          <p:cNvPr id="5" name="CSS box-shadow background"/>
          <p:cNvSpPr/>
          <p:nvPr/>
        </p:nvSpPr>
        <p:spPr>
          <a:xfrm>
            <a:off x="698500" y="1879600"/>
            <a:ext cx="5276850" cy="3346748"/>
          </a:xfrm>
          <a:custGeom>
            <a:avLst/>
            <a:gdLst/>
            <a:ahLst/>
            <a:cxnLst/>
            <a:rect l="l" t="t" r="r" b="b"/>
            <a:pathLst>
              <a:path w="5276850" h="3346748">
                <a:moveTo>
                  <a:pt x="127000" y="0"/>
                </a:moveTo>
                <a:lnTo>
                  <a:pt x="5149850" y="0"/>
                </a:lnTo>
                <a:cubicBezTo>
                  <a:pt x="5219520" y="0"/>
                  <a:pt x="5276850" y="57330"/>
                  <a:pt x="5276850" y="127000"/>
                </a:cubicBezTo>
                <a:lnTo>
                  <a:pt x="5276850" y="3219747"/>
                </a:lnTo>
                <a:cubicBezTo>
                  <a:pt x="5276850" y="3289417"/>
                  <a:pt x="5219520" y="3346747"/>
                  <a:pt x="5149850" y="3346747"/>
                </a:cubicBezTo>
                <a:lnTo>
                  <a:pt x="127000" y="3346747"/>
                </a:lnTo>
                <a:cubicBezTo>
                  <a:pt x="57330" y="3346747"/>
                  <a:pt x="0" y="3289417"/>
                  <a:pt x="0" y="321974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28600" dist="88900" dir="5400000" algn="bl" rotWithShape="0">
              <a:srgbClr val="16233A">
                <a:alpha val="7059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98500" y="1879600"/>
            <a:ext cx="5276850" cy="3346748"/>
          </a:xfrm>
          <a:custGeom>
            <a:avLst/>
            <a:gdLst/>
            <a:ahLst/>
            <a:cxnLst/>
            <a:rect l="l" t="t" r="r" b="b"/>
            <a:pathLst>
              <a:path w="5276850" h="3346748">
                <a:moveTo>
                  <a:pt x="127000" y="0"/>
                </a:moveTo>
                <a:lnTo>
                  <a:pt x="5149850" y="0"/>
                </a:lnTo>
                <a:cubicBezTo>
                  <a:pt x="5219520" y="0"/>
                  <a:pt x="5276850" y="57330"/>
                  <a:pt x="5276850" y="127000"/>
                </a:cubicBezTo>
                <a:lnTo>
                  <a:pt x="5276850" y="3219747"/>
                </a:lnTo>
                <a:cubicBezTo>
                  <a:pt x="5276850" y="3289417"/>
                  <a:pt x="5219520" y="3346747"/>
                  <a:pt x="5149850" y="3346747"/>
                </a:cubicBezTo>
                <a:lnTo>
                  <a:pt x="127000" y="3346747"/>
                </a:lnTo>
                <a:cubicBezTo>
                  <a:pt x="57330" y="3346747"/>
                  <a:pt x="0" y="3289417"/>
                  <a:pt x="0" y="321974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04850" y="1885950"/>
            <a:ext cx="5264150" cy="908050"/>
          </a:xfrm>
          <a:custGeom>
            <a:avLst/>
            <a:gdLst/>
            <a:ahLst/>
            <a:cxnLst/>
            <a:rect l="l" t="t" r="r" b="b"/>
            <a:pathLst>
              <a:path w="5264150" h="908050">
                <a:moveTo>
                  <a:pt x="127000" y="0"/>
                </a:moveTo>
                <a:lnTo>
                  <a:pt x="5137150" y="0"/>
                </a:lnTo>
                <a:cubicBezTo>
                  <a:pt x="5206820" y="0"/>
                  <a:pt x="5264150" y="57330"/>
                  <a:pt x="5264150" y="127000"/>
                </a:cubicBezTo>
                <a:lnTo>
                  <a:pt x="5264150" y="908050"/>
                </a:lnTo>
                <a:cubicBezTo>
                  <a:pt x="5264150" y="908050"/>
                  <a:pt x="5264150" y="908050"/>
                  <a:pt x="5264150" y="908050"/>
                </a:cubicBezTo>
                <a:lnTo>
                  <a:pt x="0" y="908050"/>
                </a:lnTo>
                <a:cubicBezTo>
                  <a:pt x="0" y="908050"/>
                  <a:pt x="0" y="908050"/>
                  <a:pt x="0" y="90805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20750" y="2092325"/>
            <a:ext cx="520700" cy="520700"/>
          </a:xfrm>
          <a:custGeom>
            <a:avLst/>
            <a:gdLst/>
            <a:ahLst/>
            <a:cxnLst/>
            <a:rect l="l" t="t" r="r" b="b"/>
            <a:pathLst>
              <a:path w="520700" h="520700">
                <a:moveTo>
                  <a:pt x="127000" y="0"/>
                </a:moveTo>
                <a:lnTo>
                  <a:pt x="393700" y="0"/>
                </a:lnTo>
                <a:cubicBezTo>
                  <a:pt x="463370" y="0"/>
                  <a:pt x="520700" y="57330"/>
                  <a:pt x="520700" y="127000"/>
                </a:cubicBezTo>
                <a:lnTo>
                  <a:pt x="520700" y="393700"/>
                </a:lnTo>
                <a:cubicBezTo>
                  <a:pt x="520700" y="463370"/>
                  <a:pt x="463370" y="520700"/>
                  <a:pt x="393700" y="520700"/>
                </a:cubicBezTo>
                <a:lnTo>
                  <a:pt x="127000" y="520700"/>
                </a:lnTo>
                <a:cubicBezTo>
                  <a:pt x="57330" y="520700"/>
                  <a:pt x="0" y="463370"/>
                  <a:pt x="0" y="3937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12A594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2225675"/>
            <a:ext cx="254000" cy="254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81150" y="2038350"/>
            <a:ext cx="248086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360° Evaluator Gem</a:t>
            </a:r>
            <a:endParaRPr lang="th" sz="2000" dirty="0"/>
          </a:p>
        </p:txBody>
      </p:sp>
      <p:sp>
        <p:nvSpPr>
          <p:cNvPr id="11" name="Text 8"/>
          <p:cNvSpPr/>
          <p:nvPr/>
        </p:nvSpPr>
        <p:spPr>
          <a:xfrm>
            <a:off x="1581150" y="2406650"/>
            <a:ext cx="29987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ผู้ช่วยตรวจรายงานและให้คะแนนตาม Rubric</a:t>
            </a:r>
            <a:endParaRPr lang="th" sz="1200" dirty="0"/>
          </a:p>
        </p:txBody>
      </p:sp>
      <p:sp>
        <p:nvSpPr>
          <p:cNvPr id="12" name="Text 9"/>
          <p:cNvSpPr/>
          <p:nvPr/>
        </p:nvSpPr>
        <p:spPr>
          <a:xfrm>
            <a:off x="920750" y="2800350"/>
            <a:ext cx="438279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ตรวจชิ้นงานนักศึกษากับเกณฑ์ที่กำหนด ให้คะแนน</a:t>
            </a:r>
            <a:endParaRPr lang="th" sz="1600" dirty="0"/>
          </a:p>
        </p:txBody>
      </p:sp>
      <p:sp>
        <p:nvSpPr>
          <p:cNvPr id="13" name="Text 10"/>
          <p:cNvSpPr/>
          <p:nvPr/>
        </p:nvSpPr>
        <p:spPr>
          <a:xfrm>
            <a:off x="920750" y="3088878"/>
            <a:ext cx="4707731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สอดคล้องพร้อมร่าง Feedback เชิงบวกที่นำไปใช้ต่อได้</a:t>
            </a:r>
            <a:endParaRPr lang="th" sz="1600" dirty="0"/>
          </a:p>
        </p:txBody>
      </p:sp>
      <p:sp>
        <p:nvSpPr>
          <p:cNvPr id="14" name="Shape 11"/>
          <p:cNvSpPr/>
          <p:nvPr/>
        </p:nvSpPr>
        <p:spPr>
          <a:xfrm>
            <a:off x="920750" y="3523456"/>
            <a:ext cx="4832350" cy="434280"/>
          </a:xfrm>
          <a:custGeom>
            <a:avLst/>
            <a:gdLst/>
            <a:ahLst/>
            <a:cxnLst/>
            <a:rect l="l" t="t" r="r" b="b"/>
            <a:pathLst>
              <a:path w="4832350" h="434280">
                <a:moveTo>
                  <a:pt x="88900" y="0"/>
                </a:moveTo>
                <a:lnTo>
                  <a:pt x="4743450" y="0"/>
                </a:lnTo>
                <a:cubicBezTo>
                  <a:pt x="4792219" y="0"/>
                  <a:pt x="4832350" y="40131"/>
                  <a:pt x="4832350" y="88900"/>
                </a:cubicBezTo>
                <a:lnTo>
                  <a:pt x="4832350" y="345381"/>
                </a:lnTo>
                <a:cubicBezTo>
                  <a:pt x="4832350" y="394150"/>
                  <a:pt x="4792219" y="434281"/>
                  <a:pt x="4743450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3637756"/>
            <a:ext cx="203200" cy="203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7150" y="3625056"/>
            <a:ext cx="36835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ให้คะแนนแยกตามเกณฑ์ rubric ทุกข้อ ไม่อ้างลอย ๆ</a:t>
            </a:r>
            <a:endParaRPr lang="th" sz="1300" dirty="0"/>
          </a:p>
        </p:txBody>
      </p:sp>
      <p:sp>
        <p:nvSpPr>
          <p:cNvPr id="17" name="Shape 13"/>
          <p:cNvSpPr/>
          <p:nvPr/>
        </p:nvSpPr>
        <p:spPr>
          <a:xfrm>
            <a:off x="920750" y="4059337"/>
            <a:ext cx="4832350" cy="434280"/>
          </a:xfrm>
          <a:custGeom>
            <a:avLst/>
            <a:gdLst/>
            <a:ahLst/>
            <a:cxnLst/>
            <a:rect l="l" t="t" r="r" b="b"/>
            <a:pathLst>
              <a:path w="4832350" h="434280">
                <a:moveTo>
                  <a:pt x="88900" y="0"/>
                </a:moveTo>
                <a:lnTo>
                  <a:pt x="4743450" y="0"/>
                </a:lnTo>
                <a:cubicBezTo>
                  <a:pt x="4792219" y="0"/>
                  <a:pt x="4832350" y="40131"/>
                  <a:pt x="4832350" y="88900"/>
                </a:cubicBezTo>
                <a:lnTo>
                  <a:pt x="4832350" y="345381"/>
                </a:lnTo>
                <a:cubicBezTo>
                  <a:pt x="4832350" y="394150"/>
                  <a:pt x="4792219" y="434281"/>
                  <a:pt x="4743450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4173637"/>
            <a:ext cx="203200" cy="203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52550" y="4160937"/>
            <a:ext cx="3700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ร่าง Feedback ชี้จุดแข็ง และข้อเสนอพัฒนาเป็นข้อ ๆ</a:t>
            </a:r>
            <a:endParaRPr lang="th" sz="1300" dirty="0"/>
          </a:p>
        </p:txBody>
      </p:sp>
      <p:sp>
        <p:nvSpPr>
          <p:cNvPr id="20" name="Shape 15"/>
          <p:cNvSpPr/>
          <p:nvPr/>
        </p:nvSpPr>
        <p:spPr>
          <a:xfrm>
            <a:off x="920750" y="4595217"/>
            <a:ext cx="4832350" cy="434280"/>
          </a:xfrm>
          <a:custGeom>
            <a:avLst/>
            <a:gdLst/>
            <a:ahLst/>
            <a:cxnLst/>
            <a:rect l="l" t="t" r="r" b="b"/>
            <a:pathLst>
              <a:path w="4832350" h="434280">
                <a:moveTo>
                  <a:pt x="88900" y="0"/>
                </a:moveTo>
                <a:lnTo>
                  <a:pt x="4743450" y="0"/>
                </a:lnTo>
                <a:cubicBezTo>
                  <a:pt x="4792219" y="0"/>
                  <a:pt x="4832350" y="40131"/>
                  <a:pt x="4832350" y="88900"/>
                </a:cubicBezTo>
                <a:lnTo>
                  <a:pt x="4832350" y="345381"/>
                </a:lnTo>
                <a:cubicBezTo>
                  <a:pt x="4832350" y="394150"/>
                  <a:pt x="4792219" y="434281"/>
                  <a:pt x="4743450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4709517"/>
            <a:ext cx="254000" cy="203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03350" y="4696817"/>
            <a:ext cx="3277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ลดความต่างของคะแนนเมื่อตรวจงานหลายชิ้น</a:t>
            </a:r>
            <a:endParaRPr lang="th" sz="1300" dirty="0"/>
          </a:p>
        </p:txBody>
      </p:sp>
      <p:sp>
        <p:nvSpPr>
          <p:cNvPr id="23" name="CSS box-shadow background"/>
          <p:cNvSpPr/>
          <p:nvPr/>
        </p:nvSpPr>
        <p:spPr>
          <a:xfrm>
            <a:off x="6216650" y="1879600"/>
            <a:ext cx="5276850" cy="3346748"/>
          </a:xfrm>
          <a:custGeom>
            <a:avLst/>
            <a:gdLst/>
            <a:ahLst/>
            <a:cxnLst/>
            <a:rect l="l" t="t" r="r" b="b"/>
            <a:pathLst>
              <a:path w="5276850" h="3346748">
                <a:moveTo>
                  <a:pt x="127000" y="0"/>
                </a:moveTo>
                <a:lnTo>
                  <a:pt x="5149850" y="0"/>
                </a:lnTo>
                <a:cubicBezTo>
                  <a:pt x="5219520" y="0"/>
                  <a:pt x="5276850" y="57330"/>
                  <a:pt x="5276850" y="127000"/>
                </a:cubicBezTo>
                <a:lnTo>
                  <a:pt x="5276850" y="3219747"/>
                </a:lnTo>
                <a:cubicBezTo>
                  <a:pt x="5276850" y="3289417"/>
                  <a:pt x="5219520" y="3346747"/>
                  <a:pt x="5149850" y="3346747"/>
                </a:cubicBezTo>
                <a:lnTo>
                  <a:pt x="127000" y="3346747"/>
                </a:lnTo>
                <a:cubicBezTo>
                  <a:pt x="57330" y="3346747"/>
                  <a:pt x="0" y="3289417"/>
                  <a:pt x="0" y="321974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28600" dist="88900" dir="5400000" algn="bl" rotWithShape="0">
              <a:srgbClr val="16233A">
                <a:alpha val="7059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6216650" y="1879600"/>
            <a:ext cx="5276850" cy="3346748"/>
          </a:xfrm>
          <a:custGeom>
            <a:avLst/>
            <a:gdLst/>
            <a:ahLst/>
            <a:cxnLst/>
            <a:rect l="l" t="t" r="r" b="b"/>
            <a:pathLst>
              <a:path w="5276850" h="3346748">
                <a:moveTo>
                  <a:pt x="127000" y="0"/>
                </a:moveTo>
                <a:lnTo>
                  <a:pt x="5149850" y="0"/>
                </a:lnTo>
                <a:cubicBezTo>
                  <a:pt x="5219520" y="0"/>
                  <a:pt x="5276850" y="57330"/>
                  <a:pt x="5276850" y="127000"/>
                </a:cubicBezTo>
                <a:lnTo>
                  <a:pt x="5276850" y="3219747"/>
                </a:lnTo>
                <a:cubicBezTo>
                  <a:pt x="5276850" y="3289417"/>
                  <a:pt x="5219520" y="3346747"/>
                  <a:pt x="5149850" y="3346747"/>
                </a:cubicBezTo>
                <a:lnTo>
                  <a:pt x="127000" y="3346747"/>
                </a:lnTo>
                <a:cubicBezTo>
                  <a:pt x="57330" y="3346747"/>
                  <a:pt x="0" y="3289417"/>
                  <a:pt x="0" y="321974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6223000" y="1885950"/>
            <a:ext cx="5264150" cy="908050"/>
          </a:xfrm>
          <a:custGeom>
            <a:avLst/>
            <a:gdLst/>
            <a:ahLst/>
            <a:cxnLst/>
            <a:rect l="l" t="t" r="r" b="b"/>
            <a:pathLst>
              <a:path w="5264150" h="908050">
                <a:moveTo>
                  <a:pt x="127000" y="0"/>
                </a:moveTo>
                <a:lnTo>
                  <a:pt x="5137150" y="0"/>
                </a:lnTo>
                <a:cubicBezTo>
                  <a:pt x="5206820" y="0"/>
                  <a:pt x="5264150" y="57330"/>
                  <a:pt x="5264150" y="127000"/>
                </a:cubicBezTo>
                <a:lnTo>
                  <a:pt x="5264150" y="908050"/>
                </a:lnTo>
                <a:cubicBezTo>
                  <a:pt x="5264150" y="908050"/>
                  <a:pt x="5264150" y="908050"/>
                  <a:pt x="5264150" y="908050"/>
                </a:cubicBezTo>
                <a:lnTo>
                  <a:pt x="0" y="908050"/>
                </a:lnTo>
                <a:cubicBezTo>
                  <a:pt x="0" y="908050"/>
                  <a:pt x="0" y="908050"/>
                  <a:pt x="0" y="90805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E8EC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6438900" y="2092325"/>
            <a:ext cx="520700" cy="520700"/>
          </a:xfrm>
          <a:custGeom>
            <a:avLst/>
            <a:gdLst/>
            <a:ahLst/>
            <a:cxnLst/>
            <a:rect l="l" t="t" r="r" b="b"/>
            <a:pathLst>
              <a:path w="520700" h="520700">
                <a:moveTo>
                  <a:pt x="127000" y="0"/>
                </a:moveTo>
                <a:lnTo>
                  <a:pt x="393700" y="0"/>
                </a:lnTo>
                <a:cubicBezTo>
                  <a:pt x="463370" y="0"/>
                  <a:pt x="520700" y="57330"/>
                  <a:pt x="520700" y="127000"/>
                </a:cubicBezTo>
                <a:lnTo>
                  <a:pt x="520700" y="393700"/>
                </a:lnTo>
                <a:cubicBezTo>
                  <a:pt x="520700" y="463370"/>
                  <a:pt x="463370" y="520700"/>
                  <a:pt x="393700" y="520700"/>
                </a:cubicBezTo>
                <a:lnTo>
                  <a:pt x="127000" y="520700"/>
                </a:lnTo>
                <a:cubicBezTo>
                  <a:pt x="57330" y="520700"/>
                  <a:pt x="0" y="463370"/>
                  <a:pt x="0" y="3937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23306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375" y="2225675"/>
            <a:ext cx="285750" cy="2540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99300" y="2038350"/>
            <a:ext cx="326013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2330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OBE &amp; QA Alignment Gem</a:t>
            </a:r>
            <a:endParaRPr lang="th" sz="2000" dirty="0"/>
          </a:p>
        </p:txBody>
      </p:sp>
      <p:sp>
        <p:nvSpPr>
          <p:cNvPr id="29" name="Text 22"/>
          <p:cNvSpPr/>
          <p:nvPr/>
        </p:nvSpPr>
        <p:spPr>
          <a:xfrm>
            <a:off x="7099300" y="2406650"/>
            <a:ext cx="26341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ผู้ช่วยตรวจสอบความสอดคล้องของ CLO</a:t>
            </a:r>
            <a:endParaRPr lang="th" sz="1200" dirty="0"/>
          </a:p>
        </p:txBody>
      </p:sp>
      <p:sp>
        <p:nvSpPr>
          <p:cNvPr id="30" name="Text 23"/>
          <p:cNvSpPr/>
          <p:nvPr/>
        </p:nvSpPr>
        <p:spPr>
          <a:xfrm>
            <a:off x="6438900" y="2800350"/>
            <a:ext cx="466675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ตรวจว่าผลลัพธ์การเรียนรู้ (CLO) สอดคล้องกับกิจกรรม</a:t>
            </a:r>
            <a:endParaRPr lang="th" sz="1600" dirty="0"/>
          </a:p>
        </p:txBody>
      </p:sp>
      <p:sp>
        <p:nvSpPr>
          <p:cNvPr id="31" name="Text 24"/>
          <p:cNvSpPr/>
          <p:nvPr/>
        </p:nvSpPr>
        <p:spPr>
          <a:xfrm>
            <a:off x="6438900" y="3088878"/>
            <a:ext cx="3166566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การเรียนรู้และข้อสอบจริงในรายวิชา</a:t>
            </a:r>
            <a:endParaRPr lang="th" sz="1600" dirty="0"/>
          </a:p>
        </p:txBody>
      </p:sp>
      <p:sp>
        <p:nvSpPr>
          <p:cNvPr id="32" name="Shape 25"/>
          <p:cNvSpPr/>
          <p:nvPr/>
        </p:nvSpPr>
        <p:spPr>
          <a:xfrm>
            <a:off x="6438900" y="3523456"/>
            <a:ext cx="4832350" cy="434280"/>
          </a:xfrm>
          <a:custGeom>
            <a:avLst/>
            <a:gdLst/>
            <a:ahLst/>
            <a:cxnLst/>
            <a:rect l="l" t="t" r="r" b="b"/>
            <a:pathLst>
              <a:path w="4832350" h="434280">
                <a:moveTo>
                  <a:pt x="88900" y="0"/>
                </a:moveTo>
                <a:lnTo>
                  <a:pt x="4743450" y="0"/>
                </a:lnTo>
                <a:cubicBezTo>
                  <a:pt x="4792219" y="0"/>
                  <a:pt x="4832350" y="40131"/>
                  <a:pt x="4832350" y="88900"/>
                </a:cubicBezTo>
                <a:lnTo>
                  <a:pt x="4832350" y="345381"/>
                </a:lnTo>
                <a:cubicBezTo>
                  <a:pt x="4832350" y="394150"/>
                  <a:pt x="4792219" y="434281"/>
                  <a:pt x="4743450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900" y="3637756"/>
            <a:ext cx="254000" cy="203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21500" y="3625056"/>
            <a:ext cx="31731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จับคู่ CLO กับกิจกรรมและข้อสอบทีละรายการ</a:t>
            </a:r>
            <a:endParaRPr lang="th" sz="1300" dirty="0"/>
          </a:p>
        </p:txBody>
      </p:sp>
      <p:sp>
        <p:nvSpPr>
          <p:cNvPr id="35" name="Shape 27"/>
          <p:cNvSpPr/>
          <p:nvPr/>
        </p:nvSpPr>
        <p:spPr>
          <a:xfrm>
            <a:off x="6438900" y="4059337"/>
            <a:ext cx="4832350" cy="434280"/>
          </a:xfrm>
          <a:custGeom>
            <a:avLst/>
            <a:gdLst/>
            <a:ahLst/>
            <a:cxnLst/>
            <a:rect l="l" t="t" r="r" b="b"/>
            <a:pathLst>
              <a:path w="4832350" h="434280">
                <a:moveTo>
                  <a:pt x="88900" y="0"/>
                </a:moveTo>
                <a:lnTo>
                  <a:pt x="4743450" y="0"/>
                </a:lnTo>
                <a:cubicBezTo>
                  <a:pt x="4792219" y="0"/>
                  <a:pt x="4832350" y="40131"/>
                  <a:pt x="4832350" y="88900"/>
                </a:cubicBezTo>
                <a:lnTo>
                  <a:pt x="4832350" y="345381"/>
                </a:lnTo>
                <a:cubicBezTo>
                  <a:pt x="4832350" y="394150"/>
                  <a:pt x="4792219" y="434281"/>
                  <a:pt x="4743450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5900" y="4173637"/>
            <a:ext cx="203200" cy="2032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70700" y="4160937"/>
            <a:ext cx="30332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ชี้จุดที่ไม่สอดคล้อง (CLO ไร้กิจกรรมรองรับ)</a:t>
            </a:r>
            <a:endParaRPr lang="th" sz="1300" dirty="0"/>
          </a:p>
        </p:txBody>
      </p:sp>
      <p:sp>
        <p:nvSpPr>
          <p:cNvPr id="38" name="Shape 29"/>
          <p:cNvSpPr/>
          <p:nvPr/>
        </p:nvSpPr>
        <p:spPr>
          <a:xfrm>
            <a:off x="6438900" y="4595217"/>
            <a:ext cx="4832350" cy="434280"/>
          </a:xfrm>
          <a:custGeom>
            <a:avLst/>
            <a:gdLst/>
            <a:ahLst/>
            <a:cxnLst/>
            <a:rect l="l" t="t" r="r" b="b"/>
            <a:pathLst>
              <a:path w="4832350" h="434280">
                <a:moveTo>
                  <a:pt x="88900" y="0"/>
                </a:moveTo>
                <a:lnTo>
                  <a:pt x="4743450" y="0"/>
                </a:lnTo>
                <a:cubicBezTo>
                  <a:pt x="4792219" y="0"/>
                  <a:pt x="4832350" y="40131"/>
                  <a:pt x="4832350" y="88900"/>
                </a:cubicBezTo>
                <a:lnTo>
                  <a:pt x="4832350" y="345381"/>
                </a:lnTo>
                <a:cubicBezTo>
                  <a:pt x="4832350" y="394150"/>
                  <a:pt x="4792219" y="434281"/>
                  <a:pt x="4743450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00" y="4709517"/>
            <a:ext cx="228600" cy="2032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896100" y="4696817"/>
            <a:ext cx="404455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เสนอข้อปรับแก้วงจรการสอนเพื่อใช้ในงานประกันคุณภาพ</a:t>
            </a:r>
            <a:endParaRPr lang="th" sz="13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500" y="6327775"/>
            <a:ext cx="171450" cy="15240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58850" y="6292850"/>
            <a:ext cx="9394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อ้างอิงแนวปฏิบัติ: การสร้าง Custom Gems เพื่อการศึกษา (Google Help / CSU Chico) · Constructive Alignment ในงาน OBE (Springer, 2025)</a:t>
            </a:r>
            <a:endParaRPr lang="th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698500" y="641350"/>
            <a:ext cx="498981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Create Your Custom Gem</a:t>
            </a:r>
            <a:endParaRPr lang="th" sz="3200" dirty="0"/>
          </a:p>
        </p:txBody>
      </p:sp>
      <p:sp>
        <p:nvSpPr>
          <p:cNvPr id="2" name="Text 1"/>
          <p:cNvSpPr/>
          <p:nvPr/>
        </p:nvSpPr>
        <p:spPr>
          <a:xfrm>
            <a:off x="936327" y="393700"/>
            <a:ext cx="20045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72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15 · WORKSHOP 4</a:t>
            </a:r>
            <a:endParaRPr lang="th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28625"/>
            <a:ext cx="161627" cy="152400"/>
          </a:xfrm>
          <a:prstGeom prst="rect">
            <a:avLst/>
          </a:prstGeom>
        </p:spPr>
      </p:pic>
      <p:sp>
        <p:nvSpPr>
          <p:cNvPr id="4" name="CSS box-shadow background"/>
          <p:cNvSpPr/>
          <p:nvPr/>
        </p:nvSpPr>
        <p:spPr>
          <a:xfrm>
            <a:off x="698500" y="1511300"/>
            <a:ext cx="1986260" cy="1243806"/>
          </a:xfrm>
          <a:custGeom>
            <a:avLst/>
            <a:gdLst/>
            <a:ahLst/>
            <a:cxnLst/>
            <a:rect l="l" t="t" r="r" b="b"/>
            <a:pathLst>
              <a:path w="1986260" h="1243806">
                <a:moveTo>
                  <a:pt x="101600" y="0"/>
                </a:moveTo>
                <a:lnTo>
                  <a:pt x="1884660" y="0"/>
                </a:lnTo>
                <a:cubicBezTo>
                  <a:pt x="1940396" y="0"/>
                  <a:pt x="1986260" y="45864"/>
                  <a:pt x="1986260" y="101600"/>
                </a:cubicBezTo>
                <a:lnTo>
                  <a:pt x="1986260" y="1142206"/>
                </a:lnTo>
                <a:cubicBezTo>
                  <a:pt x="1986260" y="1197942"/>
                  <a:pt x="1940396" y="1243806"/>
                  <a:pt x="1884660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39700" dist="508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98500" y="1511300"/>
            <a:ext cx="1986260" cy="1243806"/>
          </a:xfrm>
          <a:custGeom>
            <a:avLst/>
            <a:gdLst/>
            <a:ahLst/>
            <a:cxnLst/>
            <a:rect l="l" t="t" r="r" b="b"/>
            <a:pathLst>
              <a:path w="1986260" h="1243806">
                <a:moveTo>
                  <a:pt x="101600" y="0"/>
                </a:moveTo>
                <a:lnTo>
                  <a:pt x="1884660" y="0"/>
                </a:lnTo>
                <a:cubicBezTo>
                  <a:pt x="1940396" y="0"/>
                  <a:pt x="1986260" y="45864"/>
                  <a:pt x="1986260" y="101600"/>
                </a:cubicBezTo>
                <a:lnTo>
                  <a:pt x="1986260" y="1142206"/>
                </a:lnTo>
                <a:cubicBezTo>
                  <a:pt x="1986260" y="1197942"/>
                  <a:pt x="1940396" y="1243806"/>
                  <a:pt x="1884660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19150" y="16446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76200" y="0"/>
                </a:moveTo>
                <a:lnTo>
                  <a:pt x="203200" y="0"/>
                </a:lnTo>
                <a:cubicBezTo>
                  <a:pt x="245002" y="0"/>
                  <a:pt x="279400" y="34398"/>
                  <a:pt x="279400" y="76200"/>
                </a:cubicBezTo>
                <a:lnTo>
                  <a:pt x="279400" y="203200"/>
                </a:lnTo>
                <a:cubicBezTo>
                  <a:pt x="279400" y="245002"/>
                  <a:pt x="245002" y="279400"/>
                  <a:pt x="203200" y="279400"/>
                </a:cubicBezTo>
                <a:lnTo>
                  <a:pt x="76200" y="279400"/>
                </a:lnTo>
                <a:cubicBezTo>
                  <a:pt x="34398" y="279400"/>
                  <a:pt x="0" y="245002"/>
                  <a:pt x="0" y="203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1622" y="1670050"/>
            <a:ext cx="944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1</a:t>
            </a:r>
            <a:endParaRPr lang="th" sz="1300" dirty="0"/>
          </a:p>
        </p:txBody>
      </p:sp>
      <p:sp>
        <p:nvSpPr>
          <p:cNvPr id="8" name="Text 6"/>
          <p:cNvSpPr/>
          <p:nvPr/>
        </p:nvSpPr>
        <p:spPr>
          <a:xfrm>
            <a:off x="819150" y="2000250"/>
            <a:ext cx="1474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เปิด Gem Manager</a:t>
            </a:r>
            <a:endParaRPr lang="th" sz="1300" dirty="0"/>
          </a:p>
        </p:txBody>
      </p:sp>
      <p:sp>
        <p:nvSpPr>
          <p:cNvPr id="9" name="Text 7"/>
          <p:cNvSpPr/>
          <p:nvPr/>
        </p:nvSpPr>
        <p:spPr>
          <a:xfrm>
            <a:off x="819150" y="2251075"/>
            <a:ext cx="17376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เข้าเมนู Explore Gems เลือก</a:t>
            </a:r>
            <a:endParaRPr lang="th" sz="1100" dirty="0"/>
          </a:p>
        </p:txBody>
      </p:sp>
      <p:sp>
        <p:nvSpPr>
          <p:cNvPr id="10" name="Text 8"/>
          <p:cNvSpPr/>
          <p:nvPr/>
        </p:nvSpPr>
        <p:spPr>
          <a:xfrm>
            <a:off x="819150" y="2439591"/>
            <a:ext cx="9431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สร้าง Gem ใหม่</a:t>
            </a:r>
            <a:endParaRPr lang="th" sz="1100" dirty="0"/>
          </a:p>
        </p:txBody>
      </p:sp>
      <p:sp>
        <p:nvSpPr>
          <p:cNvPr id="11" name="CSS box-shadow background"/>
          <p:cNvSpPr/>
          <p:nvPr/>
        </p:nvSpPr>
        <p:spPr>
          <a:xfrm>
            <a:off x="2900660" y="1511300"/>
            <a:ext cx="1986359" cy="1243806"/>
          </a:xfrm>
          <a:custGeom>
            <a:avLst/>
            <a:gdLst/>
            <a:ahLst/>
            <a:cxnLst/>
            <a:rect l="l" t="t" r="r" b="b"/>
            <a:pathLst>
              <a:path w="1986359" h="1243806">
                <a:moveTo>
                  <a:pt x="101600" y="0"/>
                </a:moveTo>
                <a:lnTo>
                  <a:pt x="1884759" y="0"/>
                </a:lnTo>
                <a:cubicBezTo>
                  <a:pt x="1940495" y="0"/>
                  <a:pt x="1986359" y="45864"/>
                  <a:pt x="1986359" y="101600"/>
                </a:cubicBezTo>
                <a:lnTo>
                  <a:pt x="1986359" y="1142206"/>
                </a:lnTo>
                <a:cubicBezTo>
                  <a:pt x="1986359" y="1197942"/>
                  <a:pt x="1940495" y="1243806"/>
                  <a:pt x="1884759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39700" dist="508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900660" y="1511300"/>
            <a:ext cx="1986359" cy="1243806"/>
          </a:xfrm>
          <a:custGeom>
            <a:avLst/>
            <a:gdLst/>
            <a:ahLst/>
            <a:cxnLst/>
            <a:rect l="l" t="t" r="r" b="b"/>
            <a:pathLst>
              <a:path w="1986359" h="1243806">
                <a:moveTo>
                  <a:pt x="101600" y="0"/>
                </a:moveTo>
                <a:lnTo>
                  <a:pt x="1884759" y="0"/>
                </a:lnTo>
                <a:cubicBezTo>
                  <a:pt x="1940495" y="0"/>
                  <a:pt x="1986359" y="45864"/>
                  <a:pt x="1986359" y="101600"/>
                </a:cubicBezTo>
                <a:lnTo>
                  <a:pt x="1986359" y="1142206"/>
                </a:lnTo>
                <a:cubicBezTo>
                  <a:pt x="1986359" y="1197942"/>
                  <a:pt x="1940495" y="1243806"/>
                  <a:pt x="1884759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21310" y="16446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76200" y="0"/>
                </a:moveTo>
                <a:lnTo>
                  <a:pt x="203200" y="0"/>
                </a:lnTo>
                <a:cubicBezTo>
                  <a:pt x="245002" y="0"/>
                  <a:pt x="279400" y="34398"/>
                  <a:pt x="279400" y="76200"/>
                </a:cubicBezTo>
                <a:lnTo>
                  <a:pt x="279400" y="203200"/>
                </a:lnTo>
                <a:cubicBezTo>
                  <a:pt x="279400" y="245002"/>
                  <a:pt x="245002" y="279400"/>
                  <a:pt x="203200" y="279400"/>
                </a:cubicBezTo>
                <a:lnTo>
                  <a:pt x="76200" y="279400"/>
                </a:lnTo>
                <a:cubicBezTo>
                  <a:pt x="34398" y="279400"/>
                  <a:pt x="0" y="245002"/>
                  <a:pt x="0" y="203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13782" y="1670050"/>
            <a:ext cx="944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2</a:t>
            </a:r>
            <a:endParaRPr lang="th" sz="1300" dirty="0"/>
          </a:p>
        </p:txBody>
      </p:sp>
      <p:sp>
        <p:nvSpPr>
          <p:cNvPr id="15" name="Text 13"/>
          <p:cNvSpPr/>
          <p:nvPr/>
        </p:nvSpPr>
        <p:spPr>
          <a:xfrm>
            <a:off x="3021310" y="2000250"/>
            <a:ext cx="10993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ตั้งชื่อ + บทบาท</a:t>
            </a:r>
            <a:endParaRPr lang="th" sz="1300" dirty="0"/>
          </a:p>
        </p:txBody>
      </p:sp>
      <p:sp>
        <p:nvSpPr>
          <p:cNvPr id="16" name="Text 14"/>
          <p:cNvSpPr/>
          <p:nvPr/>
        </p:nvSpPr>
        <p:spPr>
          <a:xfrm>
            <a:off x="3021310" y="2251075"/>
            <a:ext cx="15328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ระบุว่าเป็นผู้ช่วยตรวจงาน</a:t>
            </a:r>
            <a:endParaRPr lang="th" sz="1100" dirty="0"/>
          </a:p>
        </p:txBody>
      </p:sp>
      <p:sp>
        <p:nvSpPr>
          <p:cNvPr id="17" name="Text 15"/>
          <p:cNvSpPr/>
          <p:nvPr/>
        </p:nvSpPr>
        <p:spPr>
          <a:xfrm>
            <a:off x="3021310" y="2439591"/>
            <a:ext cx="6460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รายวิชาใด</a:t>
            </a:r>
            <a:endParaRPr lang="th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560" y="2063353"/>
            <a:ext cx="139700" cy="139700"/>
          </a:xfrm>
          <a:prstGeom prst="rect">
            <a:avLst/>
          </a:prstGeom>
        </p:spPr>
      </p:pic>
      <p:sp>
        <p:nvSpPr>
          <p:cNvPr id="19" name="CSS box-shadow background"/>
          <p:cNvSpPr/>
          <p:nvPr/>
        </p:nvSpPr>
        <p:spPr>
          <a:xfrm>
            <a:off x="5102920" y="1511300"/>
            <a:ext cx="1986260" cy="1243806"/>
          </a:xfrm>
          <a:custGeom>
            <a:avLst/>
            <a:gdLst/>
            <a:ahLst/>
            <a:cxnLst/>
            <a:rect l="l" t="t" r="r" b="b"/>
            <a:pathLst>
              <a:path w="1986260" h="1243806">
                <a:moveTo>
                  <a:pt x="101600" y="0"/>
                </a:moveTo>
                <a:lnTo>
                  <a:pt x="1884660" y="0"/>
                </a:lnTo>
                <a:cubicBezTo>
                  <a:pt x="1940396" y="0"/>
                  <a:pt x="1986260" y="45864"/>
                  <a:pt x="1986260" y="101600"/>
                </a:cubicBezTo>
                <a:lnTo>
                  <a:pt x="1986260" y="1142206"/>
                </a:lnTo>
                <a:cubicBezTo>
                  <a:pt x="1986260" y="1197942"/>
                  <a:pt x="1940396" y="1243806"/>
                  <a:pt x="1884660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39700" dist="508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5102920" y="1511300"/>
            <a:ext cx="1986260" cy="1243806"/>
          </a:xfrm>
          <a:custGeom>
            <a:avLst/>
            <a:gdLst/>
            <a:ahLst/>
            <a:cxnLst/>
            <a:rect l="l" t="t" r="r" b="b"/>
            <a:pathLst>
              <a:path w="1986260" h="1243806">
                <a:moveTo>
                  <a:pt x="101600" y="0"/>
                </a:moveTo>
                <a:lnTo>
                  <a:pt x="1884660" y="0"/>
                </a:lnTo>
                <a:cubicBezTo>
                  <a:pt x="1940396" y="0"/>
                  <a:pt x="1986260" y="45864"/>
                  <a:pt x="1986260" y="101600"/>
                </a:cubicBezTo>
                <a:lnTo>
                  <a:pt x="1986260" y="1142206"/>
                </a:lnTo>
                <a:cubicBezTo>
                  <a:pt x="1986260" y="1197942"/>
                  <a:pt x="1940396" y="1243806"/>
                  <a:pt x="1884660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223570" y="16446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76200" y="0"/>
                </a:moveTo>
                <a:lnTo>
                  <a:pt x="203200" y="0"/>
                </a:lnTo>
                <a:cubicBezTo>
                  <a:pt x="245002" y="0"/>
                  <a:pt x="279400" y="34398"/>
                  <a:pt x="279400" y="76200"/>
                </a:cubicBezTo>
                <a:lnTo>
                  <a:pt x="279400" y="203200"/>
                </a:lnTo>
                <a:cubicBezTo>
                  <a:pt x="279400" y="245002"/>
                  <a:pt x="245002" y="279400"/>
                  <a:pt x="203200" y="279400"/>
                </a:cubicBezTo>
                <a:lnTo>
                  <a:pt x="76200" y="279400"/>
                </a:lnTo>
                <a:cubicBezTo>
                  <a:pt x="34398" y="279400"/>
                  <a:pt x="0" y="245002"/>
                  <a:pt x="0" y="203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16041" y="1670050"/>
            <a:ext cx="944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3</a:t>
            </a:r>
            <a:endParaRPr lang="th" sz="1300" dirty="0"/>
          </a:p>
        </p:txBody>
      </p:sp>
      <p:sp>
        <p:nvSpPr>
          <p:cNvPr id="23" name="Text 20"/>
          <p:cNvSpPr/>
          <p:nvPr/>
        </p:nvSpPr>
        <p:spPr>
          <a:xfrm>
            <a:off x="5223570" y="2000250"/>
            <a:ext cx="8698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วางชุดคำสั่ง</a:t>
            </a:r>
            <a:endParaRPr lang="th" sz="1300" dirty="0"/>
          </a:p>
        </p:txBody>
      </p:sp>
      <p:sp>
        <p:nvSpPr>
          <p:cNvPr id="24" name="Text 21"/>
          <p:cNvSpPr/>
          <p:nvPr/>
        </p:nvSpPr>
        <p:spPr>
          <a:xfrm>
            <a:off x="5223570" y="2251075"/>
            <a:ext cx="171737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ฝังเกณฑ์ Rubric และน้ำหนัก</a:t>
            </a:r>
            <a:endParaRPr lang="th" sz="1100" dirty="0"/>
          </a:p>
        </p:txBody>
      </p:sp>
      <p:sp>
        <p:nvSpPr>
          <p:cNvPr id="25" name="Text 22"/>
          <p:cNvSpPr/>
          <p:nvPr/>
        </p:nvSpPr>
        <p:spPr>
          <a:xfrm>
            <a:off x="5223570" y="2439591"/>
            <a:ext cx="449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คะแนน</a:t>
            </a:r>
            <a:endParaRPr lang="th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820" y="2063353"/>
            <a:ext cx="139700" cy="139700"/>
          </a:xfrm>
          <a:prstGeom prst="rect">
            <a:avLst/>
          </a:prstGeom>
        </p:spPr>
      </p:pic>
      <p:sp>
        <p:nvSpPr>
          <p:cNvPr id="27" name="CSS box-shadow background"/>
          <p:cNvSpPr/>
          <p:nvPr/>
        </p:nvSpPr>
        <p:spPr>
          <a:xfrm>
            <a:off x="7305080" y="1511300"/>
            <a:ext cx="1986260" cy="1243806"/>
          </a:xfrm>
          <a:custGeom>
            <a:avLst/>
            <a:gdLst/>
            <a:ahLst/>
            <a:cxnLst/>
            <a:rect l="l" t="t" r="r" b="b"/>
            <a:pathLst>
              <a:path w="1986260" h="1243806">
                <a:moveTo>
                  <a:pt x="101600" y="0"/>
                </a:moveTo>
                <a:lnTo>
                  <a:pt x="1884660" y="0"/>
                </a:lnTo>
                <a:cubicBezTo>
                  <a:pt x="1940396" y="0"/>
                  <a:pt x="1986260" y="45864"/>
                  <a:pt x="1986260" y="101600"/>
                </a:cubicBezTo>
                <a:lnTo>
                  <a:pt x="1986260" y="1142206"/>
                </a:lnTo>
                <a:cubicBezTo>
                  <a:pt x="1986260" y="1197942"/>
                  <a:pt x="1940396" y="1243806"/>
                  <a:pt x="1884660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39700" dist="508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7305080" y="1511300"/>
            <a:ext cx="1986260" cy="1243806"/>
          </a:xfrm>
          <a:custGeom>
            <a:avLst/>
            <a:gdLst/>
            <a:ahLst/>
            <a:cxnLst/>
            <a:rect l="l" t="t" r="r" b="b"/>
            <a:pathLst>
              <a:path w="1986260" h="1243806">
                <a:moveTo>
                  <a:pt x="101600" y="0"/>
                </a:moveTo>
                <a:lnTo>
                  <a:pt x="1884660" y="0"/>
                </a:lnTo>
                <a:cubicBezTo>
                  <a:pt x="1940396" y="0"/>
                  <a:pt x="1986260" y="45864"/>
                  <a:pt x="1986260" y="101600"/>
                </a:cubicBezTo>
                <a:lnTo>
                  <a:pt x="1986260" y="1142206"/>
                </a:lnTo>
                <a:cubicBezTo>
                  <a:pt x="1986260" y="1197942"/>
                  <a:pt x="1940396" y="1243806"/>
                  <a:pt x="1884660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5"/>
          <p:cNvSpPr/>
          <p:nvPr/>
        </p:nvSpPr>
        <p:spPr>
          <a:xfrm>
            <a:off x="7425730" y="16446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76200" y="0"/>
                </a:moveTo>
                <a:lnTo>
                  <a:pt x="203200" y="0"/>
                </a:lnTo>
                <a:cubicBezTo>
                  <a:pt x="245002" y="0"/>
                  <a:pt x="279400" y="34398"/>
                  <a:pt x="279400" y="76200"/>
                </a:cubicBezTo>
                <a:lnTo>
                  <a:pt x="279400" y="203200"/>
                </a:lnTo>
                <a:cubicBezTo>
                  <a:pt x="279400" y="245002"/>
                  <a:pt x="245002" y="279400"/>
                  <a:pt x="203200" y="279400"/>
                </a:cubicBezTo>
                <a:lnTo>
                  <a:pt x="76200" y="279400"/>
                </a:lnTo>
                <a:cubicBezTo>
                  <a:pt x="34398" y="279400"/>
                  <a:pt x="0" y="245002"/>
                  <a:pt x="0" y="203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7518202" y="1670050"/>
            <a:ext cx="944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4</a:t>
            </a:r>
            <a:endParaRPr lang="th" sz="1300" dirty="0"/>
          </a:p>
        </p:txBody>
      </p:sp>
      <p:sp>
        <p:nvSpPr>
          <p:cNvPr id="31" name="Text 27"/>
          <p:cNvSpPr/>
          <p:nvPr/>
        </p:nvSpPr>
        <p:spPr>
          <a:xfrm>
            <a:off x="7425730" y="2000250"/>
            <a:ext cx="10775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แนบไฟล์อ้างอิง</a:t>
            </a:r>
            <a:endParaRPr lang="th" sz="1300" dirty="0"/>
          </a:p>
        </p:txBody>
      </p:sp>
      <p:sp>
        <p:nvSpPr>
          <p:cNvPr id="32" name="Text 28"/>
          <p:cNvSpPr/>
          <p:nvPr/>
        </p:nvSpPr>
        <p:spPr>
          <a:xfrm>
            <a:off x="7425730" y="2251075"/>
            <a:ext cx="137457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ใส่ระเบียบหลักสูตรและ</a:t>
            </a:r>
            <a:endParaRPr lang="th" sz="1100" dirty="0"/>
          </a:p>
        </p:txBody>
      </p:sp>
      <p:sp>
        <p:nvSpPr>
          <p:cNvPr id="33" name="Text 29"/>
          <p:cNvSpPr/>
          <p:nvPr/>
        </p:nvSpPr>
        <p:spPr>
          <a:xfrm>
            <a:off x="7425730" y="2439591"/>
            <a:ext cx="7238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ตัวอย่างงาน</a:t>
            </a:r>
            <a:endParaRPr lang="th" sz="11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980" y="2063353"/>
            <a:ext cx="139700" cy="139700"/>
          </a:xfrm>
          <a:prstGeom prst="rect">
            <a:avLst/>
          </a:prstGeom>
        </p:spPr>
      </p:pic>
      <p:sp>
        <p:nvSpPr>
          <p:cNvPr id="35" name="CSS box-shadow background"/>
          <p:cNvSpPr/>
          <p:nvPr/>
        </p:nvSpPr>
        <p:spPr>
          <a:xfrm>
            <a:off x="9507240" y="1511300"/>
            <a:ext cx="1986260" cy="1243806"/>
          </a:xfrm>
          <a:custGeom>
            <a:avLst/>
            <a:gdLst/>
            <a:ahLst/>
            <a:cxnLst/>
            <a:rect l="l" t="t" r="r" b="b"/>
            <a:pathLst>
              <a:path w="1986260" h="1243806">
                <a:moveTo>
                  <a:pt x="101600" y="0"/>
                </a:moveTo>
                <a:lnTo>
                  <a:pt x="1884660" y="0"/>
                </a:lnTo>
                <a:cubicBezTo>
                  <a:pt x="1940396" y="0"/>
                  <a:pt x="1986260" y="45864"/>
                  <a:pt x="1986260" y="101600"/>
                </a:cubicBezTo>
                <a:lnTo>
                  <a:pt x="1986260" y="1142206"/>
                </a:lnTo>
                <a:cubicBezTo>
                  <a:pt x="1986260" y="1197942"/>
                  <a:pt x="1940396" y="1243806"/>
                  <a:pt x="1884660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39700" dist="508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1"/>
          <p:cNvSpPr/>
          <p:nvPr/>
        </p:nvSpPr>
        <p:spPr>
          <a:xfrm>
            <a:off x="9507240" y="1511300"/>
            <a:ext cx="1986260" cy="1243806"/>
          </a:xfrm>
          <a:custGeom>
            <a:avLst/>
            <a:gdLst/>
            <a:ahLst/>
            <a:cxnLst/>
            <a:rect l="l" t="t" r="r" b="b"/>
            <a:pathLst>
              <a:path w="1986260" h="1243806">
                <a:moveTo>
                  <a:pt x="101600" y="0"/>
                </a:moveTo>
                <a:lnTo>
                  <a:pt x="1884660" y="0"/>
                </a:lnTo>
                <a:cubicBezTo>
                  <a:pt x="1940396" y="0"/>
                  <a:pt x="1986260" y="45864"/>
                  <a:pt x="1986260" y="101600"/>
                </a:cubicBezTo>
                <a:lnTo>
                  <a:pt x="1986260" y="1142206"/>
                </a:lnTo>
                <a:cubicBezTo>
                  <a:pt x="1986260" y="1197942"/>
                  <a:pt x="1940396" y="1243806"/>
                  <a:pt x="1884660" y="1243806"/>
                </a:cubicBezTo>
                <a:lnTo>
                  <a:pt x="101600" y="1243806"/>
                </a:lnTo>
                <a:cubicBezTo>
                  <a:pt x="45864" y="1243806"/>
                  <a:pt x="0" y="1197942"/>
                  <a:pt x="0" y="1142206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2"/>
          <p:cNvSpPr/>
          <p:nvPr/>
        </p:nvSpPr>
        <p:spPr>
          <a:xfrm>
            <a:off x="9627890" y="16446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76200" y="0"/>
                </a:moveTo>
                <a:lnTo>
                  <a:pt x="203200" y="0"/>
                </a:lnTo>
                <a:cubicBezTo>
                  <a:pt x="245002" y="0"/>
                  <a:pt x="279400" y="34398"/>
                  <a:pt x="279400" y="76200"/>
                </a:cubicBezTo>
                <a:lnTo>
                  <a:pt x="279400" y="203200"/>
                </a:lnTo>
                <a:cubicBezTo>
                  <a:pt x="279400" y="245002"/>
                  <a:pt x="245002" y="279400"/>
                  <a:pt x="203200" y="279400"/>
                </a:cubicBezTo>
                <a:lnTo>
                  <a:pt x="76200" y="279400"/>
                </a:lnTo>
                <a:cubicBezTo>
                  <a:pt x="34398" y="279400"/>
                  <a:pt x="0" y="245002"/>
                  <a:pt x="0" y="203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9720362" y="1670050"/>
            <a:ext cx="944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5</a:t>
            </a:r>
            <a:endParaRPr lang="th" sz="1300" dirty="0"/>
          </a:p>
        </p:txBody>
      </p:sp>
      <p:sp>
        <p:nvSpPr>
          <p:cNvPr id="39" name="Text 34"/>
          <p:cNvSpPr/>
          <p:nvPr/>
        </p:nvSpPr>
        <p:spPr>
          <a:xfrm>
            <a:off x="9627890" y="2000250"/>
            <a:ext cx="11275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ทดสอบ + บันทึก</a:t>
            </a:r>
            <a:endParaRPr lang="th" sz="1300" dirty="0"/>
          </a:p>
        </p:txBody>
      </p:sp>
      <p:sp>
        <p:nvSpPr>
          <p:cNvPr id="40" name="Text 35"/>
          <p:cNvSpPr/>
          <p:nvPr/>
        </p:nvSpPr>
        <p:spPr>
          <a:xfrm>
            <a:off x="9627890" y="2251075"/>
            <a:ext cx="16693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ลองงานจริง แล้วจึงบันทึกใช้</a:t>
            </a:r>
            <a:endParaRPr lang="th" sz="1100" dirty="0"/>
          </a:p>
        </p:txBody>
      </p:sp>
      <p:sp>
        <p:nvSpPr>
          <p:cNvPr id="41" name="Text 36"/>
          <p:cNvSpPr/>
          <p:nvPr/>
        </p:nvSpPr>
        <p:spPr>
          <a:xfrm>
            <a:off x="9627890" y="2439591"/>
            <a:ext cx="1733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ซ้ำ</a:t>
            </a:r>
            <a:endParaRPr lang="th" sz="110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140" y="2063353"/>
            <a:ext cx="139700" cy="139700"/>
          </a:xfrm>
          <a:prstGeom prst="rect">
            <a:avLst/>
          </a:prstGeom>
        </p:spPr>
      </p:pic>
      <p:sp>
        <p:nvSpPr>
          <p:cNvPr id="43" name="CSS box-shadow background"/>
          <p:cNvSpPr/>
          <p:nvPr/>
        </p:nvSpPr>
        <p:spPr>
          <a:xfrm>
            <a:off x="698500" y="3594100"/>
            <a:ext cx="6237288" cy="2844800"/>
          </a:xfrm>
          <a:custGeom>
            <a:avLst/>
            <a:gdLst/>
            <a:ahLst/>
            <a:cxnLst/>
            <a:rect l="l" t="t" r="r" b="b"/>
            <a:pathLst>
              <a:path w="6237288" h="2844800">
                <a:moveTo>
                  <a:pt x="127000" y="0"/>
                </a:moveTo>
                <a:lnTo>
                  <a:pt x="6110287" y="0"/>
                </a:lnTo>
                <a:cubicBezTo>
                  <a:pt x="6179957" y="0"/>
                  <a:pt x="6237287" y="57330"/>
                  <a:pt x="6237287" y="127000"/>
                </a:cubicBezTo>
                <a:lnTo>
                  <a:pt x="6237287" y="2717800"/>
                </a:lnTo>
                <a:cubicBezTo>
                  <a:pt x="6237287" y="2787470"/>
                  <a:pt x="6179957" y="2844800"/>
                  <a:pt x="6110287" y="2844800"/>
                </a:cubicBezTo>
                <a:lnTo>
                  <a:pt x="127000" y="2844800"/>
                </a:lnTo>
                <a:cubicBezTo>
                  <a:pt x="57330" y="2844800"/>
                  <a:pt x="0" y="2787470"/>
                  <a:pt x="0" y="27178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76200" dir="5400000" algn="bl" rotWithShape="0">
              <a:srgbClr val="16233A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38"/>
          <p:cNvSpPr/>
          <p:nvPr/>
        </p:nvSpPr>
        <p:spPr>
          <a:xfrm>
            <a:off x="698500" y="3594100"/>
            <a:ext cx="6237288" cy="2844800"/>
          </a:xfrm>
          <a:custGeom>
            <a:avLst/>
            <a:gdLst/>
            <a:ahLst/>
            <a:cxnLst/>
            <a:rect l="l" t="t" r="r" b="b"/>
            <a:pathLst>
              <a:path w="6237288" h="2844800">
                <a:moveTo>
                  <a:pt x="127000" y="0"/>
                </a:moveTo>
                <a:lnTo>
                  <a:pt x="6110287" y="0"/>
                </a:lnTo>
                <a:cubicBezTo>
                  <a:pt x="6179957" y="0"/>
                  <a:pt x="6237287" y="57330"/>
                  <a:pt x="6237287" y="127000"/>
                </a:cubicBezTo>
                <a:lnTo>
                  <a:pt x="6237287" y="2717800"/>
                </a:lnTo>
                <a:cubicBezTo>
                  <a:pt x="6237287" y="2787470"/>
                  <a:pt x="6179957" y="2844800"/>
                  <a:pt x="6110287" y="2844800"/>
                </a:cubicBezTo>
                <a:lnTo>
                  <a:pt x="127000" y="2844800"/>
                </a:lnTo>
                <a:cubicBezTo>
                  <a:pt x="57330" y="2844800"/>
                  <a:pt x="0" y="2787470"/>
                  <a:pt x="0" y="27178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1279525" y="3810000"/>
            <a:ext cx="319613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ทดลองกับงานนักศึกษาจำลอง</a:t>
            </a:r>
            <a:endParaRPr lang="th" sz="20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50" y="3886200"/>
            <a:ext cx="269875" cy="21590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20750" y="4273550"/>
            <a:ext cx="51012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หลังสร้าง Gem เสร็จ ให้ทดสอบความน่าเชื่อถือของผลประเมินก่อนใช้จริง</a:t>
            </a:r>
            <a:endParaRPr lang="th" sz="1300" dirty="0"/>
          </a:p>
        </p:txBody>
      </p:sp>
      <p:sp>
        <p:nvSpPr>
          <p:cNvPr id="48" name="Shape 41"/>
          <p:cNvSpPr/>
          <p:nvPr/>
        </p:nvSpPr>
        <p:spPr>
          <a:xfrm>
            <a:off x="920750" y="4660900"/>
            <a:ext cx="5792787" cy="434280"/>
          </a:xfrm>
          <a:custGeom>
            <a:avLst/>
            <a:gdLst/>
            <a:ahLst/>
            <a:cxnLst/>
            <a:rect l="l" t="t" r="r" b="b"/>
            <a:pathLst>
              <a:path w="5792787" h="434280">
                <a:moveTo>
                  <a:pt x="88900" y="0"/>
                </a:moveTo>
                <a:lnTo>
                  <a:pt x="5703887" y="0"/>
                </a:lnTo>
                <a:cubicBezTo>
                  <a:pt x="5752657" y="0"/>
                  <a:pt x="5792787" y="40131"/>
                  <a:pt x="5792787" y="88900"/>
                </a:cubicBezTo>
                <a:lnTo>
                  <a:pt x="5792787" y="345381"/>
                </a:lnTo>
                <a:cubicBezTo>
                  <a:pt x="5792787" y="394150"/>
                  <a:pt x="5752657" y="434281"/>
                  <a:pt x="5703887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2"/>
          <p:cNvSpPr/>
          <p:nvPr/>
        </p:nvSpPr>
        <p:spPr>
          <a:xfrm>
            <a:off x="1047750" y="4762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3500" y="0"/>
                </a:moveTo>
                <a:lnTo>
                  <a:pt x="165100" y="0"/>
                </a:lnTo>
                <a:cubicBezTo>
                  <a:pt x="199935" y="0"/>
                  <a:pt x="228600" y="28665"/>
                  <a:pt x="228600" y="63500"/>
                </a:cubicBezTo>
                <a:lnTo>
                  <a:pt x="228600" y="165100"/>
                </a:lnTo>
                <a:cubicBezTo>
                  <a:pt x="228600" y="199935"/>
                  <a:pt x="199935" y="228600"/>
                  <a:pt x="165100" y="228600"/>
                </a:cubicBezTo>
                <a:lnTo>
                  <a:pt x="63500" y="228600"/>
                </a:lnTo>
                <a:cubicBezTo>
                  <a:pt x="28665" y="228600"/>
                  <a:pt x="0" y="199935"/>
                  <a:pt x="0" y="165100"/>
                </a:cubicBezTo>
                <a:lnTo>
                  <a:pt x="0" y="63500"/>
                </a:lnTo>
                <a:cubicBezTo>
                  <a:pt x="0" y="28665"/>
                  <a:pt x="28665" y="0"/>
                  <a:pt x="635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4819650"/>
            <a:ext cx="114300" cy="11430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1377950" y="4762500"/>
            <a:ext cx="33405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อัปโหลดไฟล์งานนักศึกษาจำลองเข้าไปใน Gem</a:t>
            </a:r>
            <a:endParaRPr lang="th" sz="1300" dirty="0"/>
          </a:p>
        </p:txBody>
      </p:sp>
      <p:sp>
        <p:nvSpPr>
          <p:cNvPr id="52" name="Shape 44"/>
          <p:cNvSpPr/>
          <p:nvPr/>
        </p:nvSpPr>
        <p:spPr>
          <a:xfrm>
            <a:off x="920750" y="5196780"/>
            <a:ext cx="5792787" cy="434280"/>
          </a:xfrm>
          <a:custGeom>
            <a:avLst/>
            <a:gdLst/>
            <a:ahLst/>
            <a:cxnLst/>
            <a:rect l="l" t="t" r="r" b="b"/>
            <a:pathLst>
              <a:path w="5792787" h="434280">
                <a:moveTo>
                  <a:pt x="88900" y="0"/>
                </a:moveTo>
                <a:lnTo>
                  <a:pt x="5703887" y="0"/>
                </a:lnTo>
                <a:cubicBezTo>
                  <a:pt x="5752657" y="0"/>
                  <a:pt x="5792787" y="40131"/>
                  <a:pt x="5792787" y="88900"/>
                </a:cubicBezTo>
                <a:lnTo>
                  <a:pt x="5792787" y="345381"/>
                </a:lnTo>
                <a:cubicBezTo>
                  <a:pt x="5792787" y="394150"/>
                  <a:pt x="5752657" y="434281"/>
                  <a:pt x="5703887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45"/>
          <p:cNvSpPr/>
          <p:nvPr/>
        </p:nvSpPr>
        <p:spPr>
          <a:xfrm>
            <a:off x="1047750" y="52983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3500" y="0"/>
                </a:moveTo>
                <a:lnTo>
                  <a:pt x="165100" y="0"/>
                </a:lnTo>
                <a:cubicBezTo>
                  <a:pt x="199935" y="0"/>
                  <a:pt x="228600" y="28665"/>
                  <a:pt x="228600" y="63500"/>
                </a:cubicBezTo>
                <a:lnTo>
                  <a:pt x="228600" y="165100"/>
                </a:lnTo>
                <a:cubicBezTo>
                  <a:pt x="228600" y="199935"/>
                  <a:pt x="199935" y="228600"/>
                  <a:pt x="165100" y="228600"/>
                </a:cubicBezTo>
                <a:lnTo>
                  <a:pt x="63500" y="228600"/>
                </a:lnTo>
                <a:cubicBezTo>
                  <a:pt x="28665" y="228600"/>
                  <a:pt x="0" y="199935"/>
                  <a:pt x="0" y="165100"/>
                </a:cubicBezTo>
                <a:lnTo>
                  <a:pt x="0" y="63500"/>
                </a:lnTo>
                <a:cubicBezTo>
                  <a:pt x="0" y="28665"/>
                  <a:pt x="28665" y="0"/>
                  <a:pt x="635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5355530"/>
            <a:ext cx="114300" cy="11430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1377950" y="5298380"/>
            <a:ext cx="42099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เทียบคะแนนและความเห็นที่ AI ให้ กับเกณฑ์ Rubric ทีละข้อ</a:t>
            </a:r>
            <a:endParaRPr lang="th" sz="1300" dirty="0"/>
          </a:p>
        </p:txBody>
      </p:sp>
      <p:sp>
        <p:nvSpPr>
          <p:cNvPr id="56" name="Shape 47"/>
          <p:cNvSpPr/>
          <p:nvPr/>
        </p:nvSpPr>
        <p:spPr>
          <a:xfrm>
            <a:off x="920750" y="5732661"/>
            <a:ext cx="5792787" cy="434280"/>
          </a:xfrm>
          <a:custGeom>
            <a:avLst/>
            <a:gdLst/>
            <a:ahLst/>
            <a:cxnLst/>
            <a:rect l="l" t="t" r="r" b="b"/>
            <a:pathLst>
              <a:path w="5792787" h="434280">
                <a:moveTo>
                  <a:pt x="88900" y="0"/>
                </a:moveTo>
                <a:lnTo>
                  <a:pt x="5703887" y="0"/>
                </a:lnTo>
                <a:cubicBezTo>
                  <a:pt x="5752657" y="0"/>
                  <a:pt x="5792787" y="40131"/>
                  <a:pt x="5792787" y="88900"/>
                </a:cubicBezTo>
                <a:lnTo>
                  <a:pt x="5792787" y="345381"/>
                </a:lnTo>
                <a:cubicBezTo>
                  <a:pt x="5792787" y="394150"/>
                  <a:pt x="5752657" y="434281"/>
                  <a:pt x="5703887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4F6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48"/>
          <p:cNvSpPr/>
          <p:nvPr/>
        </p:nvSpPr>
        <p:spPr>
          <a:xfrm>
            <a:off x="1047750" y="58342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3500" y="0"/>
                </a:moveTo>
                <a:lnTo>
                  <a:pt x="165100" y="0"/>
                </a:lnTo>
                <a:cubicBezTo>
                  <a:pt x="199935" y="0"/>
                  <a:pt x="228600" y="28665"/>
                  <a:pt x="228600" y="63500"/>
                </a:cubicBezTo>
                <a:lnTo>
                  <a:pt x="228600" y="165100"/>
                </a:lnTo>
                <a:cubicBezTo>
                  <a:pt x="228600" y="199935"/>
                  <a:pt x="199935" y="228600"/>
                  <a:pt x="165100" y="228600"/>
                </a:cubicBezTo>
                <a:lnTo>
                  <a:pt x="63500" y="228600"/>
                </a:lnTo>
                <a:cubicBezTo>
                  <a:pt x="28665" y="228600"/>
                  <a:pt x="0" y="199935"/>
                  <a:pt x="0" y="165100"/>
                </a:cubicBezTo>
                <a:lnTo>
                  <a:pt x="0" y="63500"/>
                </a:lnTo>
                <a:cubicBezTo>
                  <a:pt x="0" y="28665"/>
                  <a:pt x="28665" y="0"/>
                  <a:pt x="635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5891411"/>
            <a:ext cx="114300" cy="11430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1377950" y="5834261"/>
            <a:ext cx="3959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จดจุดที่ยังคลาดเคลื่อน แล้วกลับไปปรับชุดคำสั่งให้คมขึ้น</a:t>
            </a:r>
            <a:endParaRPr lang="th" sz="1300" dirty="0"/>
          </a:p>
        </p:txBody>
      </p:sp>
      <p:sp>
        <p:nvSpPr>
          <p:cNvPr id="60" name="CSS box-shadow background"/>
          <p:cNvSpPr/>
          <p:nvPr/>
        </p:nvSpPr>
        <p:spPr>
          <a:xfrm>
            <a:off x="7189788" y="3594100"/>
            <a:ext cx="4303712" cy="2844800"/>
          </a:xfrm>
          <a:custGeom>
            <a:avLst/>
            <a:gdLst/>
            <a:ahLst/>
            <a:cxnLst/>
            <a:rect l="l" t="t" r="r" b="b"/>
            <a:pathLst>
              <a:path w="4303712" h="2844800">
                <a:moveTo>
                  <a:pt x="127000" y="0"/>
                </a:moveTo>
                <a:lnTo>
                  <a:pt x="4176713" y="0"/>
                </a:lnTo>
                <a:cubicBezTo>
                  <a:pt x="4246383" y="0"/>
                  <a:pt x="4303713" y="57330"/>
                  <a:pt x="4303713" y="127000"/>
                </a:cubicBezTo>
                <a:lnTo>
                  <a:pt x="4303713" y="2717800"/>
                </a:lnTo>
                <a:cubicBezTo>
                  <a:pt x="4303713" y="2787470"/>
                  <a:pt x="4246383" y="2844800"/>
                  <a:pt x="4176713" y="2844800"/>
                </a:cubicBezTo>
                <a:lnTo>
                  <a:pt x="127000" y="2844800"/>
                </a:lnTo>
                <a:cubicBezTo>
                  <a:pt x="57330" y="2844800"/>
                  <a:pt x="0" y="2787470"/>
                  <a:pt x="0" y="27178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41300" dist="101600" dir="5400000" algn="bl" rotWithShape="0">
              <a:srgbClr val="16233A">
                <a:alpha val="12157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1"/>
          <p:cNvSpPr/>
          <p:nvPr/>
        </p:nvSpPr>
        <p:spPr>
          <a:xfrm>
            <a:off x="7189788" y="3594100"/>
            <a:ext cx="4303712" cy="2844800"/>
          </a:xfrm>
          <a:custGeom>
            <a:avLst/>
            <a:gdLst/>
            <a:ahLst/>
            <a:cxnLst/>
            <a:rect l="l" t="t" r="r" b="b"/>
            <a:pathLst>
              <a:path w="4303712" h="2844800">
                <a:moveTo>
                  <a:pt x="127000" y="0"/>
                </a:moveTo>
                <a:lnTo>
                  <a:pt x="4176713" y="0"/>
                </a:lnTo>
                <a:cubicBezTo>
                  <a:pt x="4246383" y="0"/>
                  <a:pt x="4303713" y="57330"/>
                  <a:pt x="4303713" y="127000"/>
                </a:cubicBezTo>
                <a:lnTo>
                  <a:pt x="4303713" y="2717800"/>
                </a:lnTo>
                <a:cubicBezTo>
                  <a:pt x="4303713" y="2787470"/>
                  <a:pt x="4246383" y="2844800"/>
                  <a:pt x="4176713" y="2844800"/>
                </a:cubicBezTo>
                <a:lnTo>
                  <a:pt x="127000" y="2844800"/>
                </a:lnTo>
                <a:cubicBezTo>
                  <a:pt x="57330" y="2844800"/>
                  <a:pt x="0" y="2787470"/>
                  <a:pt x="0" y="27178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52"/>
          <p:cNvSpPr/>
          <p:nvPr/>
        </p:nvSpPr>
        <p:spPr>
          <a:xfrm>
            <a:off x="7196137" y="3600450"/>
            <a:ext cx="4291013" cy="2832100"/>
          </a:xfrm>
          <a:custGeom>
            <a:avLst/>
            <a:gdLst/>
            <a:ahLst/>
            <a:cxnLst/>
            <a:rect l="l" t="t" r="r" b="b"/>
            <a:pathLst>
              <a:path w="4291013" h="2832100">
                <a:moveTo>
                  <a:pt x="127000" y="0"/>
                </a:moveTo>
                <a:lnTo>
                  <a:pt x="4164013" y="0"/>
                </a:lnTo>
                <a:cubicBezTo>
                  <a:pt x="4233683" y="0"/>
                  <a:pt x="4291013" y="57330"/>
                  <a:pt x="4291013" y="127000"/>
                </a:cubicBezTo>
                <a:lnTo>
                  <a:pt x="4291013" y="2705100"/>
                </a:lnTo>
                <a:cubicBezTo>
                  <a:pt x="4291013" y="2774770"/>
                  <a:pt x="4233683" y="2832100"/>
                  <a:pt x="4164013" y="2832100"/>
                </a:cubicBezTo>
                <a:lnTo>
                  <a:pt x="127000" y="2832100"/>
                </a:lnTo>
                <a:cubicBezTo>
                  <a:pt x="57330" y="2832100"/>
                  <a:pt x="0" y="2774770"/>
                  <a:pt x="0" y="27051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blipFill rotWithShape="1">
            <a:blip r:embed="rId9"/>
            <a:stretch>
              <a:fillRect/>
            </a:stretch>
          </a:blip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6137" y="5734050"/>
            <a:ext cx="4291013" cy="69850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7564437" y="5848350"/>
            <a:ext cx="37501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ตั้งคำสั่งให้ชัด แล้วทดสอบซ้ำจนผลนิ่ง ก่อนนำไปใช้จริงกับ</a:t>
            </a:r>
            <a:endParaRPr lang="th" sz="1200" dirty="0"/>
          </a:p>
        </p:txBody>
      </p:sp>
      <p:sp>
        <p:nvSpPr>
          <p:cNvPr id="65" name="Text 54"/>
          <p:cNvSpPr/>
          <p:nvPr/>
        </p:nvSpPr>
        <p:spPr>
          <a:xfrm>
            <a:off x="7564437" y="6096000"/>
            <a:ext cx="5715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นักศึกษา</a:t>
            </a:r>
            <a:endParaRPr lang="th" sz="1200" dirty="0"/>
          </a:p>
        </p:txBody>
      </p:sp>
      <p:pic>
        <p:nvPicPr>
          <p:cNvPr id="6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5837" y="60071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698500" y="692150"/>
            <a:ext cx="4447282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Show &amp; Tell &amp; Wrap-up</a:t>
            </a:r>
            <a:endParaRPr lang="th" sz="3200" dirty="0"/>
          </a:p>
        </p:txBody>
      </p:sp>
      <p:sp>
        <p:nvSpPr>
          <p:cNvPr id="2" name="Text 1"/>
          <p:cNvSpPr/>
          <p:nvPr/>
        </p:nvSpPr>
        <p:spPr>
          <a:xfrm>
            <a:off x="698500" y="1286966"/>
            <a:ext cx="47690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ตัวแทนอาจารย์นำเสนอสิ่งที่สร้างขึ้นในวันนี้ แล้วสรุปบทเรียนร่วมกัน</a:t>
            </a:r>
            <a:endParaRPr lang="th" sz="1300" dirty="0"/>
          </a:p>
        </p:txBody>
      </p:sp>
      <p:sp>
        <p:nvSpPr>
          <p:cNvPr id="3" name="Text 2"/>
          <p:cNvSpPr/>
          <p:nvPr/>
        </p:nvSpPr>
        <p:spPr>
          <a:xfrm>
            <a:off x="936327" y="431800"/>
            <a:ext cx="20073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72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16 · SHOW &amp; TELL</a:t>
            </a:r>
            <a:endParaRPr lang="th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66725"/>
            <a:ext cx="161627" cy="152400"/>
          </a:xfrm>
          <a:prstGeom prst="rect">
            <a:avLst/>
          </a:prstGeom>
        </p:spPr>
      </p:pic>
      <p:pic>
        <p:nvPicPr>
          <p:cNvPr id="5" name="CSS box-shadow raster oute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5" y="1743075"/>
            <a:ext cx="6311900" cy="50863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1879600"/>
            <a:ext cx="5787529" cy="45593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77900" y="2324100"/>
            <a:ext cx="488255" cy="533400"/>
          </a:xfrm>
          <a:custGeom>
            <a:avLst/>
            <a:gdLst/>
            <a:ahLst/>
            <a:cxnLst/>
            <a:rect l="l" t="t" r="r" b="b"/>
            <a:pathLst>
              <a:path w="488255" h="533400">
                <a:moveTo>
                  <a:pt x="127000" y="0"/>
                </a:moveTo>
                <a:lnTo>
                  <a:pt x="361255" y="0"/>
                </a:lnTo>
                <a:cubicBezTo>
                  <a:pt x="430925" y="0"/>
                  <a:pt x="488255" y="57330"/>
                  <a:pt x="488255" y="127000"/>
                </a:cubicBezTo>
                <a:lnTo>
                  <a:pt x="488255" y="406400"/>
                </a:lnTo>
                <a:cubicBezTo>
                  <a:pt x="488255" y="476070"/>
                  <a:pt x="430925" y="533400"/>
                  <a:pt x="361255" y="533400"/>
                </a:cubicBezTo>
                <a:lnTo>
                  <a:pt x="127000" y="533400"/>
                </a:lnTo>
                <a:cubicBezTo>
                  <a:pt x="57330" y="533400"/>
                  <a:pt x="0" y="476070"/>
                  <a:pt x="0" y="4064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297" y="2457450"/>
            <a:ext cx="266700" cy="266700"/>
          </a:xfrm>
          <a:prstGeom prst="rect">
            <a:avLst/>
          </a:prstGeom>
        </p:spPr>
      </p:pic>
      <p:grpSp>
        <p:nvGrpSpPr>
          <p:cNvPr id="9" name="ma"/>
          <p:cNvGrpSpPr/>
          <p:nvPr/>
        </p:nvGrpSpPr>
        <p:grpSpPr>
          <a:xfrm>
            <a:off x="1593155" y="2108200"/>
            <a:ext cx="4390330" cy="958850"/>
            <a:chOff x="1593155" y="2108200"/>
            <a:chExt cx="4390330" cy="958850"/>
          </a:xfrm>
        </p:grpSpPr>
        <p:sp>
          <p:nvSpPr>
            <p:cNvPr id="10" name="Text 0"/>
            <p:cNvSpPr/>
            <p:nvPr/>
          </p:nvSpPr>
          <p:spPr>
            <a:xfrm>
              <a:off x="1593155" y="2108200"/>
              <a:ext cx="1751509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Pitching คนละ</a:t>
              </a:r>
              <a:endParaRPr lang="th" sz="2000" dirty="0"/>
            </a:p>
          </p:txBody>
        </p:sp>
        <p:sp>
          <p:nvSpPr>
            <p:cNvPr id="11" name="Text 1"/>
            <p:cNvSpPr/>
            <p:nvPr/>
          </p:nvSpPr>
          <p:spPr>
            <a:xfrm>
              <a:off x="1593155" y="2413000"/>
              <a:ext cx="4390330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นำเสนอ Use Case / เว็บแอป / Custom</a:t>
              </a:r>
              <a:endParaRPr lang="th" sz="2000" dirty="0"/>
            </a:p>
          </p:txBody>
        </p:sp>
        <p:sp>
          <p:nvSpPr>
            <p:cNvPr id="12" name="Text 2"/>
            <p:cNvSpPr/>
            <p:nvPr/>
          </p:nvSpPr>
          <p:spPr>
            <a:xfrm>
              <a:off x="1593155" y="2717800"/>
              <a:ext cx="583505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Gem</a:t>
              </a:r>
              <a:endParaRPr lang="th" sz="2000" dirty="0"/>
            </a:p>
          </p:txBody>
        </p:sp>
        <p:sp>
          <p:nvSpPr>
            <p:cNvPr id="13" name="Text 3"/>
            <p:cNvSpPr/>
            <p:nvPr/>
          </p:nvSpPr>
          <p:spPr>
            <a:xfrm>
              <a:off x="3410645" y="2108200"/>
              <a:ext cx="922139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E8A33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3-5 นาที</a:t>
              </a:r>
              <a:endParaRPr lang="th" sz="2000" dirty="0"/>
            </a:p>
          </p:txBody>
        </p:sp>
      </p:grpSp>
      <p:sp>
        <p:nvSpPr>
          <p:cNvPr id="14" name="Text 4"/>
          <p:cNvSpPr/>
          <p:nvPr/>
        </p:nvSpPr>
        <p:spPr>
          <a:xfrm>
            <a:off x="977900" y="3162300"/>
            <a:ext cx="51550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FFFFFF">
                    <a:alpha val="8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โชว์ของจริงที่ทำในวันนี้ แล้วให้เพื่อนร่วมห้องช่วยกันสะท้อนกลับแบบสั้น ๆ</a:t>
            </a:r>
            <a:endParaRPr lang="th" sz="1300" dirty="0"/>
          </a:p>
        </p:txBody>
      </p:sp>
      <p:sp>
        <p:nvSpPr>
          <p:cNvPr id="15" name="Shape 5"/>
          <p:cNvSpPr/>
          <p:nvPr/>
        </p:nvSpPr>
        <p:spPr>
          <a:xfrm>
            <a:off x="977900" y="3558480"/>
            <a:ext cx="5228729" cy="434280"/>
          </a:xfrm>
          <a:custGeom>
            <a:avLst/>
            <a:gdLst/>
            <a:ahLst/>
            <a:cxnLst/>
            <a:rect l="l" t="t" r="r" b="b"/>
            <a:pathLst>
              <a:path w="5228729" h="434280">
                <a:moveTo>
                  <a:pt x="88900" y="0"/>
                </a:moveTo>
                <a:lnTo>
                  <a:pt x="5139829" y="0"/>
                </a:lnTo>
                <a:cubicBezTo>
                  <a:pt x="5188598" y="0"/>
                  <a:pt x="5228729" y="40131"/>
                  <a:pt x="5228729" y="88900"/>
                </a:cubicBezTo>
                <a:lnTo>
                  <a:pt x="5228729" y="345381"/>
                </a:lnTo>
                <a:cubicBezTo>
                  <a:pt x="5228729" y="394150"/>
                  <a:pt x="5188598" y="434281"/>
                  <a:pt x="5139829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3672780"/>
            <a:ext cx="203200" cy="20320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409700" y="3660080"/>
            <a:ext cx="37066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FFFFFF">
                    <a:alpha val="94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ปัญหาที่แก้ชัดไหม — เรื่องนี้ช่วยงานอาจารย์ตรงไหน</a:t>
            </a:r>
            <a:endParaRPr lang="th" sz="1300" dirty="0"/>
          </a:p>
        </p:txBody>
      </p:sp>
      <p:sp>
        <p:nvSpPr>
          <p:cNvPr id="18" name="Shape 7"/>
          <p:cNvSpPr/>
          <p:nvPr/>
        </p:nvSpPr>
        <p:spPr>
          <a:xfrm>
            <a:off x="977900" y="4081661"/>
            <a:ext cx="5228729" cy="434280"/>
          </a:xfrm>
          <a:custGeom>
            <a:avLst/>
            <a:gdLst/>
            <a:ahLst/>
            <a:cxnLst/>
            <a:rect l="l" t="t" r="r" b="b"/>
            <a:pathLst>
              <a:path w="5228729" h="434280">
                <a:moveTo>
                  <a:pt x="88900" y="0"/>
                </a:moveTo>
                <a:lnTo>
                  <a:pt x="5139829" y="0"/>
                </a:lnTo>
                <a:cubicBezTo>
                  <a:pt x="5188598" y="0"/>
                  <a:pt x="5228729" y="40131"/>
                  <a:pt x="5228729" y="88900"/>
                </a:cubicBezTo>
                <a:lnTo>
                  <a:pt x="5228729" y="345381"/>
                </a:lnTo>
                <a:cubicBezTo>
                  <a:pt x="5228729" y="394150"/>
                  <a:pt x="5188598" y="434281"/>
                  <a:pt x="5139829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4195961"/>
            <a:ext cx="203200" cy="20320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409700" y="4183261"/>
            <a:ext cx="32140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FFFFFF">
                    <a:alpha val="94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Gem และชุดคำสั่งเหมาะสมกับงานนั้นแค่ไหน</a:t>
            </a:r>
            <a:endParaRPr lang="th" sz="1300" dirty="0"/>
          </a:p>
        </p:txBody>
      </p:sp>
      <p:sp>
        <p:nvSpPr>
          <p:cNvPr id="21" name="Shape 9"/>
          <p:cNvSpPr/>
          <p:nvPr/>
        </p:nvSpPr>
        <p:spPr>
          <a:xfrm>
            <a:off x="977900" y="4604841"/>
            <a:ext cx="5228729" cy="434280"/>
          </a:xfrm>
          <a:custGeom>
            <a:avLst/>
            <a:gdLst/>
            <a:ahLst/>
            <a:cxnLst/>
            <a:rect l="l" t="t" r="r" b="b"/>
            <a:pathLst>
              <a:path w="5228729" h="434280">
                <a:moveTo>
                  <a:pt x="88900" y="0"/>
                </a:moveTo>
                <a:lnTo>
                  <a:pt x="5139829" y="0"/>
                </a:lnTo>
                <a:cubicBezTo>
                  <a:pt x="5188598" y="0"/>
                  <a:pt x="5228729" y="40131"/>
                  <a:pt x="5228729" y="88900"/>
                </a:cubicBezTo>
                <a:lnTo>
                  <a:pt x="5228729" y="345381"/>
                </a:lnTo>
                <a:cubicBezTo>
                  <a:pt x="5228729" y="394150"/>
                  <a:pt x="5188598" y="434281"/>
                  <a:pt x="5139829" y="434281"/>
                </a:cubicBezTo>
                <a:lnTo>
                  <a:pt x="88900" y="434281"/>
                </a:lnTo>
                <a:cubicBezTo>
                  <a:pt x="40131" y="434281"/>
                  <a:pt x="0" y="394150"/>
                  <a:pt x="0" y="34538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4719141"/>
            <a:ext cx="203200" cy="2032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1409700" y="4706441"/>
            <a:ext cx="26304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FFFFFF">
                    <a:alpha val="94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นำไปใช้จริงในรายวิชาได้ทันทีหรือไม่</a:t>
            </a:r>
            <a:endParaRPr lang="th" sz="1300" dirty="0"/>
          </a:p>
        </p:txBody>
      </p:sp>
      <p:sp>
        <p:nvSpPr>
          <p:cNvPr id="24" name="Text 11"/>
          <p:cNvSpPr/>
          <p:nvPr/>
        </p:nvSpPr>
        <p:spPr>
          <a:xfrm>
            <a:off x="6940054" y="1892300"/>
            <a:ext cx="21858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2330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สรุปประเด็นสำคัญของชั่วโมงนี้</a:t>
            </a:r>
            <a:endParaRPr lang="th" sz="13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0029" y="1927225"/>
            <a:ext cx="165100" cy="165100"/>
          </a:xfrm>
          <a:prstGeom prst="rect">
            <a:avLst/>
          </a:prstGeom>
        </p:spPr>
      </p:pic>
      <p:sp>
        <p:nvSpPr>
          <p:cNvPr id="26" name="CSS box-shadow background"/>
          <p:cNvSpPr/>
          <p:nvPr/>
        </p:nvSpPr>
        <p:spPr>
          <a:xfrm>
            <a:off x="6740029" y="2292350"/>
            <a:ext cx="4753471" cy="1280517"/>
          </a:xfrm>
          <a:custGeom>
            <a:avLst/>
            <a:gdLst/>
            <a:ahLst/>
            <a:cxnLst/>
            <a:rect l="l" t="t" r="r" b="b"/>
            <a:pathLst>
              <a:path w="4753471" h="1280517">
                <a:moveTo>
                  <a:pt x="127000" y="0"/>
                </a:moveTo>
                <a:lnTo>
                  <a:pt x="4626471" y="0"/>
                </a:lnTo>
                <a:cubicBezTo>
                  <a:pt x="4696141" y="0"/>
                  <a:pt x="4753471" y="57330"/>
                  <a:pt x="4753471" y="127000"/>
                </a:cubicBezTo>
                <a:lnTo>
                  <a:pt x="4753471" y="1153517"/>
                </a:lnTo>
                <a:cubicBezTo>
                  <a:pt x="4753471" y="1223187"/>
                  <a:pt x="4696141" y="1280517"/>
                  <a:pt x="4626471" y="1280517"/>
                </a:cubicBezTo>
                <a:lnTo>
                  <a:pt x="127000" y="1280517"/>
                </a:lnTo>
                <a:cubicBezTo>
                  <a:pt x="57330" y="1280517"/>
                  <a:pt x="0" y="1223187"/>
                  <a:pt x="0" y="115351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65100" dist="635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13"/>
          <p:cNvSpPr/>
          <p:nvPr/>
        </p:nvSpPr>
        <p:spPr>
          <a:xfrm>
            <a:off x="6740029" y="2292350"/>
            <a:ext cx="4753471" cy="1280517"/>
          </a:xfrm>
          <a:custGeom>
            <a:avLst/>
            <a:gdLst/>
            <a:ahLst/>
            <a:cxnLst/>
            <a:rect l="l" t="t" r="r" b="b"/>
            <a:pathLst>
              <a:path w="4753471" h="1280517">
                <a:moveTo>
                  <a:pt x="127000" y="0"/>
                </a:moveTo>
                <a:lnTo>
                  <a:pt x="4626471" y="0"/>
                </a:lnTo>
                <a:cubicBezTo>
                  <a:pt x="4696141" y="0"/>
                  <a:pt x="4753471" y="57330"/>
                  <a:pt x="4753471" y="127000"/>
                </a:cubicBezTo>
                <a:lnTo>
                  <a:pt x="4753471" y="1153517"/>
                </a:lnTo>
                <a:cubicBezTo>
                  <a:pt x="4753471" y="1223187"/>
                  <a:pt x="4696141" y="1280517"/>
                  <a:pt x="4626471" y="1280517"/>
                </a:cubicBezTo>
                <a:lnTo>
                  <a:pt x="127000" y="1280517"/>
                </a:lnTo>
                <a:cubicBezTo>
                  <a:pt x="57330" y="1280517"/>
                  <a:pt x="0" y="1223187"/>
                  <a:pt x="0" y="115351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14"/>
          <p:cNvSpPr/>
          <p:nvPr/>
        </p:nvSpPr>
        <p:spPr>
          <a:xfrm>
            <a:off x="6936879" y="27421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1600" y="0"/>
                </a:moveTo>
                <a:lnTo>
                  <a:pt x="279400" y="0"/>
                </a:lnTo>
                <a:cubicBezTo>
                  <a:pt x="335136" y="0"/>
                  <a:pt x="381000" y="45864"/>
                  <a:pt x="381000" y="101600"/>
                </a:cubicBezTo>
                <a:lnTo>
                  <a:pt x="381000" y="279400"/>
                </a:lnTo>
                <a:cubicBezTo>
                  <a:pt x="381000" y="335136"/>
                  <a:pt x="335136" y="381000"/>
                  <a:pt x="279400" y="381000"/>
                </a:cubicBezTo>
                <a:lnTo>
                  <a:pt x="101600" y="381000"/>
                </a:lnTo>
                <a:cubicBezTo>
                  <a:pt x="45864" y="381000"/>
                  <a:pt x="0" y="335136"/>
                  <a:pt x="0" y="2794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5"/>
          <p:cNvSpPr/>
          <p:nvPr/>
        </p:nvSpPr>
        <p:spPr>
          <a:xfrm>
            <a:off x="7054652" y="2757984"/>
            <a:ext cx="14535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1</a:t>
            </a:r>
            <a:endParaRPr lang="th" sz="2000" dirty="0"/>
          </a:p>
        </p:txBody>
      </p:sp>
      <p:sp>
        <p:nvSpPr>
          <p:cNvPr id="30" name="Text 16"/>
          <p:cNvSpPr/>
          <p:nvPr/>
        </p:nvSpPr>
        <p:spPr>
          <a:xfrm>
            <a:off x="7457579" y="2689423"/>
            <a:ext cx="14947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Gem = เกณฑ์ที่จำได้</a:t>
            </a:r>
            <a:endParaRPr lang="th" sz="1300" dirty="0"/>
          </a:p>
        </p:txBody>
      </p:sp>
      <p:sp>
        <p:nvSpPr>
          <p:cNvPr id="31" name="Text 17"/>
          <p:cNvSpPr/>
          <p:nvPr/>
        </p:nvSpPr>
        <p:spPr>
          <a:xfrm>
            <a:off x="7457579" y="2975173"/>
            <a:ext cx="28551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ตั้งคำสั่งครั้งเดียว ให้ผลสม่ำเสมอทุกครั้งที่ใช้</a:t>
            </a:r>
            <a:endParaRPr lang="th" sz="1200" dirty="0"/>
          </a:p>
        </p:txBody>
      </p:sp>
      <p:sp>
        <p:nvSpPr>
          <p:cNvPr id="32" name="CSS box-shadow background"/>
          <p:cNvSpPr/>
          <p:nvPr/>
        </p:nvSpPr>
        <p:spPr>
          <a:xfrm>
            <a:off x="6740029" y="3725267"/>
            <a:ext cx="4753471" cy="1280616"/>
          </a:xfrm>
          <a:custGeom>
            <a:avLst/>
            <a:gdLst/>
            <a:ahLst/>
            <a:cxnLst/>
            <a:rect l="l" t="t" r="r" b="b"/>
            <a:pathLst>
              <a:path w="4753471" h="1280616">
                <a:moveTo>
                  <a:pt x="127000" y="0"/>
                </a:moveTo>
                <a:lnTo>
                  <a:pt x="4626471" y="0"/>
                </a:lnTo>
                <a:cubicBezTo>
                  <a:pt x="4696141" y="0"/>
                  <a:pt x="4753471" y="57330"/>
                  <a:pt x="4753471" y="127000"/>
                </a:cubicBezTo>
                <a:lnTo>
                  <a:pt x="4753471" y="1153617"/>
                </a:lnTo>
                <a:cubicBezTo>
                  <a:pt x="4753471" y="1223287"/>
                  <a:pt x="4696141" y="1280617"/>
                  <a:pt x="4626471" y="1280617"/>
                </a:cubicBezTo>
                <a:lnTo>
                  <a:pt x="127000" y="1280617"/>
                </a:lnTo>
                <a:cubicBezTo>
                  <a:pt x="57330" y="1280617"/>
                  <a:pt x="0" y="1223287"/>
                  <a:pt x="0" y="115361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65100" dist="635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19"/>
          <p:cNvSpPr/>
          <p:nvPr/>
        </p:nvSpPr>
        <p:spPr>
          <a:xfrm>
            <a:off x="6740029" y="3725267"/>
            <a:ext cx="4753471" cy="1280616"/>
          </a:xfrm>
          <a:custGeom>
            <a:avLst/>
            <a:gdLst/>
            <a:ahLst/>
            <a:cxnLst/>
            <a:rect l="l" t="t" r="r" b="b"/>
            <a:pathLst>
              <a:path w="4753471" h="1280616">
                <a:moveTo>
                  <a:pt x="127000" y="0"/>
                </a:moveTo>
                <a:lnTo>
                  <a:pt x="4626471" y="0"/>
                </a:lnTo>
                <a:cubicBezTo>
                  <a:pt x="4696141" y="0"/>
                  <a:pt x="4753471" y="57330"/>
                  <a:pt x="4753471" y="127000"/>
                </a:cubicBezTo>
                <a:lnTo>
                  <a:pt x="4753471" y="1153617"/>
                </a:lnTo>
                <a:cubicBezTo>
                  <a:pt x="4753471" y="1223287"/>
                  <a:pt x="4696141" y="1280617"/>
                  <a:pt x="4626471" y="1280617"/>
                </a:cubicBezTo>
                <a:lnTo>
                  <a:pt x="127000" y="1280617"/>
                </a:lnTo>
                <a:cubicBezTo>
                  <a:pt x="57330" y="1280617"/>
                  <a:pt x="0" y="1223287"/>
                  <a:pt x="0" y="115361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20"/>
          <p:cNvSpPr/>
          <p:nvPr/>
        </p:nvSpPr>
        <p:spPr>
          <a:xfrm>
            <a:off x="6936879" y="4175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1600" y="0"/>
                </a:moveTo>
                <a:lnTo>
                  <a:pt x="279400" y="0"/>
                </a:lnTo>
                <a:cubicBezTo>
                  <a:pt x="335136" y="0"/>
                  <a:pt x="381000" y="45864"/>
                  <a:pt x="381000" y="101600"/>
                </a:cubicBezTo>
                <a:lnTo>
                  <a:pt x="381000" y="279400"/>
                </a:lnTo>
                <a:cubicBezTo>
                  <a:pt x="381000" y="335136"/>
                  <a:pt x="335136" y="381000"/>
                  <a:pt x="279400" y="381000"/>
                </a:cubicBezTo>
                <a:lnTo>
                  <a:pt x="101600" y="381000"/>
                </a:lnTo>
                <a:cubicBezTo>
                  <a:pt x="45864" y="381000"/>
                  <a:pt x="0" y="335136"/>
                  <a:pt x="0" y="2794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1"/>
          <p:cNvSpPr/>
          <p:nvPr/>
        </p:nvSpPr>
        <p:spPr>
          <a:xfrm>
            <a:off x="7054652" y="4190901"/>
            <a:ext cx="14535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2</a:t>
            </a:r>
            <a:endParaRPr lang="th" sz="2000" dirty="0"/>
          </a:p>
        </p:txBody>
      </p:sp>
      <p:sp>
        <p:nvSpPr>
          <p:cNvPr id="36" name="Text 22"/>
          <p:cNvSpPr/>
          <p:nvPr/>
        </p:nvSpPr>
        <p:spPr>
          <a:xfrm>
            <a:off x="7457579" y="4015680"/>
            <a:ext cx="11532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ร่าง ครูตัดสิน</a:t>
            </a:r>
            <a:endParaRPr lang="th" sz="1300" dirty="0"/>
          </a:p>
        </p:txBody>
      </p:sp>
      <p:sp>
        <p:nvSpPr>
          <p:cNvPr id="37" name="Text 23"/>
          <p:cNvSpPr/>
          <p:nvPr/>
        </p:nvSpPr>
        <p:spPr>
          <a:xfrm>
            <a:off x="7457579" y="4301430"/>
            <a:ext cx="376733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ใช้ AI ช่วยตรวจและร่างฟีดแบ็ก แต่คะแนนสุดท้ายเป็นของ</a:t>
            </a:r>
            <a:endParaRPr lang="th" sz="1200" dirty="0"/>
          </a:p>
        </p:txBody>
      </p:sp>
      <p:sp>
        <p:nvSpPr>
          <p:cNvPr id="38" name="Text 24"/>
          <p:cNvSpPr/>
          <p:nvPr/>
        </p:nvSpPr>
        <p:spPr>
          <a:xfrm>
            <a:off x="7457579" y="4514751"/>
            <a:ext cx="5231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อาจารย์</a:t>
            </a:r>
            <a:endParaRPr lang="th" sz="1200" dirty="0"/>
          </a:p>
        </p:txBody>
      </p:sp>
      <p:sp>
        <p:nvSpPr>
          <p:cNvPr id="39" name="CSS box-shadow background"/>
          <p:cNvSpPr/>
          <p:nvPr/>
        </p:nvSpPr>
        <p:spPr>
          <a:xfrm>
            <a:off x="6740029" y="5158284"/>
            <a:ext cx="4753471" cy="1280616"/>
          </a:xfrm>
          <a:custGeom>
            <a:avLst/>
            <a:gdLst/>
            <a:ahLst/>
            <a:cxnLst/>
            <a:rect l="l" t="t" r="r" b="b"/>
            <a:pathLst>
              <a:path w="4753471" h="1280616">
                <a:moveTo>
                  <a:pt x="127000" y="0"/>
                </a:moveTo>
                <a:lnTo>
                  <a:pt x="4626471" y="0"/>
                </a:lnTo>
                <a:cubicBezTo>
                  <a:pt x="4696141" y="0"/>
                  <a:pt x="4753471" y="57330"/>
                  <a:pt x="4753471" y="127000"/>
                </a:cubicBezTo>
                <a:lnTo>
                  <a:pt x="4753471" y="1153617"/>
                </a:lnTo>
                <a:cubicBezTo>
                  <a:pt x="4753471" y="1223287"/>
                  <a:pt x="4696141" y="1280617"/>
                  <a:pt x="4626471" y="1280617"/>
                </a:cubicBezTo>
                <a:lnTo>
                  <a:pt x="127000" y="1280617"/>
                </a:lnTo>
                <a:cubicBezTo>
                  <a:pt x="57330" y="1280617"/>
                  <a:pt x="0" y="1223287"/>
                  <a:pt x="0" y="115361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65100" dist="63500" dir="5400000" algn="bl" rotWithShape="0">
              <a:srgbClr val="16233A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26"/>
          <p:cNvSpPr/>
          <p:nvPr/>
        </p:nvSpPr>
        <p:spPr>
          <a:xfrm>
            <a:off x="6740029" y="5158284"/>
            <a:ext cx="4753471" cy="1280616"/>
          </a:xfrm>
          <a:custGeom>
            <a:avLst/>
            <a:gdLst/>
            <a:ahLst/>
            <a:cxnLst/>
            <a:rect l="l" t="t" r="r" b="b"/>
            <a:pathLst>
              <a:path w="4753471" h="1280616">
                <a:moveTo>
                  <a:pt x="127000" y="0"/>
                </a:moveTo>
                <a:lnTo>
                  <a:pt x="4626471" y="0"/>
                </a:lnTo>
                <a:cubicBezTo>
                  <a:pt x="4696141" y="0"/>
                  <a:pt x="4753471" y="57330"/>
                  <a:pt x="4753471" y="127000"/>
                </a:cubicBezTo>
                <a:lnTo>
                  <a:pt x="4753471" y="1153617"/>
                </a:lnTo>
                <a:cubicBezTo>
                  <a:pt x="4753471" y="1223287"/>
                  <a:pt x="4696141" y="1280617"/>
                  <a:pt x="4626471" y="1280617"/>
                </a:cubicBezTo>
                <a:lnTo>
                  <a:pt x="127000" y="1280617"/>
                </a:lnTo>
                <a:cubicBezTo>
                  <a:pt x="57330" y="1280617"/>
                  <a:pt x="0" y="1223287"/>
                  <a:pt x="0" y="1153617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9E0EC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27"/>
          <p:cNvSpPr/>
          <p:nvPr/>
        </p:nvSpPr>
        <p:spPr>
          <a:xfrm>
            <a:off x="6936879" y="560804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1600" y="0"/>
                </a:moveTo>
                <a:lnTo>
                  <a:pt x="279400" y="0"/>
                </a:lnTo>
                <a:cubicBezTo>
                  <a:pt x="335136" y="0"/>
                  <a:pt x="381000" y="45864"/>
                  <a:pt x="381000" y="101600"/>
                </a:cubicBezTo>
                <a:lnTo>
                  <a:pt x="381000" y="279400"/>
                </a:lnTo>
                <a:cubicBezTo>
                  <a:pt x="381000" y="335136"/>
                  <a:pt x="335136" y="381000"/>
                  <a:pt x="279400" y="381000"/>
                </a:cubicBezTo>
                <a:lnTo>
                  <a:pt x="101600" y="381000"/>
                </a:lnTo>
                <a:cubicBezTo>
                  <a:pt x="45864" y="381000"/>
                  <a:pt x="0" y="335136"/>
                  <a:pt x="0" y="2794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E7F4F1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28"/>
          <p:cNvSpPr/>
          <p:nvPr/>
        </p:nvSpPr>
        <p:spPr>
          <a:xfrm>
            <a:off x="7054652" y="5623917"/>
            <a:ext cx="14535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0E7C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3</a:t>
            </a:r>
            <a:endParaRPr lang="th" sz="2000" dirty="0"/>
          </a:p>
        </p:txBody>
      </p:sp>
      <p:sp>
        <p:nvSpPr>
          <p:cNvPr id="43" name="Text 29"/>
          <p:cNvSpPr/>
          <p:nvPr/>
        </p:nvSpPr>
        <p:spPr>
          <a:xfrm>
            <a:off x="7457579" y="5448697"/>
            <a:ext cx="15921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1623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เก็บผลไว้ใช้ในงาน QA</a:t>
            </a:r>
            <a:endParaRPr lang="th" sz="1300" dirty="0"/>
          </a:p>
        </p:txBody>
      </p:sp>
      <p:sp>
        <p:nvSpPr>
          <p:cNvPr id="44" name="Text 30"/>
          <p:cNvSpPr/>
          <p:nvPr/>
        </p:nvSpPr>
        <p:spPr>
          <a:xfrm>
            <a:off x="7457579" y="5734447"/>
            <a:ext cx="34878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ข้อมูลการตรวจย้อนหลังช่วยยืนยันความน่าเชื่อถือของ</a:t>
            </a:r>
            <a:endParaRPr lang="th" sz="1200" dirty="0"/>
          </a:p>
        </p:txBody>
      </p:sp>
      <p:sp>
        <p:nvSpPr>
          <p:cNvPr id="45" name="Text 31"/>
          <p:cNvSpPr/>
          <p:nvPr/>
        </p:nvSpPr>
        <p:spPr>
          <a:xfrm>
            <a:off x="7457579" y="5947767"/>
            <a:ext cx="5599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C69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หลักสูตร</a:t>
            </a:r>
            <a:endParaRPr lang="th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181350" cy="3054350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975" y="4371975"/>
            <a:ext cx="2740025" cy="24860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02274" y="1422896"/>
            <a:ext cx="2787352" cy="412750"/>
          </a:xfrm>
          <a:custGeom>
            <a:avLst/>
            <a:gdLst/>
            <a:ahLst/>
            <a:cxnLst/>
            <a:rect l="l" t="t" r="r" b="b"/>
            <a:pathLst>
              <a:path w="2787352" h="412750">
                <a:moveTo>
                  <a:pt x="206375" y="0"/>
                </a:moveTo>
                <a:lnTo>
                  <a:pt x="2580977" y="0"/>
                </a:lnTo>
                <a:cubicBezTo>
                  <a:pt x="2694191" y="0"/>
                  <a:pt x="2787353" y="93161"/>
                  <a:pt x="2787353" y="206375"/>
                </a:cubicBezTo>
                <a:lnTo>
                  <a:pt x="2787353" y="206375"/>
                </a:lnTo>
                <a:cubicBezTo>
                  <a:pt x="2787353" y="319589"/>
                  <a:pt x="2694191" y="412750"/>
                  <a:pt x="2580977" y="412750"/>
                </a:cubicBezTo>
                <a:lnTo>
                  <a:pt x="206375" y="412750"/>
                </a:lnTo>
                <a:cubicBezTo>
                  <a:pt x="93161" y="412750"/>
                  <a:pt x="0" y="319589"/>
                  <a:pt x="0" y="206375"/>
                </a:cubicBezTo>
                <a:lnTo>
                  <a:pt x="0" y="206375"/>
                </a:lnTo>
                <a:cubicBezTo>
                  <a:pt x="0" y="93161"/>
                  <a:pt x="93161" y="0"/>
                  <a:pt x="206375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086350" y="1518146"/>
            <a:ext cx="22445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200" b="1" i="0" kern="0" spc="24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ชั่วโมงที่ 4 · บทสรุปและก้าวต่อไป</a:t>
            </a:r>
            <a:endParaRPr lang="th" sz="12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024" y="1553071"/>
            <a:ext cx="152400" cy="152400"/>
          </a:xfrm>
          <a:prstGeom prst="rect">
            <a:avLst/>
          </a:prstGeom>
        </p:spPr>
      </p:pic>
      <p:grpSp>
        <p:nvGrpSpPr>
          <p:cNvPr id="6" name="ma"/>
          <p:cNvGrpSpPr/>
          <p:nvPr/>
        </p:nvGrpSpPr>
        <p:grpSpPr>
          <a:xfrm>
            <a:off x="2466082" y="1962646"/>
            <a:ext cx="7259736" cy="831850"/>
            <a:chOff x="2466082" y="1962646"/>
            <a:chExt cx="7259736" cy="831850"/>
          </a:xfrm>
        </p:grpSpPr>
        <p:sp>
          <p:nvSpPr>
            <p:cNvPr id="7" name="Text 0"/>
            <p:cNvSpPr/>
            <p:nvPr/>
          </p:nvSpPr>
          <p:spPr>
            <a:xfrm>
              <a:off x="2466082" y="1962646"/>
              <a:ext cx="4441924" cy="8318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th" altLang="en-US" sz="48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Gem ที่ดี เริ่มจาก</a:t>
              </a:r>
              <a:endParaRPr lang="th" sz="4800" dirty="0"/>
            </a:p>
          </p:txBody>
        </p:sp>
        <p:sp>
          <p:nvSpPr>
            <p:cNvPr id="8" name="Text 1"/>
            <p:cNvSpPr/>
            <p:nvPr/>
          </p:nvSpPr>
          <p:spPr>
            <a:xfrm>
              <a:off x="6908006" y="1962646"/>
              <a:ext cx="2817812" cy="8318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th" altLang="en-US" sz="4800" b="1" i="0" dirty="0">
                  <a:solidFill>
                    <a:srgbClr val="E8A33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เกณฑ์ที่ชัด</a:t>
              </a:r>
              <a:endParaRPr lang="th" sz="4800" dirty="0"/>
            </a:p>
          </p:txBody>
        </p:sp>
      </p:grpSp>
      <p:sp>
        <p:nvSpPr>
          <p:cNvPr id="9" name="Shape 2"/>
          <p:cNvSpPr/>
          <p:nvPr/>
        </p:nvSpPr>
        <p:spPr>
          <a:xfrm>
            <a:off x="1651000" y="3065463"/>
            <a:ext cx="2844800" cy="1607542"/>
          </a:xfrm>
          <a:custGeom>
            <a:avLst/>
            <a:gdLst/>
            <a:ahLst/>
            <a:cxnLst/>
            <a:rect l="l" t="t" r="r" b="b"/>
            <a:pathLst>
              <a:path w="2844800" h="1607542">
                <a:moveTo>
                  <a:pt x="127000" y="0"/>
                </a:moveTo>
                <a:lnTo>
                  <a:pt x="2717800" y="0"/>
                </a:lnTo>
                <a:cubicBezTo>
                  <a:pt x="2787470" y="0"/>
                  <a:pt x="2844800" y="57330"/>
                  <a:pt x="2844800" y="127000"/>
                </a:cubicBezTo>
                <a:lnTo>
                  <a:pt x="2844800" y="1480542"/>
                </a:lnTo>
                <a:cubicBezTo>
                  <a:pt x="2844800" y="1550212"/>
                  <a:pt x="2787470" y="1607542"/>
                  <a:pt x="2717800" y="1607542"/>
                </a:cubicBezTo>
                <a:lnTo>
                  <a:pt x="127000" y="1607542"/>
                </a:lnTo>
                <a:cubicBezTo>
                  <a:pt x="57330" y="1607542"/>
                  <a:pt x="0" y="1550212"/>
                  <a:pt x="0" y="1480542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1822450" y="32496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1600" y="0"/>
                </a:moveTo>
                <a:lnTo>
                  <a:pt x="279400" y="0"/>
                </a:lnTo>
                <a:cubicBezTo>
                  <a:pt x="335136" y="0"/>
                  <a:pt x="381000" y="45864"/>
                  <a:pt x="381000" y="101600"/>
                </a:cubicBezTo>
                <a:lnTo>
                  <a:pt x="381000" y="279400"/>
                </a:lnTo>
                <a:cubicBezTo>
                  <a:pt x="381000" y="335136"/>
                  <a:pt x="335136" y="381000"/>
                  <a:pt x="279400" y="381000"/>
                </a:cubicBezTo>
                <a:lnTo>
                  <a:pt x="101600" y="381000"/>
                </a:lnTo>
                <a:cubicBezTo>
                  <a:pt x="45864" y="381000"/>
                  <a:pt x="0" y="335136"/>
                  <a:pt x="0" y="2794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12A594">
              <a:alpha val="3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2938" y="3351213"/>
            <a:ext cx="200025" cy="17780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822450" y="3757613"/>
            <a:ext cx="10327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ฝังเกณฑ์ให้ชัด</a:t>
            </a:r>
            <a:endParaRPr lang="th" sz="1300" dirty="0"/>
          </a:p>
        </p:txBody>
      </p:sp>
      <p:sp>
        <p:nvSpPr>
          <p:cNvPr id="13" name="Text 5"/>
          <p:cNvSpPr/>
          <p:nvPr/>
        </p:nvSpPr>
        <p:spPr>
          <a:xfrm>
            <a:off x="1822450" y="4056062"/>
            <a:ext cx="238700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เขียน Rubric และระเบียบหลักสูตรลง</a:t>
            </a:r>
            <a:endParaRPr lang="th" sz="1200" dirty="0"/>
          </a:p>
        </p:txBody>
      </p:sp>
      <p:sp>
        <p:nvSpPr>
          <p:cNvPr id="14" name="Text 6"/>
          <p:cNvSpPr/>
          <p:nvPr/>
        </p:nvSpPr>
        <p:spPr>
          <a:xfrm>
            <a:off x="1822450" y="4272459"/>
            <a:ext cx="194151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ในคำสั่ง ยิ่งชัด ผลยิ่งสม่ำเสมอ</a:t>
            </a:r>
            <a:endParaRPr lang="th" sz="1200" dirty="0"/>
          </a:p>
        </p:txBody>
      </p:sp>
      <p:sp>
        <p:nvSpPr>
          <p:cNvPr id="15" name="Shape 7"/>
          <p:cNvSpPr/>
          <p:nvPr/>
        </p:nvSpPr>
        <p:spPr>
          <a:xfrm>
            <a:off x="4673600" y="3065463"/>
            <a:ext cx="2844800" cy="1607542"/>
          </a:xfrm>
          <a:custGeom>
            <a:avLst/>
            <a:gdLst/>
            <a:ahLst/>
            <a:cxnLst/>
            <a:rect l="l" t="t" r="r" b="b"/>
            <a:pathLst>
              <a:path w="2844800" h="1607542">
                <a:moveTo>
                  <a:pt x="127000" y="0"/>
                </a:moveTo>
                <a:lnTo>
                  <a:pt x="2717800" y="0"/>
                </a:lnTo>
                <a:cubicBezTo>
                  <a:pt x="2787470" y="0"/>
                  <a:pt x="2844800" y="57330"/>
                  <a:pt x="2844800" y="127000"/>
                </a:cubicBezTo>
                <a:lnTo>
                  <a:pt x="2844800" y="1480542"/>
                </a:lnTo>
                <a:cubicBezTo>
                  <a:pt x="2844800" y="1550212"/>
                  <a:pt x="2787470" y="1607542"/>
                  <a:pt x="2717800" y="1607542"/>
                </a:cubicBezTo>
                <a:lnTo>
                  <a:pt x="127000" y="1607542"/>
                </a:lnTo>
                <a:cubicBezTo>
                  <a:pt x="57330" y="1607542"/>
                  <a:pt x="0" y="1550212"/>
                  <a:pt x="0" y="1480542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8"/>
          <p:cNvSpPr/>
          <p:nvPr/>
        </p:nvSpPr>
        <p:spPr>
          <a:xfrm>
            <a:off x="4845050" y="32496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1600" y="0"/>
                </a:moveTo>
                <a:lnTo>
                  <a:pt x="279400" y="0"/>
                </a:lnTo>
                <a:cubicBezTo>
                  <a:pt x="335136" y="0"/>
                  <a:pt x="381000" y="45864"/>
                  <a:pt x="381000" y="101600"/>
                </a:cubicBezTo>
                <a:lnTo>
                  <a:pt x="381000" y="279400"/>
                </a:lnTo>
                <a:cubicBezTo>
                  <a:pt x="381000" y="335136"/>
                  <a:pt x="335136" y="381000"/>
                  <a:pt x="279400" y="381000"/>
                </a:cubicBezTo>
                <a:lnTo>
                  <a:pt x="101600" y="381000"/>
                </a:lnTo>
                <a:cubicBezTo>
                  <a:pt x="45864" y="381000"/>
                  <a:pt x="0" y="335136"/>
                  <a:pt x="0" y="2794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12A594">
              <a:alpha val="3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4425" y="3351213"/>
            <a:ext cx="222250" cy="1778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845050" y="3757613"/>
            <a:ext cx="13855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 AI ร่าง ครูตัดสิน</a:t>
            </a:r>
            <a:endParaRPr lang="th" sz="1300" dirty="0"/>
          </a:p>
        </p:txBody>
      </p:sp>
      <p:sp>
        <p:nvSpPr>
          <p:cNvPr id="19" name="Text 10"/>
          <p:cNvSpPr/>
          <p:nvPr/>
        </p:nvSpPr>
        <p:spPr>
          <a:xfrm>
            <a:off x="4845050" y="4056062"/>
            <a:ext cx="20690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ช่วยตรวจและร่างฟีดแบ็ก แต่</a:t>
            </a:r>
            <a:endParaRPr lang="th" sz="1200" dirty="0"/>
          </a:p>
        </p:txBody>
      </p:sp>
      <p:sp>
        <p:nvSpPr>
          <p:cNvPr id="20" name="Text 11"/>
          <p:cNvSpPr/>
          <p:nvPr/>
        </p:nvSpPr>
        <p:spPr>
          <a:xfrm>
            <a:off x="4845050" y="4272459"/>
            <a:ext cx="23738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อาจารย์ยังเป็นผู้ยืนยันคะแนนสุดท้าย</a:t>
            </a:r>
            <a:endParaRPr lang="th" sz="1200" dirty="0"/>
          </a:p>
        </p:txBody>
      </p:sp>
      <p:sp>
        <p:nvSpPr>
          <p:cNvPr id="21" name="Shape 12"/>
          <p:cNvSpPr/>
          <p:nvPr/>
        </p:nvSpPr>
        <p:spPr>
          <a:xfrm>
            <a:off x="7696200" y="3065463"/>
            <a:ext cx="2844800" cy="1607542"/>
          </a:xfrm>
          <a:custGeom>
            <a:avLst/>
            <a:gdLst/>
            <a:ahLst/>
            <a:cxnLst/>
            <a:rect l="l" t="t" r="r" b="b"/>
            <a:pathLst>
              <a:path w="2844800" h="1607542">
                <a:moveTo>
                  <a:pt x="127000" y="0"/>
                </a:moveTo>
                <a:lnTo>
                  <a:pt x="2717800" y="0"/>
                </a:lnTo>
                <a:cubicBezTo>
                  <a:pt x="2787470" y="0"/>
                  <a:pt x="2844800" y="57330"/>
                  <a:pt x="2844800" y="127000"/>
                </a:cubicBezTo>
                <a:lnTo>
                  <a:pt x="2844800" y="1480542"/>
                </a:lnTo>
                <a:cubicBezTo>
                  <a:pt x="2844800" y="1550212"/>
                  <a:pt x="2787470" y="1607542"/>
                  <a:pt x="2717800" y="1607542"/>
                </a:cubicBezTo>
                <a:lnTo>
                  <a:pt x="127000" y="1607542"/>
                </a:lnTo>
                <a:cubicBezTo>
                  <a:pt x="57330" y="1607542"/>
                  <a:pt x="0" y="1550212"/>
                  <a:pt x="0" y="1480542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3"/>
          <p:cNvSpPr/>
          <p:nvPr/>
        </p:nvSpPr>
        <p:spPr>
          <a:xfrm>
            <a:off x="7867650" y="32496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1600" y="0"/>
                </a:moveTo>
                <a:lnTo>
                  <a:pt x="279400" y="0"/>
                </a:lnTo>
                <a:cubicBezTo>
                  <a:pt x="335136" y="0"/>
                  <a:pt x="381000" y="45864"/>
                  <a:pt x="381000" y="101600"/>
                </a:cubicBezTo>
                <a:lnTo>
                  <a:pt x="381000" y="279400"/>
                </a:lnTo>
                <a:cubicBezTo>
                  <a:pt x="381000" y="335136"/>
                  <a:pt x="335136" y="381000"/>
                  <a:pt x="279400" y="381000"/>
                </a:cubicBezTo>
                <a:lnTo>
                  <a:pt x="101600" y="381000"/>
                </a:lnTo>
                <a:cubicBezTo>
                  <a:pt x="45864" y="381000"/>
                  <a:pt x="0" y="335136"/>
                  <a:pt x="0" y="2794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12A594">
              <a:alpha val="3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9250" y="3351213"/>
            <a:ext cx="177800" cy="1778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867650" y="3757613"/>
            <a:ext cx="19339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เก็บผลไว้ตรวจทานย้อนหลัง</a:t>
            </a:r>
            <a:endParaRPr lang="th" sz="1300" dirty="0"/>
          </a:p>
        </p:txBody>
      </p:sp>
      <p:sp>
        <p:nvSpPr>
          <p:cNvPr id="25" name="Text 15"/>
          <p:cNvSpPr/>
          <p:nvPr/>
        </p:nvSpPr>
        <p:spPr>
          <a:xfrm>
            <a:off x="7867650" y="4056062"/>
            <a:ext cx="24315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ใช้หลักฐานการประเมินยืนยันคุณภาพ</a:t>
            </a:r>
            <a:endParaRPr lang="th" sz="1200" dirty="0"/>
          </a:p>
        </p:txBody>
      </p:sp>
      <p:sp>
        <p:nvSpPr>
          <p:cNvPr id="26" name="Text 16"/>
          <p:cNvSpPr/>
          <p:nvPr/>
        </p:nvSpPr>
        <p:spPr>
          <a:xfrm>
            <a:off x="7867650" y="4272459"/>
            <a:ext cx="20977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และความน่าเชื่อถือของหลักสูตร</a:t>
            </a:r>
            <a:endParaRPr lang="th" sz="1200" dirty="0"/>
          </a:p>
        </p:txBody>
      </p:sp>
      <p:sp>
        <p:nvSpPr>
          <p:cNvPr id="27" name="Text 17"/>
          <p:cNvSpPr/>
          <p:nvPr/>
        </p:nvSpPr>
        <p:spPr>
          <a:xfrm>
            <a:off x="3086100" y="5047655"/>
            <a:ext cx="639117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2000" b="1" i="0" dirty="0">
                <a:solidFill>
                  <a:srgbClr val="FFFFFF">
                    <a:alpha val="9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ขอบคุณ · พร้อมนำ Custom Gem ไปใช้ในหลักสูตรของคุณ</a:t>
            </a:r>
            <a:endParaRPr lang="th" sz="2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4625" y="5123855"/>
            <a:ext cx="269875" cy="21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747</Words>
  <Application>Microsoft Office PowerPoint</Application>
  <PresentationFormat>Widescreen</PresentationFormat>
  <Paragraphs>124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by aippt</dc:title>
  <dc:subject>Generated by aippt</dc:subject>
  <dc:creator>aippt</dc:creator>
  <cp:lastModifiedBy>KHANCHAI SAE-TAE</cp:lastModifiedBy>
  <cp:revision>1</cp:revision>
  <dcterms:created xsi:type="dcterms:W3CDTF">2026-10-20T15:54:58Z</dcterms:created>
  <dcterms:modified xsi:type="dcterms:W3CDTF">2026-10-20T16:03:34Z</dcterms:modified>
</cp:coreProperties>
</file>