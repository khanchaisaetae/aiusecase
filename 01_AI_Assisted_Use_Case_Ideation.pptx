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28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00" y="0"/>
            <a:ext cx="3505200" cy="2705100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635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5500" y="1374775"/>
            <a:ext cx="406400" cy="25400"/>
          </a:xfrm>
          <a:custGeom>
            <a:avLst/>
            <a:gdLst/>
            <a:ahLst/>
            <a:cxnLst/>
            <a:rect l="l" t="t" r="r" b="b"/>
            <a:pathLst>
              <a:path w="406400" h="25400">
                <a:moveTo>
                  <a:pt x="12700" y="0"/>
                </a:moveTo>
                <a:lnTo>
                  <a:pt x="393700" y="0"/>
                </a:lnTo>
                <a:cubicBezTo>
                  <a:pt x="400667" y="0"/>
                  <a:pt x="406400" y="5733"/>
                  <a:pt x="406400" y="12700"/>
                </a:cubicBezTo>
                <a:lnTo>
                  <a:pt x="406400" y="12700"/>
                </a:lnTo>
                <a:cubicBezTo>
                  <a:pt x="406400" y="19667"/>
                  <a:pt x="400667" y="25400"/>
                  <a:pt x="393700" y="25400"/>
                </a:cubicBezTo>
                <a:lnTo>
                  <a:pt x="12700" y="25400"/>
                </a:lnTo>
                <a:cubicBezTo>
                  <a:pt x="5733" y="25400"/>
                  <a:pt x="0" y="19667"/>
                  <a:pt x="0" y="12700"/>
                </a:cubicBezTo>
                <a:lnTo>
                  <a:pt x="0" y="12700"/>
                </a:lnTo>
                <a:cubicBezTo>
                  <a:pt x="0" y="5733"/>
                  <a:pt x="5733" y="0"/>
                  <a:pt x="12700" y="0"/>
                </a:cubicBezTo>
                <a:close/>
              </a:path>
            </a:pathLst>
          </a:custGeom>
          <a:solidFill>
            <a:srgbClr val="17B89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333499" y="1276349"/>
            <a:ext cx="5655983" cy="1166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4000" b="1" i="0" kern="0" spc="15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AI-ASSISTED </a:t>
            </a:r>
            <a:endParaRPr lang="en-US" altLang="en-US" sz="4000" b="1" i="0" kern="0" spc="150">
              <a:solidFill>
                <a:srgbClr val="17B897"/>
              </a:solidFill>
              <a:latin typeface="Arial" panose="020B0604020202020204" pitchFamily="34" charset="0"/>
              <a:ea typeface="Arial" panose="020B0604020202020204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th" altLang="en-US" sz="4000" b="1" i="0" kern="0" spc="15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USE </a:t>
            </a:r>
            <a:r>
              <a:rPr lang="th" altLang="en-US" sz="4000" b="1" i="0" kern="0" spc="150" dirty="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CASE IDEATION</a:t>
            </a:r>
            <a:endParaRPr lang="th" sz="4000" dirty="0"/>
          </a:p>
        </p:txBody>
      </p:sp>
      <p:sp>
        <p:nvSpPr>
          <p:cNvPr id="6" name="Text 2"/>
          <p:cNvSpPr/>
          <p:nvPr/>
        </p:nvSpPr>
        <p:spPr>
          <a:xfrm>
            <a:off x="4439047" y="1276350"/>
            <a:ext cx="62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0" dirty="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·</a:t>
            </a:r>
            <a:endParaRPr lang="th" sz="1200" dirty="0"/>
          </a:p>
        </p:txBody>
      </p:sp>
      <p:sp>
        <p:nvSpPr>
          <p:cNvPr id="9" name="Text 0"/>
          <p:cNvSpPr/>
          <p:nvPr/>
        </p:nvSpPr>
        <p:spPr>
          <a:xfrm>
            <a:off x="825500" y="2963515"/>
            <a:ext cx="5655983" cy="674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th" altLang="en-US" sz="18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เปลี่ยน</a:t>
            </a:r>
            <a:r>
              <a:rPr lang="th" altLang="en-US" sz="1800" b="1" i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งานหนัก</a:t>
            </a:r>
            <a:r>
              <a:rPr lang="th" altLang="en-US" sz="1800" b="1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สู่</a:t>
            </a:r>
            <a:r>
              <a:rPr lang="en-US" altLang="en-US" sz="1800" b="1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 </a:t>
            </a:r>
            <a:r>
              <a:rPr lang="th" altLang="en-US" sz="1800" b="1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พิมพ์เขียว Use Case</a:t>
            </a:r>
            <a:r>
              <a:rPr lang="en-US" altLang="en-US" sz="1800" b="1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 </a:t>
            </a:r>
            <a:r>
              <a:rPr lang="th" altLang="en-US" sz="1800" b="1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เฉพาะศาสตร์</a:t>
            </a:r>
            <a:endParaRPr lang="th" sz="1800"/>
          </a:p>
          <a:p>
            <a:endParaRPr lang="th" sz="1800"/>
          </a:p>
        </p:txBody>
      </p:sp>
      <p:grpSp>
        <p:nvGrpSpPr>
          <p:cNvPr id="13" name="ma"/>
          <p:cNvGrpSpPr/>
          <p:nvPr/>
        </p:nvGrpSpPr>
        <p:grpSpPr>
          <a:xfrm>
            <a:off x="825500" y="4051300"/>
            <a:ext cx="2827536" cy="741660"/>
            <a:chOff x="825500" y="4051300"/>
            <a:chExt cx="2827536" cy="741660"/>
          </a:xfrm>
        </p:grpSpPr>
        <p:sp>
          <p:nvSpPr>
            <p:cNvPr id="14" name="Text 0"/>
            <p:cNvSpPr/>
            <p:nvPr/>
          </p:nvSpPr>
          <p:spPr>
            <a:xfrm>
              <a:off x="825500" y="4051300"/>
              <a:ext cx="778570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0" i="0" dirty="0">
                  <a:solidFill>
                    <a:srgbClr val="F2F6FF">
                      <a:alpha val="80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ก้าวข้าม</a:t>
              </a:r>
              <a:endParaRPr lang="th" sz="2000" dirty="0"/>
            </a:p>
          </p:txBody>
        </p:sp>
        <p:sp>
          <p:nvSpPr>
            <p:cNvPr id="15" name="Text 1"/>
            <p:cNvSpPr/>
            <p:nvPr/>
          </p:nvSpPr>
          <p:spPr>
            <a:xfrm>
              <a:off x="825500" y="4411960"/>
              <a:ext cx="145355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0" i="0" dirty="0">
                  <a:solidFill>
                    <a:srgbClr val="F2F6FF">
                      <a:alpha val="80000"/>
                    </a:srgbClr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สู่</a:t>
              </a:r>
              <a:endParaRPr lang="th" sz="2000" dirty="0"/>
            </a:p>
          </p:txBody>
        </p:sp>
        <p:sp>
          <p:nvSpPr>
            <p:cNvPr id="16" name="Text 2"/>
            <p:cNvSpPr/>
            <p:nvPr/>
          </p:nvSpPr>
          <p:spPr>
            <a:xfrm>
              <a:off x="1670050" y="4051300"/>
              <a:ext cx="1972866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5A62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“การทำสื่อพื้นฐาน”</a:t>
              </a:r>
              <a:endParaRPr lang="th" sz="2000" dirty="0"/>
            </a:p>
          </p:txBody>
        </p:sp>
        <p:sp>
          <p:nvSpPr>
            <p:cNvPr id="17" name="Text 3"/>
            <p:cNvSpPr/>
            <p:nvPr/>
          </p:nvSpPr>
          <p:spPr>
            <a:xfrm>
              <a:off x="1036836" y="4411960"/>
              <a:ext cx="2616200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2000" b="1" i="0" dirty="0">
                  <a:solidFill>
                    <a:srgbClr val="F5A62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“การออกแบบนวัตกรรม”</a:t>
              </a:r>
              <a:endParaRPr lang="th" sz="2000" dirty="0"/>
            </a:p>
          </p:txBody>
        </p:sp>
      </p:grpSp>
      <p:sp>
        <p:nvSpPr>
          <p:cNvPr id="18" name="Shape 4"/>
          <p:cNvSpPr/>
          <p:nvPr/>
        </p:nvSpPr>
        <p:spPr>
          <a:xfrm>
            <a:off x="825500" y="5156200"/>
            <a:ext cx="2232124" cy="495300"/>
          </a:xfrm>
          <a:custGeom>
            <a:avLst/>
            <a:gdLst/>
            <a:ahLst/>
            <a:cxnLst/>
            <a:rect l="l" t="t" r="r" b="b"/>
            <a:pathLst>
              <a:path w="2232124" h="495300">
                <a:moveTo>
                  <a:pt x="88900" y="0"/>
                </a:moveTo>
                <a:lnTo>
                  <a:pt x="2143224" y="0"/>
                </a:lnTo>
                <a:cubicBezTo>
                  <a:pt x="2191993" y="0"/>
                  <a:pt x="2232124" y="40131"/>
                  <a:pt x="2232124" y="88900"/>
                </a:cubicBezTo>
                <a:lnTo>
                  <a:pt x="2232124" y="406400"/>
                </a:lnTo>
                <a:cubicBezTo>
                  <a:pt x="2232124" y="455169"/>
                  <a:pt x="2191993" y="495300"/>
                  <a:pt x="2143224" y="495300"/>
                </a:cubicBezTo>
                <a:lnTo>
                  <a:pt x="88900" y="495300"/>
                </a:lnTo>
                <a:cubicBezTo>
                  <a:pt x="40131" y="495300"/>
                  <a:pt x="0" y="455169"/>
                  <a:pt x="0" y="4064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7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5"/>
          <p:cNvSpPr/>
          <p:nvPr/>
        </p:nvSpPr>
        <p:spPr>
          <a:xfrm>
            <a:off x="996950" y="5308600"/>
            <a:ext cx="22225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400" b="1" i="0" dirty="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</a:t>
            </a:r>
            <a:endParaRPr lang="th" sz="1400" dirty="0"/>
          </a:p>
        </p:txBody>
      </p:sp>
      <p:sp>
        <p:nvSpPr>
          <p:cNvPr id="20" name="Text 6"/>
          <p:cNvSpPr/>
          <p:nvPr/>
        </p:nvSpPr>
        <p:spPr>
          <a:xfrm>
            <a:off x="1308100" y="5276850"/>
            <a:ext cx="157807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 Gemini เป็นที่ปรึกษา</a:t>
            </a:r>
            <a:endParaRPr lang="th" sz="1300" dirty="0"/>
          </a:p>
        </p:txBody>
      </p:sp>
      <p:sp>
        <p:nvSpPr>
          <p:cNvPr id="21" name="Shape 7"/>
          <p:cNvSpPr/>
          <p:nvPr/>
        </p:nvSpPr>
        <p:spPr>
          <a:xfrm>
            <a:off x="3171924" y="5156200"/>
            <a:ext cx="2078236" cy="495300"/>
          </a:xfrm>
          <a:custGeom>
            <a:avLst/>
            <a:gdLst/>
            <a:ahLst/>
            <a:cxnLst/>
            <a:rect l="l" t="t" r="r" b="b"/>
            <a:pathLst>
              <a:path w="2078236" h="495300">
                <a:moveTo>
                  <a:pt x="88900" y="0"/>
                </a:moveTo>
                <a:lnTo>
                  <a:pt x="1989336" y="0"/>
                </a:lnTo>
                <a:cubicBezTo>
                  <a:pt x="2038105" y="0"/>
                  <a:pt x="2078236" y="40131"/>
                  <a:pt x="2078236" y="88900"/>
                </a:cubicBezTo>
                <a:lnTo>
                  <a:pt x="2078236" y="406400"/>
                </a:lnTo>
                <a:cubicBezTo>
                  <a:pt x="2078236" y="455169"/>
                  <a:pt x="2038105" y="495300"/>
                  <a:pt x="1989336" y="495300"/>
                </a:cubicBezTo>
                <a:lnTo>
                  <a:pt x="88900" y="495300"/>
                </a:lnTo>
                <a:cubicBezTo>
                  <a:pt x="40131" y="495300"/>
                  <a:pt x="0" y="455169"/>
                  <a:pt x="0" y="4064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7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8"/>
          <p:cNvSpPr/>
          <p:nvPr/>
        </p:nvSpPr>
        <p:spPr>
          <a:xfrm>
            <a:off x="3343374" y="5308600"/>
            <a:ext cx="17780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400" b="1" i="0" dirty="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</a:t>
            </a:r>
            <a:endParaRPr lang="th" sz="1400" dirty="0"/>
          </a:p>
        </p:txBody>
      </p:sp>
      <p:sp>
        <p:nvSpPr>
          <p:cNvPr id="23" name="Text 9"/>
          <p:cNvSpPr/>
          <p:nvPr/>
        </p:nvSpPr>
        <p:spPr>
          <a:xfrm>
            <a:off x="3610074" y="5276850"/>
            <a:ext cx="14686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ค้นหาคอขวดในรายวิชา</a:t>
            </a:r>
            <a:endParaRPr lang="th" sz="1300" dirty="0"/>
          </a:p>
        </p:txBody>
      </p:sp>
      <p:sp>
        <p:nvSpPr>
          <p:cNvPr id="24" name="Shape 10"/>
          <p:cNvSpPr/>
          <p:nvPr/>
        </p:nvSpPr>
        <p:spPr>
          <a:xfrm>
            <a:off x="5364460" y="5156200"/>
            <a:ext cx="2450207" cy="495300"/>
          </a:xfrm>
          <a:custGeom>
            <a:avLst/>
            <a:gdLst/>
            <a:ahLst/>
            <a:cxnLst/>
            <a:rect l="l" t="t" r="r" b="b"/>
            <a:pathLst>
              <a:path w="2450207" h="495300">
                <a:moveTo>
                  <a:pt x="88900" y="0"/>
                </a:moveTo>
                <a:lnTo>
                  <a:pt x="2361307" y="0"/>
                </a:lnTo>
                <a:cubicBezTo>
                  <a:pt x="2410077" y="0"/>
                  <a:pt x="2450207" y="40131"/>
                  <a:pt x="2450207" y="88900"/>
                </a:cubicBezTo>
                <a:lnTo>
                  <a:pt x="2450207" y="406400"/>
                </a:lnTo>
                <a:cubicBezTo>
                  <a:pt x="2450207" y="455169"/>
                  <a:pt x="2410077" y="495300"/>
                  <a:pt x="2361307" y="495300"/>
                </a:cubicBezTo>
                <a:lnTo>
                  <a:pt x="88900" y="495300"/>
                </a:lnTo>
                <a:cubicBezTo>
                  <a:pt x="40131" y="495300"/>
                  <a:pt x="0" y="455169"/>
                  <a:pt x="0" y="406400"/>
                </a:cubicBezTo>
                <a:lnTo>
                  <a:pt x="0" y="88900"/>
                </a:lnTo>
                <a:cubicBezTo>
                  <a:pt x="0" y="40131"/>
                  <a:pt x="40131" y="0"/>
                  <a:pt x="88900" y="0"/>
                </a:cubicBezTo>
                <a:close/>
              </a:path>
            </a:pathLst>
          </a:custGeom>
          <a:solidFill>
            <a:srgbClr val="FFFFFF">
              <a:alpha val="7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1"/>
          <p:cNvSpPr/>
          <p:nvPr/>
        </p:nvSpPr>
        <p:spPr>
          <a:xfrm>
            <a:off x="5535910" y="5308600"/>
            <a:ext cx="17780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400" b="1" i="0" dirty="0">
                <a:solidFill>
                  <a:srgbClr val="17B8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</a:t>
            </a:r>
            <a:endParaRPr lang="th" sz="1400" dirty="0"/>
          </a:p>
        </p:txBody>
      </p:sp>
      <p:sp>
        <p:nvSpPr>
          <p:cNvPr id="26" name="Text 12"/>
          <p:cNvSpPr/>
          <p:nvPr/>
        </p:nvSpPr>
        <p:spPr>
          <a:xfrm>
            <a:off x="5802610" y="5276850"/>
            <a:ext cx="184060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สร้าง Use Case Blueprint</a:t>
            </a:r>
            <a:endParaRPr lang="th" sz="1300" dirty="0"/>
          </a:p>
        </p:txBody>
      </p:sp>
      <p:pic>
        <p:nvPicPr>
          <p:cNvPr id="27" name="CSS box-shadow raster outer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7325" y="682625"/>
            <a:ext cx="4384675" cy="6000750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8331200" y="952500"/>
            <a:ext cx="3556000" cy="4953000"/>
          </a:xfrm>
          <a:custGeom>
            <a:avLst/>
            <a:gdLst/>
            <a:ahLst/>
            <a:cxnLst/>
            <a:rect l="l" t="t" r="r" b="b"/>
            <a:pathLst>
              <a:path w="3556000" h="4953000">
                <a:moveTo>
                  <a:pt x="165100" y="0"/>
                </a:moveTo>
                <a:lnTo>
                  <a:pt x="3390900" y="0"/>
                </a:lnTo>
                <a:cubicBezTo>
                  <a:pt x="3481471" y="0"/>
                  <a:pt x="3556000" y="74529"/>
                  <a:pt x="3556000" y="165100"/>
                </a:cubicBezTo>
                <a:lnTo>
                  <a:pt x="3556000" y="4787900"/>
                </a:lnTo>
                <a:cubicBezTo>
                  <a:pt x="3556000" y="4878471"/>
                  <a:pt x="3481471" y="4953000"/>
                  <a:pt x="3390900" y="4953000"/>
                </a:cubicBezTo>
                <a:lnTo>
                  <a:pt x="165100" y="4953000"/>
                </a:lnTo>
                <a:cubicBezTo>
                  <a:pt x="74529" y="4953000"/>
                  <a:pt x="0" y="4878471"/>
                  <a:pt x="0" y="47879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noFill/>
          <a:ln w="6350">
            <a:solidFill>
              <a:srgbClr val="FFFFFF">
                <a:alpha val="16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14"/>
          <p:cNvSpPr/>
          <p:nvPr/>
        </p:nvSpPr>
        <p:spPr>
          <a:xfrm>
            <a:off x="8337550" y="958850"/>
            <a:ext cx="3543300" cy="4940300"/>
          </a:xfrm>
          <a:custGeom>
            <a:avLst/>
            <a:gdLst/>
            <a:ahLst/>
            <a:cxnLst/>
            <a:rect l="l" t="t" r="r" b="b"/>
            <a:pathLst>
              <a:path w="3543300" h="4940300">
                <a:moveTo>
                  <a:pt x="165100" y="0"/>
                </a:moveTo>
                <a:lnTo>
                  <a:pt x="3378200" y="0"/>
                </a:lnTo>
                <a:cubicBezTo>
                  <a:pt x="3468771" y="0"/>
                  <a:pt x="3543300" y="74529"/>
                  <a:pt x="3543300" y="165100"/>
                </a:cubicBezTo>
                <a:lnTo>
                  <a:pt x="3543300" y="4775200"/>
                </a:lnTo>
                <a:cubicBezTo>
                  <a:pt x="3543300" y="4865771"/>
                  <a:pt x="3468771" y="4940300"/>
                  <a:pt x="3378200" y="4940300"/>
                </a:cubicBezTo>
                <a:lnTo>
                  <a:pt x="165100" y="4940300"/>
                </a:lnTo>
                <a:cubicBezTo>
                  <a:pt x="74529" y="4940300"/>
                  <a:pt x="0" y="4865771"/>
                  <a:pt x="0" y="4775200"/>
                </a:cubicBezTo>
                <a:lnTo>
                  <a:pt x="0" y="165100"/>
                </a:lnTo>
                <a:cubicBezTo>
                  <a:pt x="0" y="74529"/>
                  <a:pt x="74529" y="0"/>
                  <a:pt x="165100" y="0"/>
                </a:cubicBez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  <a:ln w="12700"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550" y="958850"/>
            <a:ext cx="3543300" cy="4940300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1111250" y="6172200"/>
            <a:ext cx="4148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kern="0" spc="50" dirty="0">
                <a:solidFill>
                  <a:srgbClr val="F2F6FF">
                    <a:alpha val="66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สำหรับอาจารย์และครูผู้สอน · สกัดปัญหาสู่พิมพ์เขียวเฉพาะศาสตร์</a:t>
            </a:r>
            <a:endParaRPr lang="th" sz="1200" dirty="0"/>
          </a:p>
        </p:txBody>
      </p:sp>
      <p:sp>
        <p:nvSpPr>
          <p:cNvPr id="32" name="Text 16"/>
          <p:cNvSpPr/>
          <p:nvPr/>
        </p:nvSpPr>
        <p:spPr>
          <a:xfrm>
            <a:off x="825500" y="6200775"/>
            <a:ext cx="19685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50" dirty="0">
                <a:solidFill>
                  <a:srgbClr val="F5A62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</a:t>
            </a:r>
            <a:endParaRPr lang="th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698500" y="688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001" y="0"/>
                  <a:pt x="76200" y="17199"/>
                  <a:pt x="76200" y="38100"/>
                </a:cubicBezTo>
                <a:lnTo>
                  <a:pt x="76200" y="38100"/>
                </a:lnTo>
                <a:cubicBezTo>
                  <a:pt x="76200" y="59001"/>
                  <a:pt x="59001" y="76200"/>
                  <a:pt x="38100" y="76200"/>
                </a:cubicBezTo>
                <a:lnTo>
                  <a:pt x="38100" y="76200"/>
                </a:lnTo>
                <a:cubicBezTo>
                  <a:pt x="17199" y="76200"/>
                  <a:pt x="0" y="59001"/>
                  <a:pt x="0" y="38100"/>
                </a:cubicBezTo>
                <a:lnTo>
                  <a:pt x="0" y="38100"/>
                </a:lnTo>
                <a:cubicBezTo>
                  <a:pt x="0" y="17199"/>
                  <a:pt x="17199" y="0"/>
                  <a:pt x="38100" y="0"/>
                </a:cubicBezTo>
                <a:close/>
              </a:path>
            </a:pathLst>
          </a:custGeom>
          <a:solidFill>
            <a:srgbClr val="17B89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1"/>
          <p:cNvSpPr/>
          <p:nvPr/>
        </p:nvSpPr>
        <p:spPr>
          <a:xfrm>
            <a:off x="863600" y="615950"/>
            <a:ext cx="14163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0" dirty="0">
                <a:solidFill>
                  <a:srgbClr val="1633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MINDSET SHIFT</a:t>
            </a:r>
            <a:endParaRPr lang="th" sz="1200" dirty="0"/>
          </a:p>
        </p:txBody>
      </p:sp>
      <p:grpSp>
        <p:nvGrpSpPr>
          <p:cNvPr id="3" name="ma"/>
          <p:cNvGrpSpPr/>
          <p:nvPr/>
        </p:nvGrpSpPr>
        <p:grpSpPr>
          <a:xfrm>
            <a:off x="698500" y="882650"/>
            <a:ext cx="6295728" cy="615950"/>
            <a:chOff x="698500" y="882650"/>
            <a:chExt cx="6295728" cy="615950"/>
          </a:xfrm>
        </p:grpSpPr>
        <p:sp>
          <p:nvSpPr>
            <p:cNvPr id="4" name="Text 0"/>
            <p:cNvSpPr/>
            <p:nvPr/>
          </p:nvSpPr>
          <p:spPr>
            <a:xfrm>
              <a:off x="698500" y="882650"/>
              <a:ext cx="657622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จาก</a:t>
              </a:r>
              <a:endParaRPr lang="th" sz="3200" dirty="0"/>
            </a:p>
          </p:txBody>
        </p:sp>
        <p:sp>
          <p:nvSpPr>
            <p:cNvPr id="5" name="Text 1"/>
            <p:cNvSpPr/>
            <p:nvPr/>
          </p:nvSpPr>
          <p:spPr>
            <a:xfrm>
              <a:off x="3118247" y="882650"/>
              <a:ext cx="244773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สู่</a:t>
              </a:r>
              <a:endParaRPr lang="th" sz="32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1461790" y="882650"/>
              <a:ext cx="1550888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24488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“ผู้ใช้ AI”</a:t>
              </a:r>
              <a:endParaRPr lang="th" sz="32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3468688" y="882650"/>
              <a:ext cx="3525540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24488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“สถาปนิกการเรียนรู้”</a:t>
              </a:r>
              <a:endParaRPr lang="th" sz="3200" dirty="0"/>
            </a:p>
          </p:txBody>
        </p:sp>
      </p:grp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663700"/>
            <a:ext cx="10795000" cy="1905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475" y="2019300"/>
            <a:ext cx="19050" cy="874911"/>
          </a:xfrm>
          <a:prstGeom prst="rect">
            <a:avLst/>
          </a:prstGeom>
        </p:spPr>
      </p:pic>
      <p:pic>
        <p:nvPicPr>
          <p:cNvPr id="10" name="CSS box-shadow raster outer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175" y="2935486"/>
            <a:ext cx="1009650" cy="100965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800" y="3008511"/>
            <a:ext cx="660400" cy="6604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3763" y="3199011"/>
            <a:ext cx="279400" cy="27940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5797054" y="3783211"/>
            <a:ext cx="59779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1" i="0" kern="0" spc="50" dirty="0">
                <a:solidFill>
                  <a:srgbClr val="1633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ยกระดับ</a:t>
            </a:r>
            <a:endParaRPr lang="th" sz="1300" dirty="0"/>
          </a:p>
        </p:txBody>
      </p:sp>
      <p:sp>
        <p:nvSpPr>
          <p:cNvPr id="14" name="Text 3"/>
          <p:cNvSpPr/>
          <p:nvPr/>
        </p:nvSpPr>
        <p:spPr>
          <a:xfrm>
            <a:off x="5775722" y="4037211"/>
            <a:ext cx="64055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th" altLang="en-US" sz="1300" b="1" i="0" kern="0" spc="50" dirty="0">
                <a:solidFill>
                  <a:srgbClr val="1633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กรอบคิด</a:t>
            </a:r>
            <a:endParaRPr lang="th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475" y="4405511"/>
            <a:ext cx="19050" cy="874911"/>
          </a:xfrm>
          <a:prstGeom prst="rect">
            <a:avLst/>
          </a:prstGeom>
        </p:spPr>
      </p:pic>
      <p:sp>
        <p:nvSpPr>
          <p:cNvPr id="16" name="CSS box-shadow background"/>
          <p:cNvSpPr/>
          <p:nvPr/>
        </p:nvSpPr>
        <p:spPr>
          <a:xfrm>
            <a:off x="698500" y="2019300"/>
            <a:ext cx="4889500" cy="3261122"/>
          </a:xfrm>
          <a:custGeom>
            <a:avLst/>
            <a:gdLst/>
            <a:ahLst/>
            <a:cxnLst/>
            <a:rect l="l" t="t" r="r" b="b"/>
            <a:pathLst>
              <a:path w="4889500" h="3261122">
                <a:moveTo>
                  <a:pt x="139700" y="0"/>
                </a:moveTo>
                <a:lnTo>
                  <a:pt x="4749800" y="0"/>
                </a:lnTo>
                <a:cubicBezTo>
                  <a:pt x="4826437" y="0"/>
                  <a:pt x="4889500" y="63063"/>
                  <a:pt x="4889500" y="139700"/>
                </a:cubicBezTo>
                <a:lnTo>
                  <a:pt x="4889500" y="3121422"/>
                </a:lnTo>
                <a:cubicBezTo>
                  <a:pt x="4889500" y="3198059"/>
                  <a:pt x="4826437" y="3261122"/>
                  <a:pt x="4749800" y="3261122"/>
                </a:cubicBezTo>
                <a:lnTo>
                  <a:pt x="139700" y="3261122"/>
                </a:lnTo>
                <a:cubicBezTo>
                  <a:pt x="63063" y="3261122"/>
                  <a:pt x="0" y="3198059"/>
                  <a:pt x="0" y="3121422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92100" dist="139700" dir="5400000" algn="bl" rotWithShape="0">
              <a:srgbClr val="16336B">
                <a:alpha val="7843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5"/>
          <p:cNvSpPr/>
          <p:nvPr/>
        </p:nvSpPr>
        <p:spPr>
          <a:xfrm>
            <a:off x="698500" y="2019300"/>
            <a:ext cx="4889500" cy="3261122"/>
          </a:xfrm>
          <a:custGeom>
            <a:avLst/>
            <a:gdLst/>
            <a:ahLst/>
            <a:cxnLst/>
            <a:rect l="l" t="t" r="r" b="b"/>
            <a:pathLst>
              <a:path w="4889500" h="3261122">
                <a:moveTo>
                  <a:pt x="139700" y="0"/>
                </a:moveTo>
                <a:lnTo>
                  <a:pt x="4749800" y="0"/>
                </a:lnTo>
                <a:cubicBezTo>
                  <a:pt x="4826437" y="0"/>
                  <a:pt x="4889500" y="63063"/>
                  <a:pt x="4889500" y="139700"/>
                </a:cubicBezTo>
                <a:lnTo>
                  <a:pt x="4889500" y="3121422"/>
                </a:lnTo>
                <a:cubicBezTo>
                  <a:pt x="4889500" y="3198059"/>
                  <a:pt x="4826437" y="3261122"/>
                  <a:pt x="4749800" y="3261122"/>
                </a:cubicBezTo>
                <a:lnTo>
                  <a:pt x="139700" y="3261122"/>
                </a:lnTo>
                <a:cubicBezTo>
                  <a:pt x="63063" y="3261122"/>
                  <a:pt x="0" y="3198059"/>
                  <a:pt x="0" y="3121422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6"/>
          <p:cNvSpPr/>
          <p:nvPr/>
        </p:nvSpPr>
        <p:spPr>
          <a:xfrm>
            <a:off x="996950" y="2819400"/>
            <a:ext cx="24506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 AI ลด “งานเอกสาร”</a:t>
            </a:r>
            <a:endParaRPr lang="th" sz="2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950" y="3359150"/>
            <a:ext cx="190500" cy="165100"/>
          </a:xfrm>
          <a:prstGeom prst="rect">
            <a:avLst/>
          </a:prstGeom>
        </p:spPr>
      </p:pic>
      <p:grpSp>
        <p:nvGrpSpPr>
          <p:cNvPr id="20" name="ma"/>
          <p:cNvGrpSpPr/>
          <p:nvPr/>
        </p:nvGrpSpPr>
        <p:grpSpPr>
          <a:xfrm>
            <a:off x="1289050" y="3302000"/>
            <a:ext cx="3081040" cy="304800"/>
            <a:chOff x="1289050" y="3302000"/>
            <a:chExt cx="3081040" cy="304800"/>
          </a:xfrm>
        </p:grpSpPr>
        <p:sp>
          <p:nvSpPr>
            <p:cNvPr id="21" name="Text 0"/>
            <p:cNvSpPr/>
            <p:nvPr/>
          </p:nvSpPr>
          <p:spPr>
            <a:xfrm>
              <a:off x="1289050" y="3302000"/>
              <a:ext cx="29081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ร่าง</a:t>
              </a:r>
              <a:endParaRPr lang="th" sz="1600" dirty="0"/>
            </a:p>
          </p:txBody>
        </p:sp>
        <p:sp>
          <p:nvSpPr>
            <p:cNvPr id="22" name="Text 1"/>
            <p:cNvSpPr/>
            <p:nvPr/>
          </p:nvSpPr>
          <p:spPr>
            <a:xfrm>
              <a:off x="2674739" y="3302000"/>
              <a:ext cx="1695351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และโครงสร้างรายวิชา</a:t>
              </a:r>
              <a:endParaRPr lang="th" sz="1600" dirty="0"/>
            </a:p>
          </p:txBody>
        </p:sp>
        <p:sp>
          <p:nvSpPr>
            <p:cNvPr id="23" name="Text 2"/>
            <p:cNvSpPr/>
            <p:nvPr/>
          </p:nvSpPr>
          <p:spPr>
            <a:xfrm>
              <a:off x="1579860" y="3302000"/>
              <a:ext cx="1094879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แผนการสอน</a:t>
              </a:r>
              <a:endParaRPr lang="th" sz="1600" dirty="0"/>
            </a:p>
          </p:txBody>
        </p:sp>
      </p:grp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950" y="3780730"/>
            <a:ext cx="190500" cy="165100"/>
          </a:xfrm>
          <a:prstGeom prst="rect">
            <a:avLst/>
          </a:prstGeom>
        </p:spPr>
      </p:pic>
      <p:grpSp>
        <p:nvGrpSpPr>
          <p:cNvPr id="25" name="ma"/>
          <p:cNvGrpSpPr/>
          <p:nvPr/>
        </p:nvGrpSpPr>
        <p:grpSpPr>
          <a:xfrm>
            <a:off x="1289050" y="3723580"/>
            <a:ext cx="2492971" cy="304800"/>
            <a:chOff x="1289050" y="3723580"/>
            <a:chExt cx="2492971" cy="304800"/>
          </a:xfrm>
        </p:grpSpPr>
        <p:sp>
          <p:nvSpPr>
            <p:cNvPr id="26" name="Text 0"/>
            <p:cNvSpPr/>
            <p:nvPr/>
          </p:nvSpPr>
          <p:spPr>
            <a:xfrm>
              <a:off x="1289050" y="3723580"/>
              <a:ext cx="206276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ทำ</a:t>
              </a:r>
              <a:endParaRPr lang="th" sz="1600" dirty="0"/>
            </a:p>
          </p:txBody>
        </p:sp>
        <p:sp>
          <p:nvSpPr>
            <p:cNvPr id="27" name="Text 1"/>
            <p:cNvSpPr/>
            <p:nvPr/>
          </p:nvSpPr>
          <p:spPr>
            <a:xfrm>
              <a:off x="1937941" y="3723580"/>
              <a:ext cx="184408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และสื่อประกอบการสอน</a:t>
              </a:r>
              <a:endParaRPr lang="th" sz="1600" dirty="0"/>
            </a:p>
          </p:txBody>
        </p:sp>
        <p:sp>
          <p:nvSpPr>
            <p:cNvPr id="28" name="Text 2"/>
            <p:cNvSpPr/>
            <p:nvPr/>
          </p:nvSpPr>
          <p:spPr>
            <a:xfrm>
              <a:off x="1495326" y="3723580"/>
              <a:ext cx="442615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สไลด์</a:t>
              </a:r>
              <a:endParaRPr lang="th" sz="1600" dirty="0"/>
            </a:p>
          </p:txBody>
        </p:sp>
      </p:grp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950" y="4202311"/>
            <a:ext cx="190500" cy="165100"/>
          </a:xfrm>
          <a:prstGeom prst="rect">
            <a:avLst/>
          </a:prstGeom>
        </p:spPr>
      </p:pic>
      <p:grpSp>
        <p:nvGrpSpPr>
          <p:cNvPr id="30" name="ma"/>
          <p:cNvGrpSpPr/>
          <p:nvPr/>
        </p:nvGrpSpPr>
        <p:grpSpPr>
          <a:xfrm>
            <a:off x="1289050" y="4145161"/>
            <a:ext cx="2094508" cy="304800"/>
            <a:chOff x="1289050" y="4145161"/>
            <a:chExt cx="2094508" cy="304800"/>
          </a:xfrm>
        </p:grpSpPr>
        <p:sp>
          <p:nvSpPr>
            <p:cNvPr id="31" name="Text 0"/>
            <p:cNvSpPr/>
            <p:nvPr/>
          </p:nvSpPr>
          <p:spPr>
            <a:xfrm>
              <a:off x="1289050" y="4145161"/>
              <a:ext cx="407095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สร้าง</a:t>
              </a:r>
              <a:endParaRPr lang="th" sz="1600" dirty="0"/>
            </a:p>
          </p:txBody>
        </p:sp>
        <p:sp>
          <p:nvSpPr>
            <p:cNvPr id="32" name="Text 1"/>
            <p:cNvSpPr/>
            <p:nvPr/>
          </p:nvSpPr>
          <p:spPr>
            <a:xfrm>
              <a:off x="2227957" y="4145161"/>
              <a:ext cx="1155601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และแบบฝึกหัด</a:t>
              </a:r>
              <a:endParaRPr lang="th" sz="1600" dirty="0"/>
            </a:p>
          </p:txBody>
        </p:sp>
        <p:sp>
          <p:nvSpPr>
            <p:cNvPr id="33" name="Text 2"/>
            <p:cNvSpPr/>
            <p:nvPr/>
          </p:nvSpPr>
          <p:spPr>
            <a:xfrm>
              <a:off x="1696145" y="4145161"/>
              <a:ext cx="531813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ใบงาน</a:t>
              </a:r>
              <a:endParaRPr lang="th" sz="1600" dirty="0"/>
            </a:p>
          </p:txBody>
        </p:sp>
      </p:grp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950" y="4623891"/>
            <a:ext cx="190500" cy="165100"/>
          </a:xfrm>
          <a:prstGeom prst="rect">
            <a:avLst/>
          </a:prstGeom>
        </p:spPr>
      </p:pic>
      <p:grpSp>
        <p:nvGrpSpPr>
          <p:cNvPr id="35" name="ma"/>
          <p:cNvGrpSpPr/>
          <p:nvPr/>
        </p:nvGrpSpPr>
        <p:grpSpPr>
          <a:xfrm>
            <a:off x="1289050" y="4566741"/>
            <a:ext cx="2494359" cy="304800"/>
            <a:chOff x="1289050" y="4566741"/>
            <a:chExt cx="2494359" cy="304800"/>
          </a:xfrm>
        </p:grpSpPr>
        <p:sp>
          <p:nvSpPr>
            <p:cNvPr id="36" name="Text 0"/>
            <p:cNvSpPr/>
            <p:nvPr/>
          </p:nvSpPr>
          <p:spPr>
            <a:xfrm>
              <a:off x="1289050" y="4566741"/>
              <a:ext cx="355203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ออก</a:t>
              </a:r>
              <a:endParaRPr lang="th" sz="1600" dirty="0"/>
            </a:p>
          </p:txBody>
        </p:sp>
        <p:sp>
          <p:nvSpPr>
            <p:cNvPr id="37" name="Text 1"/>
            <p:cNvSpPr/>
            <p:nvPr/>
          </p:nvSpPr>
          <p:spPr>
            <a:xfrm>
              <a:off x="2256730" y="4566741"/>
              <a:ext cx="1526679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และเกณฑ์ให้คะแนน</a:t>
              </a:r>
              <a:endParaRPr lang="th" sz="1600" dirty="0"/>
            </a:p>
          </p:txBody>
        </p:sp>
        <p:sp>
          <p:nvSpPr>
            <p:cNvPr id="38" name="Text 2"/>
            <p:cNvSpPr/>
            <p:nvPr/>
          </p:nvSpPr>
          <p:spPr>
            <a:xfrm>
              <a:off x="1644253" y="4566741"/>
              <a:ext cx="612477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ข้อสอบ</a:t>
              </a:r>
              <a:endParaRPr lang="th" sz="1600" dirty="0"/>
            </a:p>
          </p:txBody>
        </p:sp>
      </p:grpSp>
      <p:sp>
        <p:nvSpPr>
          <p:cNvPr id="39" name="Shape 7"/>
          <p:cNvSpPr/>
          <p:nvPr/>
        </p:nvSpPr>
        <p:spPr>
          <a:xfrm>
            <a:off x="996950" y="2305050"/>
            <a:ext cx="1891308" cy="381000"/>
          </a:xfrm>
          <a:custGeom>
            <a:avLst/>
            <a:gdLst/>
            <a:ahLst/>
            <a:cxnLst/>
            <a:rect l="l" t="t" r="r" b="b"/>
            <a:pathLst>
              <a:path w="1891308" h="381000">
                <a:moveTo>
                  <a:pt x="190500" y="0"/>
                </a:moveTo>
                <a:lnTo>
                  <a:pt x="1700808" y="0"/>
                </a:lnTo>
                <a:cubicBezTo>
                  <a:pt x="1805313" y="0"/>
                  <a:pt x="1891308" y="85995"/>
                  <a:pt x="1891308" y="190500"/>
                </a:cubicBezTo>
                <a:lnTo>
                  <a:pt x="1891308" y="190500"/>
                </a:lnTo>
                <a:cubicBezTo>
                  <a:pt x="1891308" y="295005"/>
                  <a:pt x="1805313" y="381000"/>
                  <a:pt x="1700808" y="381000"/>
                </a:cubicBezTo>
                <a:lnTo>
                  <a:pt x="190500" y="381000"/>
                </a:lnTo>
                <a:cubicBezTo>
                  <a:pt x="85995" y="381000"/>
                  <a:pt x="0" y="295005"/>
                  <a:pt x="0" y="190500"/>
                </a:cubicBezTo>
                <a:lnTo>
                  <a:pt x="0" y="190500"/>
                </a:lnTo>
                <a:cubicBezTo>
                  <a:pt x="0" y="85995"/>
                  <a:pt x="85995" y="0"/>
                  <a:pt x="190500" y="0"/>
                </a:cubicBezTo>
                <a:close/>
              </a:path>
            </a:pathLst>
          </a:custGeom>
          <a:solidFill>
            <a:srgbClr val="EEF1F6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8"/>
          <p:cNvSpPr/>
          <p:nvPr/>
        </p:nvSpPr>
        <p:spPr>
          <a:xfrm>
            <a:off x="1390650" y="2381250"/>
            <a:ext cx="13579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สิ่งที่คุณเคยทำมาแล้ว</a:t>
            </a:r>
            <a:endParaRPr lang="th" sz="12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650" y="2413000"/>
            <a:ext cx="165100" cy="165100"/>
          </a:xfrm>
          <a:prstGeom prst="rect">
            <a:avLst/>
          </a:prstGeom>
        </p:spPr>
      </p:pic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075" y="2025650"/>
            <a:ext cx="4832350" cy="50800"/>
          </a:xfrm>
          <a:prstGeom prst="rect">
            <a:avLst/>
          </a:prstGeom>
        </p:spPr>
      </p:pic>
      <p:sp>
        <p:nvSpPr>
          <p:cNvPr id="43" name="CSS box-shadow background"/>
          <p:cNvSpPr/>
          <p:nvPr/>
        </p:nvSpPr>
        <p:spPr>
          <a:xfrm>
            <a:off x="6604000" y="2019300"/>
            <a:ext cx="4889500" cy="3261122"/>
          </a:xfrm>
          <a:custGeom>
            <a:avLst/>
            <a:gdLst/>
            <a:ahLst/>
            <a:cxnLst/>
            <a:rect l="l" t="t" r="r" b="b"/>
            <a:pathLst>
              <a:path w="4889500" h="3261122">
                <a:moveTo>
                  <a:pt x="139700" y="0"/>
                </a:moveTo>
                <a:lnTo>
                  <a:pt x="4749800" y="0"/>
                </a:lnTo>
                <a:cubicBezTo>
                  <a:pt x="4826437" y="0"/>
                  <a:pt x="4889500" y="63063"/>
                  <a:pt x="4889500" y="139700"/>
                </a:cubicBezTo>
                <a:lnTo>
                  <a:pt x="4889500" y="3121422"/>
                </a:lnTo>
                <a:cubicBezTo>
                  <a:pt x="4889500" y="3198059"/>
                  <a:pt x="4826437" y="3261122"/>
                  <a:pt x="4749800" y="3261122"/>
                </a:cubicBezTo>
                <a:lnTo>
                  <a:pt x="139700" y="3261122"/>
                </a:lnTo>
                <a:cubicBezTo>
                  <a:pt x="63063" y="3261122"/>
                  <a:pt x="0" y="3198059"/>
                  <a:pt x="0" y="3121422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92100" dist="139700" dir="5400000" algn="bl" rotWithShape="0">
              <a:srgbClr val="16336B">
                <a:alpha val="7843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10"/>
          <p:cNvSpPr/>
          <p:nvPr/>
        </p:nvSpPr>
        <p:spPr>
          <a:xfrm>
            <a:off x="6604000" y="2019300"/>
            <a:ext cx="4889500" cy="3261122"/>
          </a:xfrm>
          <a:custGeom>
            <a:avLst/>
            <a:gdLst/>
            <a:ahLst/>
            <a:cxnLst/>
            <a:rect l="l" t="t" r="r" b="b"/>
            <a:pathLst>
              <a:path w="4889500" h="3261122">
                <a:moveTo>
                  <a:pt x="139700" y="0"/>
                </a:moveTo>
                <a:lnTo>
                  <a:pt x="4749800" y="0"/>
                </a:lnTo>
                <a:cubicBezTo>
                  <a:pt x="4826437" y="0"/>
                  <a:pt x="4889500" y="63063"/>
                  <a:pt x="4889500" y="139700"/>
                </a:cubicBezTo>
                <a:lnTo>
                  <a:pt x="4889500" y="3121422"/>
                </a:lnTo>
                <a:cubicBezTo>
                  <a:pt x="4889500" y="3198059"/>
                  <a:pt x="4826437" y="3261122"/>
                  <a:pt x="4749800" y="3261122"/>
                </a:cubicBezTo>
                <a:lnTo>
                  <a:pt x="139700" y="3261122"/>
                </a:lnTo>
                <a:cubicBezTo>
                  <a:pt x="63063" y="3261122"/>
                  <a:pt x="0" y="3198059"/>
                  <a:pt x="0" y="3121422"/>
                </a:cubicBezTo>
                <a:lnTo>
                  <a:pt x="0" y="139700"/>
                </a:lnTo>
                <a:cubicBezTo>
                  <a:pt x="0" y="63063"/>
                  <a:pt x="63063" y="0"/>
                  <a:pt x="1397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11"/>
          <p:cNvSpPr/>
          <p:nvPr/>
        </p:nvSpPr>
        <p:spPr>
          <a:xfrm>
            <a:off x="6902450" y="2819400"/>
            <a:ext cx="31316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 AI คิด “Use Case เชิงลึก”</a:t>
            </a:r>
            <a:endParaRPr lang="th" sz="2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2450" y="3359150"/>
            <a:ext cx="190500" cy="165100"/>
          </a:xfrm>
          <a:prstGeom prst="rect">
            <a:avLst/>
          </a:prstGeom>
        </p:spPr>
      </p:pic>
      <p:grpSp>
        <p:nvGrpSpPr>
          <p:cNvPr id="47" name="ma"/>
          <p:cNvGrpSpPr/>
          <p:nvPr/>
        </p:nvGrpSpPr>
        <p:grpSpPr>
          <a:xfrm>
            <a:off x="7194550" y="3302000"/>
            <a:ext cx="3348533" cy="304800"/>
            <a:chOff x="7194550" y="3302000"/>
            <a:chExt cx="3348533" cy="304800"/>
          </a:xfrm>
        </p:grpSpPr>
        <p:sp>
          <p:nvSpPr>
            <p:cNvPr id="48" name="Text 0"/>
            <p:cNvSpPr/>
            <p:nvPr/>
          </p:nvSpPr>
          <p:spPr>
            <a:xfrm>
              <a:off x="7194550" y="3302000"/>
              <a:ext cx="233958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มุ่ง</a:t>
              </a:r>
              <a:endParaRPr lang="th" sz="1600" dirty="0"/>
            </a:p>
          </p:txBody>
        </p:sp>
        <p:sp>
          <p:nvSpPr>
            <p:cNvPr id="49" name="Text 1"/>
            <p:cNvSpPr/>
            <p:nvPr/>
          </p:nvSpPr>
          <p:spPr>
            <a:xfrm>
              <a:off x="9674324" y="3302000"/>
              <a:ext cx="868759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ในสาขาวิชา</a:t>
              </a:r>
              <a:endParaRPr lang="th" sz="1600" dirty="0"/>
            </a:p>
          </p:txBody>
        </p:sp>
        <p:sp>
          <p:nvSpPr>
            <p:cNvPr id="50" name="Text 2"/>
            <p:cNvSpPr/>
            <p:nvPr/>
          </p:nvSpPr>
          <p:spPr>
            <a:xfrm>
              <a:off x="7428508" y="3302000"/>
              <a:ext cx="2245816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ปัญหาการเรียนรู้ที่ยากที่สุด</a:t>
              </a:r>
              <a:endParaRPr lang="th" sz="1600" dirty="0"/>
            </a:p>
          </p:txBody>
        </p:sp>
      </p:grp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02450" y="3780730"/>
            <a:ext cx="190500" cy="165100"/>
          </a:xfrm>
          <a:prstGeom prst="rect">
            <a:avLst/>
          </a:prstGeom>
        </p:spPr>
      </p:pic>
      <p:grpSp>
        <p:nvGrpSpPr>
          <p:cNvPr id="52" name="ma"/>
          <p:cNvGrpSpPr/>
          <p:nvPr/>
        </p:nvGrpSpPr>
        <p:grpSpPr>
          <a:xfrm>
            <a:off x="7194550" y="3723580"/>
            <a:ext cx="3800177" cy="304800"/>
            <a:chOff x="7194550" y="3723580"/>
            <a:chExt cx="3800177" cy="304800"/>
          </a:xfrm>
        </p:grpSpPr>
        <p:sp>
          <p:nvSpPr>
            <p:cNvPr id="53" name="Text 0"/>
            <p:cNvSpPr/>
            <p:nvPr/>
          </p:nvSpPr>
          <p:spPr>
            <a:xfrm>
              <a:off x="7194550" y="3723580"/>
              <a:ext cx="713879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ออกแบบ</a:t>
              </a:r>
              <a:endParaRPr lang="th" sz="1600" dirty="0"/>
            </a:p>
          </p:txBody>
        </p:sp>
        <p:sp>
          <p:nvSpPr>
            <p:cNvPr id="54" name="Text 1"/>
            <p:cNvSpPr/>
            <p:nvPr/>
          </p:nvSpPr>
          <p:spPr>
            <a:xfrm>
              <a:off x="10000952" y="3723580"/>
              <a:ext cx="993775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ไม่ใช่สื่อทั่วไป</a:t>
              </a:r>
              <a:endParaRPr lang="th" sz="1600" dirty="0"/>
            </a:p>
          </p:txBody>
        </p:sp>
        <p:sp>
          <p:nvSpPr>
            <p:cNvPr id="55" name="Text 2"/>
            <p:cNvSpPr/>
            <p:nvPr/>
          </p:nvSpPr>
          <p:spPr>
            <a:xfrm>
              <a:off x="7908429" y="3723580"/>
              <a:ext cx="2039739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Use Case เฉพาะศาสตร์</a:t>
              </a:r>
              <a:endParaRPr lang="th" sz="1600" dirty="0"/>
            </a:p>
          </p:txBody>
        </p:sp>
      </p:grp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2450" y="4202311"/>
            <a:ext cx="190500" cy="165100"/>
          </a:xfrm>
          <a:prstGeom prst="rect">
            <a:avLst/>
          </a:prstGeom>
        </p:spPr>
      </p:pic>
      <p:grpSp>
        <p:nvGrpSpPr>
          <p:cNvPr id="57" name="ma"/>
          <p:cNvGrpSpPr/>
          <p:nvPr/>
        </p:nvGrpSpPr>
        <p:grpSpPr>
          <a:xfrm>
            <a:off x="7194550" y="4145161"/>
            <a:ext cx="3682901" cy="304800"/>
            <a:chOff x="7194550" y="4145161"/>
            <a:chExt cx="3682901" cy="304800"/>
          </a:xfrm>
        </p:grpSpPr>
        <p:sp>
          <p:nvSpPr>
            <p:cNvPr id="58" name="Text 0"/>
            <p:cNvSpPr/>
            <p:nvPr/>
          </p:nvSpPr>
          <p:spPr>
            <a:xfrm>
              <a:off x="7194550" y="4145161"/>
              <a:ext cx="2401491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เปลี่ยน AI จากผู้ช่วยทำงาน →</a:t>
              </a:r>
              <a:endParaRPr lang="th" sz="1600" dirty="0"/>
            </a:p>
          </p:txBody>
        </p:sp>
        <p:sp>
          <p:nvSpPr>
            <p:cNvPr id="59" name="Text 1"/>
            <p:cNvSpPr/>
            <p:nvPr/>
          </p:nvSpPr>
          <p:spPr>
            <a:xfrm>
              <a:off x="9648825" y="4145161"/>
              <a:ext cx="1228626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คู่คิดนวัตกรรม</a:t>
              </a:r>
              <a:endParaRPr lang="th" sz="1600" dirty="0"/>
            </a:p>
          </p:txBody>
        </p:sp>
      </p:grp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2450" y="4623891"/>
            <a:ext cx="190500" cy="165100"/>
          </a:xfrm>
          <a:prstGeom prst="rect">
            <a:avLst/>
          </a:prstGeom>
        </p:spPr>
      </p:pic>
      <p:grpSp>
        <p:nvGrpSpPr>
          <p:cNvPr id="61" name="ma"/>
          <p:cNvGrpSpPr/>
          <p:nvPr/>
        </p:nvGrpSpPr>
        <p:grpSpPr>
          <a:xfrm>
            <a:off x="7194550" y="4566741"/>
            <a:ext cx="2817911" cy="304800"/>
            <a:chOff x="7194550" y="4566741"/>
            <a:chExt cx="2817911" cy="304800"/>
          </a:xfrm>
        </p:grpSpPr>
        <p:sp>
          <p:nvSpPr>
            <p:cNvPr id="62" name="Text 0"/>
            <p:cNvSpPr/>
            <p:nvPr/>
          </p:nvSpPr>
          <p:spPr>
            <a:xfrm>
              <a:off x="7194550" y="4566741"/>
              <a:ext cx="184944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ได้</a:t>
              </a:r>
              <a:endParaRPr lang="th" sz="1600" dirty="0"/>
            </a:p>
          </p:txBody>
        </p:sp>
        <p:sp>
          <p:nvSpPr>
            <p:cNvPr id="63" name="Text 1"/>
            <p:cNvSpPr/>
            <p:nvPr/>
          </p:nvSpPr>
          <p:spPr>
            <a:xfrm>
              <a:off x="8220174" y="4566741"/>
              <a:ext cx="1792287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ที่นำไปพัฒนาต่อได้จริง</a:t>
              </a:r>
              <a:endParaRPr lang="th" sz="1600" dirty="0"/>
            </a:p>
          </p:txBody>
        </p:sp>
        <p:sp>
          <p:nvSpPr>
            <p:cNvPr id="64" name="Text 2"/>
            <p:cNvSpPr/>
            <p:nvPr/>
          </p:nvSpPr>
          <p:spPr>
            <a:xfrm>
              <a:off x="7379494" y="4566741"/>
              <a:ext cx="84068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พิมพ์เขียว</a:t>
              </a:r>
              <a:endParaRPr lang="th" sz="1600" dirty="0"/>
            </a:p>
          </p:txBody>
        </p:sp>
      </p:grpSp>
      <p:sp>
        <p:nvSpPr>
          <p:cNvPr id="65" name="Shape 12"/>
          <p:cNvSpPr/>
          <p:nvPr/>
        </p:nvSpPr>
        <p:spPr>
          <a:xfrm>
            <a:off x="6902450" y="2305050"/>
            <a:ext cx="1586409" cy="381000"/>
          </a:xfrm>
          <a:custGeom>
            <a:avLst/>
            <a:gdLst/>
            <a:ahLst/>
            <a:cxnLst/>
            <a:rect l="l" t="t" r="r" b="b"/>
            <a:pathLst>
              <a:path w="1586409" h="381000">
                <a:moveTo>
                  <a:pt x="190500" y="0"/>
                </a:moveTo>
                <a:lnTo>
                  <a:pt x="1395909" y="0"/>
                </a:lnTo>
                <a:cubicBezTo>
                  <a:pt x="1500414" y="0"/>
                  <a:pt x="1586409" y="85995"/>
                  <a:pt x="1586409" y="190500"/>
                </a:cubicBezTo>
                <a:lnTo>
                  <a:pt x="1586409" y="190500"/>
                </a:lnTo>
                <a:cubicBezTo>
                  <a:pt x="1586409" y="295005"/>
                  <a:pt x="1500414" y="381000"/>
                  <a:pt x="1395909" y="381000"/>
                </a:cubicBezTo>
                <a:lnTo>
                  <a:pt x="190500" y="381000"/>
                </a:lnTo>
                <a:cubicBezTo>
                  <a:pt x="85995" y="381000"/>
                  <a:pt x="0" y="295005"/>
                  <a:pt x="0" y="190500"/>
                </a:cubicBezTo>
                <a:lnTo>
                  <a:pt x="0" y="190500"/>
                </a:lnTo>
                <a:cubicBezTo>
                  <a:pt x="0" y="85995"/>
                  <a:pt x="85995" y="0"/>
                  <a:pt x="190500" y="0"/>
                </a:cubicBezTo>
                <a:close/>
              </a:path>
            </a:pathLst>
          </a:custGeom>
          <a:solidFill>
            <a:srgbClr val="17B897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13"/>
          <p:cNvSpPr/>
          <p:nvPr/>
        </p:nvSpPr>
        <p:spPr>
          <a:xfrm>
            <a:off x="7296150" y="2381250"/>
            <a:ext cx="10530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0E7F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สิ่งที่เราจะทำวันนี้</a:t>
            </a:r>
            <a:endParaRPr lang="th" sz="1200" dirty="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2150" y="2413000"/>
            <a:ext cx="165100" cy="165100"/>
          </a:xfrm>
          <a:prstGeom prst="rect">
            <a:avLst/>
          </a:prstGeom>
        </p:spPr>
      </p:pic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2575" y="2025650"/>
            <a:ext cx="4832350" cy="50800"/>
          </a:xfrm>
          <a:prstGeom prst="rect">
            <a:avLst/>
          </a:prstGeom>
        </p:spPr>
      </p:pic>
      <p:sp>
        <p:nvSpPr>
          <p:cNvPr id="69" name="CSS box-shadow background"/>
          <p:cNvSpPr/>
          <p:nvPr/>
        </p:nvSpPr>
        <p:spPr>
          <a:xfrm>
            <a:off x="698500" y="5298480"/>
            <a:ext cx="5314950" cy="949920"/>
          </a:xfrm>
          <a:custGeom>
            <a:avLst/>
            <a:gdLst/>
            <a:ahLst/>
            <a:cxnLst/>
            <a:rect l="l" t="t" r="r" b="b"/>
            <a:pathLst>
              <a:path w="5314950" h="949920">
                <a:moveTo>
                  <a:pt x="114300" y="0"/>
                </a:moveTo>
                <a:lnTo>
                  <a:pt x="5200650" y="0"/>
                </a:lnTo>
                <a:cubicBezTo>
                  <a:pt x="5263353" y="0"/>
                  <a:pt x="5314950" y="51597"/>
                  <a:pt x="5314950" y="114300"/>
                </a:cubicBezTo>
                <a:lnTo>
                  <a:pt x="5314950" y="835620"/>
                </a:lnTo>
                <a:cubicBezTo>
                  <a:pt x="5314950" y="898323"/>
                  <a:pt x="5263353" y="949920"/>
                  <a:pt x="5200650" y="949920"/>
                </a:cubicBezTo>
                <a:lnTo>
                  <a:pt x="114300" y="949920"/>
                </a:lnTo>
                <a:cubicBezTo>
                  <a:pt x="51597" y="949920"/>
                  <a:pt x="0" y="898323"/>
                  <a:pt x="0" y="83562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190500" dist="88900" dir="5400000" algn="bl" rotWithShape="0">
              <a:srgbClr val="16336B">
                <a:alpha val="5882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15"/>
          <p:cNvSpPr/>
          <p:nvPr/>
        </p:nvSpPr>
        <p:spPr>
          <a:xfrm>
            <a:off x="698500" y="5298480"/>
            <a:ext cx="5314950" cy="949920"/>
          </a:xfrm>
          <a:custGeom>
            <a:avLst/>
            <a:gdLst/>
            <a:ahLst/>
            <a:cxnLst/>
            <a:rect l="l" t="t" r="r" b="b"/>
            <a:pathLst>
              <a:path w="5314950" h="949920">
                <a:moveTo>
                  <a:pt x="114300" y="0"/>
                </a:moveTo>
                <a:lnTo>
                  <a:pt x="5200650" y="0"/>
                </a:lnTo>
                <a:cubicBezTo>
                  <a:pt x="5263353" y="0"/>
                  <a:pt x="5314950" y="51597"/>
                  <a:pt x="5314950" y="114300"/>
                </a:cubicBezTo>
                <a:lnTo>
                  <a:pt x="5314950" y="835620"/>
                </a:lnTo>
                <a:cubicBezTo>
                  <a:pt x="5314950" y="898323"/>
                  <a:pt x="5263353" y="949920"/>
                  <a:pt x="5200650" y="949920"/>
                </a:cubicBezTo>
                <a:lnTo>
                  <a:pt x="114300" y="949920"/>
                </a:lnTo>
                <a:cubicBezTo>
                  <a:pt x="51597" y="949920"/>
                  <a:pt x="0" y="898323"/>
                  <a:pt x="0" y="83562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16"/>
          <p:cNvSpPr/>
          <p:nvPr/>
        </p:nvSpPr>
        <p:spPr>
          <a:xfrm>
            <a:off x="933450" y="553849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469900" h="469900">
                <a:moveTo>
                  <a:pt x="101600" y="0"/>
                </a:moveTo>
                <a:lnTo>
                  <a:pt x="368300" y="0"/>
                </a:lnTo>
                <a:cubicBezTo>
                  <a:pt x="424036" y="0"/>
                  <a:pt x="469900" y="45864"/>
                  <a:pt x="469900" y="101600"/>
                </a:cubicBezTo>
                <a:lnTo>
                  <a:pt x="469900" y="368300"/>
                </a:lnTo>
                <a:cubicBezTo>
                  <a:pt x="469900" y="424036"/>
                  <a:pt x="424036" y="469900"/>
                  <a:pt x="368300" y="469900"/>
                </a:cubicBezTo>
                <a:lnTo>
                  <a:pt x="101600" y="469900"/>
                </a:lnTo>
                <a:cubicBezTo>
                  <a:pt x="45864" y="469900"/>
                  <a:pt x="0" y="424036"/>
                  <a:pt x="0" y="3683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EEF1F6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3944" y="5665490"/>
            <a:ext cx="215900" cy="215900"/>
          </a:xfrm>
          <a:prstGeom prst="rect">
            <a:avLst/>
          </a:prstGeom>
        </p:spPr>
      </p:pic>
      <p:sp>
        <p:nvSpPr>
          <p:cNvPr id="73" name="Text 17"/>
          <p:cNvSpPr/>
          <p:nvPr/>
        </p:nvSpPr>
        <p:spPr>
          <a:xfrm>
            <a:off x="1568450" y="5469930"/>
            <a:ext cx="9800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ผู้ใช้ (User)</a:t>
            </a:r>
            <a:endParaRPr lang="th" sz="1600" dirty="0"/>
          </a:p>
        </p:txBody>
      </p:sp>
      <p:sp>
        <p:nvSpPr>
          <p:cNvPr id="74" name="Text 18"/>
          <p:cNvSpPr/>
          <p:nvPr/>
        </p:nvSpPr>
        <p:spPr>
          <a:xfrm>
            <a:off x="1568450" y="5797550"/>
            <a:ext cx="23601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 AI ช่วยทำงานที่ทำอยู่แล้วให้เร็วขึ้น</a:t>
            </a:r>
            <a:endParaRPr lang="th" sz="1300" dirty="0"/>
          </a:p>
        </p:txBody>
      </p:sp>
      <p:pic>
        <p:nvPicPr>
          <p:cNvPr id="75" name="CSS box-shadow raster outer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05525" y="5377855"/>
            <a:ext cx="5473700" cy="1047750"/>
          </a:xfrm>
          <a:prstGeom prst="rect">
            <a:avLst/>
          </a:prstGeom>
        </p:spPr>
      </p:pic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91250" y="5298480"/>
            <a:ext cx="5302250" cy="949920"/>
          </a:xfrm>
          <a:prstGeom prst="rect">
            <a:avLst/>
          </a:prstGeom>
        </p:spPr>
      </p:pic>
      <p:sp>
        <p:nvSpPr>
          <p:cNvPr id="77" name="Shape 19"/>
          <p:cNvSpPr/>
          <p:nvPr/>
        </p:nvSpPr>
        <p:spPr>
          <a:xfrm>
            <a:off x="6419850" y="5538490"/>
            <a:ext cx="469900" cy="469900"/>
          </a:xfrm>
          <a:custGeom>
            <a:avLst/>
            <a:gdLst/>
            <a:ahLst/>
            <a:cxnLst/>
            <a:rect l="l" t="t" r="r" b="b"/>
            <a:pathLst>
              <a:path w="469900" h="469900">
                <a:moveTo>
                  <a:pt x="101600" y="0"/>
                </a:moveTo>
                <a:lnTo>
                  <a:pt x="368300" y="0"/>
                </a:lnTo>
                <a:cubicBezTo>
                  <a:pt x="424036" y="0"/>
                  <a:pt x="469900" y="45864"/>
                  <a:pt x="469900" y="101600"/>
                </a:cubicBezTo>
                <a:lnTo>
                  <a:pt x="469900" y="368300"/>
                </a:lnTo>
                <a:cubicBezTo>
                  <a:pt x="469900" y="424036"/>
                  <a:pt x="424036" y="469900"/>
                  <a:pt x="368300" y="469900"/>
                </a:cubicBezTo>
                <a:lnTo>
                  <a:pt x="101600" y="469900"/>
                </a:lnTo>
                <a:cubicBezTo>
                  <a:pt x="45864" y="469900"/>
                  <a:pt x="0" y="424036"/>
                  <a:pt x="0" y="3683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46850" y="5665490"/>
            <a:ext cx="215900" cy="215900"/>
          </a:xfrm>
          <a:prstGeom prst="rect">
            <a:avLst/>
          </a:prstGeom>
        </p:spPr>
      </p:pic>
      <p:sp>
        <p:nvSpPr>
          <p:cNvPr id="79" name="Text 20"/>
          <p:cNvSpPr/>
          <p:nvPr/>
        </p:nvSpPr>
        <p:spPr>
          <a:xfrm>
            <a:off x="7054850" y="5469930"/>
            <a:ext cx="27018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สถาปนิกการเรียนรู้ (Architect)</a:t>
            </a:r>
            <a:endParaRPr lang="th" sz="1600" dirty="0"/>
          </a:p>
        </p:txBody>
      </p:sp>
      <p:sp>
        <p:nvSpPr>
          <p:cNvPr id="80" name="Text 21"/>
          <p:cNvSpPr/>
          <p:nvPr/>
        </p:nvSpPr>
        <p:spPr>
          <a:xfrm>
            <a:off x="7054850" y="5797550"/>
            <a:ext cx="296951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F2F6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ใช้ AI ออกแบบประสบการณ์เรียนรู้ใหม่ทั้งระบบ</a:t>
            </a:r>
            <a:endParaRPr lang="th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698500" y="6127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001" y="0"/>
                  <a:pt x="76200" y="17199"/>
                  <a:pt x="76200" y="38100"/>
                </a:cubicBezTo>
                <a:lnTo>
                  <a:pt x="76200" y="38100"/>
                </a:lnTo>
                <a:cubicBezTo>
                  <a:pt x="76200" y="59001"/>
                  <a:pt x="59001" y="76200"/>
                  <a:pt x="38100" y="76200"/>
                </a:cubicBezTo>
                <a:lnTo>
                  <a:pt x="38100" y="76200"/>
                </a:lnTo>
                <a:cubicBezTo>
                  <a:pt x="17199" y="76200"/>
                  <a:pt x="0" y="59001"/>
                  <a:pt x="0" y="38100"/>
                </a:cubicBezTo>
                <a:lnTo>
                  <a:pt x="0" y="38100"/>
                </a:lnTo>
                <a:cubicBezTo>
                  <a:pt x="0" y="17199"/>
                  <a:pt x="17199" y="0"/>
                  <a:pt x="38100" y="0"/>
                </a:cubicBezTo>
                <a:close/>
              </a:path>
            </a:pathLst>
          </a:custGeom>
          <a:solidFill>
            <a:srgbClr val="F5A623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1"/>
          <p:cNvSpPr/>
          <p:nvPr/>
        </p:nvSpPr>
        <p:spPr>
          <a:xfrm>
            <a:off x="863600" y="539750"/>
            <a:ext cx="27888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0" dirty="0">
                <a:solidFill>
                  <a:srgbClr val="1633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META-PROMPTING TECHNIQUE</a:t>
            </a:r>
            <a:endParaRPr lang="th" sz="1200" dirty="0"/>
          </a:p>
        </p:txBody>
      </p:sp>
      <p:grpSp>
        <p:nvGrpSpPr>
          <p:cNvPr id="3" name="ma"/>
          <p:cNvGrpSpPr/>
          <p:nvPr/>
        </p:nvGrpSpPr>
        <p:grpSpPr>
          <a:xfrm>
            <a:off x="698500" y="774700"/>
            <a:ext cx="9424095" cy="615950"/>
            <a:chOff x="698500" y="774700"/>
            <a:chExt cx="9424095" cy="615950"/>
          </a:xfrm>
        </p:grpSpPr>
        <p:sp>
          <p:nvSpPr>
            <p:cNvPr id="4" name="Text 0"/>
            <p:cNvSpPr/>
            <p:nvPr/>
          </p:nvSpPr>
          <p:spPr>
            <a:xfrm>
              <a:off x="698500" y="774700"/>
              <a:ext cx="1187946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เทคนิค</a:t>
              </a:r>
              <a:endParaRPr lang="th" sz="3200" dirty="0"/>
            </a:p>
          </p:txBody>
        </p:sp>
        <p:sp>
          <p:nvSpPr>
            <p:cNvPr id="5" name="Text 1"/>
            <p:cNvSpPr/>
            <p:nvPr/>
          </p:nvSpPr>
          <p:spPr>
            <a:xfrm>
              <a:off x="5437882" y="774700"/>
              <a:ext cx="4684713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— ให้ AI ช่วยคิด Use Case</a:t>
              </a:r>
              <a:endParaRPr lang="th" sz="32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1992114" y="774700"/>
              <a:ext cx="3340199" cy="6159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3200" b="1" i="0" dirty="0">
                  <a:solidFill>
                    <a:srgbClr val="24488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Meta-Prompting</a:t>
              </a:r>
              <a:endParaRPr lang="th" sz="3200" dirty="0"/>
            </a:p>
          </p:txBody>
        </p:sp>
      </p:grpSp>
      <p:grpSp>
        <p:nvGrpSpPr>
          <p:cNvPr id="7" name="ma"/>
          <p:cNvGrpSpPr/>
          <p:nvPr/>
        </p:nvGrpSpPr>
        <p:grpSpPr>
          <a:xfrm>
            <a:off x="698500" y="1492250"/>
            <a:ext cx="10035679" cy="579041"/>
            <a:chOff x="698500" y="1492250"/>
            <a:chExt cx="10035679" cy="579041"/>
          </a:xfrm>
        </p:grpSpPr>
        <p:sp>
          <p:nvSpPr>
            <p:cNvPr id="8" name="Text 0"/>
            <p:cNvSpPr/>
            <p:nvPr/>
          </p:nvSpPr>
          <p:spPr>
            <a:xfrm>
              <a:off x="698500" y="1492250"/>
              <a:ext cx="715268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หลักการ:</a:t>
              </a:r>
              <a:endParaRPr lang="th" sz="1600" dirty="0"/>
            </a:p>
          </p:txBody>
        </p:sp>
        <p:sp>
          <p:nvSpPr>
            <p:cNvPr id="9" name="Text 1"/>
            <p:cNvSpPr/>
            <p:nvPr/>
          </p:nvSpPr>
          <p:spPr>
            <a:xfrm>
              <a:off x="3606602" y="1492250"/>
              <a:ext cx="1999952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ให้ Gemini ฟัง แล้วสั่งให้</a:t>
              </a:r>
              <a:endParaRPr lang="th" sz="1600" dirty="0"/>
            </a:p>
          </p:txBody>
        </p:sp>
        <p:sp>
          <p:nvSpPr>
            <p:cNvPr id="10" name="Text 2"/>
            <p:cNvSpPr/>
            <p:nvPr/>
          </p:nvSpPr>
          <p:spPr>
            <a:xfrm>
              <a:off x="9293027" y="1492250"/>
              <a:ext cx="1441152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เพื่อออกแบบ Use</a:t>
              </a:r>
              <a:endParaRPr lang="th" sz="1600" dirty="0"/>
            </a:p>
          </p:txBody>
        </p:sp>
        <p:sp>
          <p:nvSpPr>
            <p:cNvPr id="11" name="Text 3"/>
            <p:cNvSpPr/>
            <p:nvPr/>
          </p:nvSpPr>
          <p:spPr>
            <a:xfrm>
              <a:off x="698500" y="1766491"/>
              <a:ext cx="241429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Case ที่ตรงกับศาสตร์ของคุณ</a:t>
              </a:r>
              <a:endParaRPr lang="th" sz="1600" dirty="0"/>
            </a:p>
          </p:txBody>
        </p:sp>
        <p:sp>
          <p:nvSpPr>
            <p:cNvPr id="12" name="Text 4"/>
            <p:cNvSpPr/>
            <p:nvPr/>
          </p:nvSpPr>
          <p:spPr>
            <a:xfrm>
              <a:off x="1466652" y="1492250"/>
              <a:ext cx="213995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เล่าบริบทปัญหาในรายวิชา</a:t>
              </a:r>
              <a:endParaRPr lang="th" sz="1600" dirty="0"/>
            </a:p>
          </p:txBody>
        </p:sp>
        <p:sp>
          <p:nvSpPr>
            <p:cNvPr id="13" name="Text 5"/>
            <p:cNvSpPr/>
            <p:nvPr/>
          </p:nvSpPr>
          <p:spPr>
            <a:xfrm>
              <a:off x="5606554" y="1492250"/>
              <a:ext cx="3633688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สวมบทบาทเป็น Instructional Designer</a:t>
              </a:r>
              <a:endParaRPr lang="th" sz="1600" dirty="0"/>
            </a:p>
          </p:txBody>
        </p:sp>
      </p:grpSp>
      <p:sp>
        <p:nvSpPr>
          <p:cNvPr id="14" name="CSS box-shadow background"/>
          <p:cNvSpPr/>
          <p:nvPr/>
        </p:nvSpPr>
        <p:spPr>
          <a:xfrm>
            <a:off x="698500" y="2159000"/>
            <a:ext cx="3488234" cy="1648321"/>
          </a:xfrm>
          <a:custGeom>
            <a:avLst/>
            <a:gdLst/>
            <a:ahLst/>
            <a:cxnLst/>
            <a:rect l="l" t="t" r="r" b="b"/>
            <a:pathLst>
              <a:path w="3488234" h="164832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1521321"/>
                </a:lnTo>
                <a:cubicBezTo>
                  <a:pt x="3488233" y="1590991"/>
                  <a:pt x="3430903" y="1648321"/>
                  <a:pt x="33612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3"/>
          <p:cNvSpPr/>
          <p:nvPr/>
        </p:nvSpPr>
        <p:spPr>
          <a:xfrm>
            <a:off x="698500" y="2159000"/>
            <a:ext cx="3488234" cy="1648321"/>
          </a:xfrm>
          <a:custGeom>
            <a:avLst/>
            <a:gdLst/>
            <a:ahLst/>
            <a:cxnLst/>
            <a:rect l="l" t="t" r="r" b="b"/>
            <a:pathLst>
              <a:path w="3488234" h="164832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1521321"/>
                </a:lnTo>
                <a:cubicBezTo>
                  <a:pt x="3488233" y="1590991"/>
                  <a:pt x="3430903" y="1648321"/>
                  <a:pt x="33612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330450"/>
            <a:ext cx="381000" cy="3810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950" y="2432050"/>
            <a:ext cx="177800" cy="177800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895350" y="2774950"/>
            <a:ext cx="16332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เล่าบริบทปัญหา</a:t>
            </a:r>
            <a:endParaRPr lang="th" sz="2000" dirty="0"/>
          </a:p>
        </p:txBody>
      </p:sp>
      <p:sp>
        <p:nvSpPr>
          <p:cNvPr id="19" name="Text 5"/>
          <p:cNvSpPr/>
          <p:nvPr/>
        </p:nvSpPr>
        <p:spPr>
          <a:xfrm>
            <a:off x="895350" y="3173710"/>
            <a:ext cx="299710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อธิบายรายวิชา จุดที่นักศึกษาติดขัด และสิ่งที่ยัง</a:t>
            </a:r>
            <a:endParaRPr lang="th" sz="1300" dirty="0"/>
          </a:p>
        </p:txBody>
      </p:sp>
      <p:sp>
        <p:nvSpPr>
          <p:cNvPr id="20" name="Text 6"/>
          <p:cNvSpPr/>
          <p:nvPr/>
        </p:nvSpPr>
        <p:spPr>
          <a:xfrm>
            <a:off x="895350" y="3404791"/>
            <a:ext cx="69393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สอนได้ไม่ดี</a:t>
            </a:r>
            <a:endParaRPr lang="th" sz="1300" dirty="0"/>
          </a:p>
        </p:txBody>
      </p:sp>
      <p:sp>
        <p:nvSpPr>
          <p:cNvPr id="21" name="Text 7"/>
          <p:cNvSpPr/>
          <p:nvPr/>
        </p:nvSpPr>
        <p:spPr>
          <a:xfrm>
            <a:off x="3840857" y="2197100"/>
            <a:ext cx="174427" cy="463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400" b="1" i="0" dirty="0">
                <a:solidFill>
                  <a:srgbClr val="16336B">
                    <a:alpha val="1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1</a:t>
            </a:r>
            <a:endParaRPr lang="th" sz="2400" dirty="0"/>
          </a:p>
        </p:txBody>
      </p:sp>
      <p:sp>
        <p:nvSpPr>
          <p:cNvPr id="22" name="CSS box-shadow background"/>
          <p:cNvSpPr/>
          <p:nvPr/>
        </p:nvSpPr>
        <p:spPr>
          <a:xfrm>
            <a:off x="4351834" y="2159000"/>
            <a:ext cx="3488333" cy="1648321"/>
          </a:xfrm>
          <a:custGeom>
            <a:avLst/>
            <a:gdLst/>
            <a:ahLst/>
            <a:cxnLst/>
            <a:rect l="l" t="t" r="r" b="b"/>
            <a:pathLst>
              <a:path w="3488333" h="1648321">
                <a:moveTo>
                  <a:pt x="127000" y="0"/>
                </a:moveTo>
                <a:lnTo>
                  <a:pt x="3361333" y="0"/>
                </a:lnTo>
                <a:cubicBezTo>
                  <a:pt x="3431003" y="0"/>
                  <a:pt x="3488333" y="57330"/>
                  <a:pt x="3488333" y="127000"/>
                </a:cubicBezTo>
                <a:lnTo>
                  <a:pt x="3488333" y="1521321"/>
                </a:lnTo>
                <a:cubicBezTo>
                  <a:pt x="3488333" y="1590991"/>
                  <a:pt x="3431003" y="1648321"/>
                  <a:pt x="33613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9"/>
          <p:cNvSpPr/>
          <p:nvPr/>
        </p:nvSpPr>
        <p:spPr>
          <a:xfrm>
            <a:off x="4351834" y="2159000"/>
            <a:ext cx="3488333" cy="1648321"/>
          </a:xfrm>
          <a:custGeom>
            <a:avLst/>
            <a:gdLst/>
            <a:ahLst/>
            <a:cxnLst/>
            <a:rect l="l" t="t" r="r" b="b"/>
            <a:pathLst>
              <a:path w="3488333" h="1648321">
                <a:moveTo>
                  <a:pt x="127000" y="0"/>
                </a:moveTo>
                <a:lnTo>
                  <a:pt x="3361333" y="0"/>
                </a:lnTo>
                <a:cubicBezTo>
                  <a:pt x="3431003" y="0"/>
                  <a:pt x="3488333" y="57330"/>
                  <a:pt x="3488333" y="127000"/>
                </a:cubicBezTo>
                <a:lnTo>
                  <a:pt x="3488333" y="1521321"/>
                </a:lnTo>
                <a:cubicBezTo>
                  <a:pt x="3488333" y="1590991"/>
                  <a:pt x="3431003" y="1648321"/>
                  <a:pt x="33613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684" y="2330450"/>
            <a:ext cx="381000" cy="381000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396" y="2432050"/>
            <a:ext cx="177800" cy="17780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4548684" y="2774950"/>
            <a:ext cx="18519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กำหนดบทบาท AI</a:t>
            </a:r>
            <a:endParaRPr lang="th" sz="2000" dirty="0"/>
          </a:p>
        </p:txBody>
      </p:sp>
      <p:sp>
        <p:nvSpPr>
          <p:cNvPr id="27" name="Text 11"/>
          <p:cNvSpPr/>
          <p:nvPr/>
        </p:nvSpPr>
        <p:spPr>
          <a:xfrm>
            <a:off x="4548684" y="3173710"/>
            <a:ext cx="280640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 Gemini สวมบทบาทเป็น Instructional</a:t>
            </a:r>
            <a:endParaRPr lang="th" sz="1300" dirty="0"/>
          </a:p>
        </p:txBody>
      </p:sp>
      <p:sp>
        <p:nvSpPr>
          <p:cNvPr id="28" name="Text 12"/>
          <p:cNvSpPr/>
          <p:nvPr/>
        </p:nvSpPr>
        <p:spPr>
          <a:xfrm>
            <a:off x="4548684" y="3404791"/>
            <a:ext cx="177720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Designer ของสาขาวิชานั้น</a:t>
            </a:r>
            <a:endParaRPr lang="th" sz="1300" dirty="0"/>
          </a:p>
        </p:txBody>
      </p:sp>
      <p:sp>
        <p:nvSpPr>
          <p:cNvPr id="29" name="Text 13"/>
          <p:cNvSpPr/>
          <p:nvPr/>
        </p:nvSpPr>
        <p:spPr>
          <a:xfrm>
            <a:off x="7494290" y="2197100"/>
            <a:ext cx="174427" cy="463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400" b="1" i="0" dirty="0">
                <a:solidFill>
                  <a:srgbClr val="16336B">
                    <a:alpha val="1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2</a:t>
            </a:r>
            <a:endParaRPr lang="th" sz="2400" dirty="0"/>
          </a:p>
        </p:txBody>
      </p:sp>
      <p:sp>
        <p:nvSpPr>
          <p:cNvPr id="30" name="CSS box-shadow background"/>
          <p:cNvSpPr/>
          <p:nvPr/>
        </p:nvSpPr>
        <p:spPr>
          <a:xfrm>
            <a:off x="8005266" y="2159000"/>
            <a:ext cx="3488234" cy="1648321"/>
          </a:xfrm>
          <a:custGeom>
            <a:avLst/>
            <a:gdLst/>
            <a:ahLst/>
            <a:cxnLst/>
            <a:rect l="l" t="t" r="r" b="b"/>
            <a:pathLst>
              <a:path w="3488234" h="164832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1521321"/>
                </a:lnTo>
                <a:cubicBezTo>
                  <a:pt x="3488233" y="1590991"/>
                  <a:pt x="3430903" y="1648321"/>
                  <a:pt x="33612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15"/>
          <p:cNvSpPr/>
          <p:nvPr/>
        </p:nvSpPr>
        <p:spPr>
          <a:xfrm>
            <a:off x="8005266" y="2159000"/>
            <a:ext cx="3488234" cy="1648321"/>
          </a:xfrm>
          <a:custGeom>
            <a:avLst/>
            <a:gdLst/>
            <a:ahLst/>
            <a:cxnLst/>
            <a:rect l="l" t="t" r="r" b="b"/>
            <a:pathLst>
              <a:path w="3488234" h="164832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1521321"/>
                </a:lnTo>
                <a:cubicBezTo>
                  <a:pt x="3488233" y="1590991"/>
                  <a:pt x="3430903" y="1648321"/>
                  <a:pt x="3361233" y="1648321"/>
                </a:cubicBezTo>
                <a:lnTo>
                  <a:pt x="127000" y="1648321"/>
                </a:lnTo>
                <a:cubicBezTo>
                  <a:pt x="57330" y="1648321"/>
                  <a:pt x="0" y="1590991"/>
                  <a:pt x="0" y="152132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16" y="2330450"/>
            <a:ext cx="381000" cy="381000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2604" y="2432050"/>
            <a:ext cx="200025" cy="1778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8202116" y="2774950"/>
            <a:ext cx="291673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ขอ Use Case เฉพาะศาสตร์</a:t>
            </a:r>
            <a:endParaRPr lang="th" sz="2000" dirty="0"/>
          </a:p>
        </p:txBody>
      </p:sp>
      <p:sp>
        <p:nvSpPr>
          <p:cNvPr id="35" name="Text 17"/>
          <p:cNvSpPr/>
          <p:nvPr/>
        </p:nvSpPr>
        <p:spPr>
          <a:xfrm>
            <a:off x="8202116" y="3173710"/>
            <a:ext cx="26203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ขอ Use Case ที่แก้ปัญหาจริง พร้อมราย</a:t>
            </a:r>
            <a:endParaRPr lang="th" sz="1300" dirty="0"/>
          </a:p>
        </p:txBody>
      </p:sp>
      <p:sp>
        <p:nvSpPr>
          <p:cNvPr id="36" name="Text 18"/>
          <p:cNvSpPr/>
          <p:nvPr/>
        </p:nvSpPr>
        <p:spPr>
          <a:xfrm>
            <a:off x="8202116" y="3404791"/>
            <a:ext cx="139531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ละเอียดที่นำไปใช้ต่อได้</a:t>
            </a:r>
            <a:endParaRPr lang="th" sz="1300" dirty="0"/>
          </a:p>
        </p:txBody>
      </p:sp>
      <p:sp>
        <p:nvSpPr>
          <p:cNvPr id="37" name="Text 19"/>
          <p:cNvSpPr/>
          <p:nvPr/>
        </p:nvSpPr>
        <p:spPr>
          <a:xfrm>
            <a:off x="11147623" y="2197100"/>
            <a:ext cx="174427" cy="463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400" b="1" i="0" dirty="0">
                <a:solidFill>
                  <a:srgbClr val="16336B">
                    <a:alpha val="1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3</a:t>
            </a:r>
            <a:endParaRPr lang="th" sz="2400" dirty="0"/>
          </a:p>
        </p:txBody>
      </p:sp>
      <p:sp>
        <p:nvSpPr>
          <p:cNvPr id="38" name="Text 20"/>
          <p:cNvSpPr/>
          <p:nvPr/>
        </p:nvSpPr>
        <p:spPr>
          <a:xfrm>
            <a:off x="1016000" y="4032250"/>
            <a:ext cx="50202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ตัวอย่างคำสั่ง (Prompt 1.1) — สำหรับนำไปรันในห้องอบรม</a:t>
            </a:r>
            <a:endParaRPr lang="th" sz="16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4083050"/>
            <a:ext cx="228600" cy="203200"/>
          </a:xfrm>
          <a:prstGeom prst="rect">
            <a:avLst/>
          </a:prstGeom>
        </p:spPr>
      </p:pic>
      <p:sp>
        <p:nvSpPr>
          <p:cNvPr id="40" name="Shape 21"/>
          <p:cNvSpPr/>
          <p:nvPr/>
        </p:nvSpPr>
        <p:spPr>
          <a:xfrm>
            <a:off x="10220722" y="4000500"/>
            <a:ext cx="1272778" cy="368300"/>
          </a:xfrm>
          <a:custGeom>
            <a:avLst/>
            <a:gdLst/>
            <a:ahLst/>
            <a:cxnLst/>
            <a:rect l="l" t="t" r="r" b="b"/>
            <a:pathLst>
              <a:path w="1272778" h="368300">
                <a:moveTo>
                  <a:pt x="184150" y="0"/>
                </a:moveTo>
                <a:lnTo>
                  <a:pt x="1088628" y="0"/>
                </a:lnTo>
                <a:cubicBezTo>
                  <a:pt x="1137449" y="0"/>
                  <a:pt x="1184320" y="19415"/>
                  <a:pt x="1218842" y="53936"/>
                </a:cubicBezTo>
                <a:cubicBezTo>
                  <a:pt x="1253363" y="88458"/>
                  <a:pt x="1272778" y="135329"/>
                  <a:pt x="1272778" y="184150"/>
                </a:cubicBezTo>
                <a:lnTo>
                  <a:pt x="1272778" y="184150"/>
                </a:lnTo>
                <a:cubicBezTo>
                  <a:pt x="1272778" y="232971"/>
                  <a:pt x="1253363" y="279842"/>
                  <a:pt x="1218842" y="314364"/>
                </a:cubicBezTo>
                <a:cubicBezTo>
                  <a:pt x="1184320" y="348885"/>
                  <a:pt x="1137449" y="368300"/>
                  <a:pt x="1088628" y="368300"/>
                </a:cubicBezTo>
                <a:lnTo>
                  <a:pt x="184150" y="368300"/>
                </a:lnTo>
                <a:cubicBezTo>
                  <a:pt x="83128" y="368300"/>
                  <a:pt x="0" y="285172"/>
                  <a:pt x="0" y="184150"/>
                </a:cubicBezTo>
                <a:lnTo>
                  <a:pt x="0" y="184150"/>
                </a:lnTo>
                <a:cubicBezTo>
                  <a:pt x="0" y="83128"/>
                  <a:pt x="83128" y="0"/>
                  <a:pt x="184150" y="0"/>
                </a:cubicBezTo>
                <a:close/>
              </a:path>
            </a:pathLst>
          </a:custGeom>
          <a:solidFill>
            <a:srgbClr val="17B897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2"/>
          <p:cNvSpPr/>
          <p:nvPr/>
        </p:nvSpPr>
        <p:spPr>
          <a:xfrm>
            <a:off x="10582672" y="4070350"/>
            <a:ext cx="7584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0E7F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คัดลอกไปใช้</a:t>
            </a:r>
            <a:endParaRPr lang="th" sz="12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3122" y="4108450"/>
            <a:ext cx="152400" cy="152400"/>
          </a:xfrm>
          <a:prstGeom prst="rect">
            <a:avLst/>
          </a:prstGeom>
        </p:spPr>
      </p:pic>
      <p:sp>
        <p:nvSpPr>
          <p:cNvPr id="43" name="CSS box-shadow background"/>
          <p:cNvSpPr/>
          <p:nvPr/>
        </p:nvSpPr>
        <p:spPr>
          <a:xfrm>
            <a:off x="698500" y="4457700"/>
            <a:ext cx="10795000" cy="2076450"/>
          </a:xfrm>
          <a:custGeom>
            <a:avLst/>
            <a:gdLst/>
            <a:ahLst/>
            <a:cxnLst/>
            <a:rect l="l" t="t" r="r" b="b"/>
            <a:pathLst>
              <a:path w="10795000" h="2076450">
                <a:moveTo>
                  <a:pt x="114300" y="0"/>
                </a:moveTo>
                <a:lnTo>
                  <a:pt x="10680700" y="0"/>
                </a:lnTo>
                <a:cubicBezTo>
                  <a:pt x="10743403" y="0"/>
                  <a:pt x="10795000" y="51597"/>
                  <a:pt x="10795000" y="114300"/>
                </a:cubicBezTo>
                <a:lnTo>
                  <a:pt x="10795000" y="1962150"/>
                </a:lnTo>
                <a:cubicBezTo>
                  <a:pt x="10795000" y="2024853"/>
                  <a:pt x="10743403" y="2076450"/>
                  <a:pt x="10680700" y="2076450"/>
                </a:cubicBezTo>
                <a:lnTo>
                  <a:pt x="114300" y="2076450"/>
                </a:lnTo>
                <a:cubicBezTo>
                  <a:pt x="51597" y="2076450"/>
                  <a:pt x="0" y="2024853"/>
                  <a:pt x="0" y="196215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0F2547"/>
          </a:solidFill>
          <a:ln w="12700">
            <a:prstDash val="solid"/>
          </a:ln>
          <a:effectLst>
            <a:outerShdw blurRad="342900" dist="165100" dir="5400000" algn="bl" rotWithShape="0">
              <a:srgbClr val="0F2547">
                <a:alpha val="30196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24"/>
          <p:cNvSpPr/>
          <p:nvPr/>
        </p:nvSpPr>
        <p:spPr>
          <a:xfrm>
            <a:off x="698500" y="4457700"/>
            <a:ext cx="10795000" cy="2076450"/>
          </a:xfrm>
          <a:custGeom>
            <a:avLst/>
            <a:gdLst/>
            <a:ahLst/>
            <a:cxnLst/>
            <a:rect l="l" t="t" r="r" b="b"/>
            <a:pathLst>
              <a:path w="10795000" h="2076450">
                <a:moveTo>
                  <a:pt x="114300" y="0"/>
                </a:moveTo>
                <a:lnTo>
                  <a:pt x="10680700" y="0"/>
                </a:lnTo>
                <a:cubicBezTo>
                  <a:pt x="10743403" y="0"/>
                  <a:pt x="10795000" y="51597"/>
                  <a:pt x="10795000" y="114300"/>
                </a:cubicBezTo>
                <a:lnTo>
                  <a:pt x="10795000" y="1962150"/>
                </a:lnTo>
                <a:cubicBezTo>
                  <a:pt x="10795000" y="2024853"/>
                  <a:pt x="10743403" y="2076450"/>
                  <a:pt x="10680700" y="2076450"/>
                </a:cubicBezTo>
                <a:lnTo>
                  <a:pt x="114300" y="2076450"/>
                </a:lnTo>
                <a:cubicBezTo>
                  <a:pt x="51597" y="2076450"/>
                  <a:pt x="0" y="2024853"/>
                  <a:pt x="0" y="196215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25"/>
          <p:cNvSpPr/>
          <p:nvPr/>
        </p:nvSpPr>
        <p:spPr>
          <a:xfrm>
            <a:off x="704850" y="4464050"/>
            <a:ext cx="10782300" cy="412750"/>
          </a:xfrm>
          <a:custGeom>
            <a:avLst/>
            <a:gdLst/>
            <a:ahLst/>
            <a:cxnLst/>
            <a:rect l="l" t="t" r="r" b="b"/>
            <a:pathLst>
              <a:path w="10782300" h="412750">
                <a:moveTo>
                  <a:pt x="114300" y="0"/>
                </a:moveTo>
                <a:lnTo>
                  <a:pt x="10668000" y="0"/>
                </a:lnTo>
                <a:cubicBezTo>
                  <a:pt x="10730703" y="0"/>
                  <a:pt x="10782300" y="51597"/>
                  <a:pt x="10782300" y="114300"/>
                </a:cubicBezTo>
                <a:lnTo>
                  <a:pt x="10782300" y="412750"/>
                </a:lnTo>
                <a:cubicBezTo>
                  <a:pt x="10782300" y="412750"/>
                  <a:pt x="10782300" y="412750"/>
                  <a:pt x="10782300" y="412750"/>
                </a:cubicBezTo>
                <a:lnTo>
                  <a:pt x="0" y="412750"/>
                </a:lnTo>
                <a:cubicBezTo>
                  <a:pt x="0" y="412750"/>
                  <a:pt x="0" y="412750"/>
                  <a:pt x="0" y="412750"/>
                </a:cubicBezTo>
                <a:lnTo>
                  <a:pt x="0" y="114300"/>
                </a:lnTo>
                <a:cubicBezTo>
                  <a:pt x="0" y="51597"/>
                  <a:pt x="51597" y="0"/>
                  <a:pt x="11430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26"/>
          <p:cNvSpPr/>
          <p:nvPr/>
        </p:nvSpPr>
        <p:spPr>
          <a:xfrm>
            <a:off x="869950" y="4629150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41275" y="0"/>
                </a:moveTo>
                <a:lnTo>
                  <a:pt x="41275" y="0"/>
                </a:lnTo>
                <a:cubicBezTo>
                  <a:pt x="63918" y="0"/>
                  <a:pt x="82550" y="18632"/>
                  <a:pt x="82550" y="41275"/>
                </a:cubicBezTo>
                <a:lnTo>
                  <a:pt x="82550" y="41275"/>
                </a:lnTo>
                <a:cubicBezTo>
                  <a:pt x="82550" y="63918"/>
                  <a:pt x="63918" y="82550"/>
                  <a:pt x="41275" y="82550"/>
                </a:cubicBezTo>
                <a:lnTo>
                  <a:pt x="41275" y="82550"/>
                </a:lnTo>
                <a:cubicBezTo>
                  <a:pt x="18632" y="82550"/>
                  <a:pt x="0" y="63918"/>
                  <a:pt x="0" y="41275"/>
                </a:cubicBezTo>
                <a:lnTo>
                  <a:pt x="0" y="41275"/>
                </a:lnTo>
                <a:cubicBezTo>
                  <a:pt x="0" y="18632"/>
                  <a:pt x="18632" y="0"/>
                  <a:pt x="41275" y="0"/>
                </a:cubicBezTo>
                <a:close/>
              </a:path>
            </a:pathLst>
          </a:custGeom>
          <a:solidFill>
            <a:srgbClr val="FF6B6B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27"/>
          <p:cNvSpPr/>
          <p:nvPr/>
        </p:nvSpPr>
        <p:spPr>
          <a:xfrm>
            <a:off x="1016000" y="4629150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41275" y="0"/>
                </a:moveTo>
                <a:lnTo>
                  <a:pt x="41275" y="0"/>
                </a:lnTo>
                <a:cubicBezTo>
                  <a:pt x="63918" y="0"/>
                  <a:pt x="82550" y="18632"/>
                  <a:pt x="82550" y="41275"/>
                </a:cubicBezTo>
                <a:lnTo>
                  <a:pt x="82550" y="41275"/>
                </a:lnTo>
                <a:cubicBezTo>
                  <a:pt x="82550" y="63918"/>
                  <a:pt x="63918" y="82550"/>
                  <a:pt x="41275" y="82550"/>
                </a:cubicBezTo>
                <a:lnTo>
                  <a:pt x="41275" y="82550"/>
                </a:lnTo>
                <a:cubicBezTo>
                  <a:pt x="18632" y="82550"/>
                  <a:pt x="0" y="63918"/>
                  <a:pt x="0" y="41275"/>
                </a:cubicBezTo>
                <a:lnTo>
                  <a:pt x="0" y="41275"/>
                </a:lnTo>
                <a:cubicBezTo>
                  <a:pt x="0" y="18632"/>
                  <a:pt x="18632" y="0"/>
                  <a:pt x="41275" y="0"/>
                </a:cubicBezTo>
                <a:close/>
              </a:path>
            </a:pathLst>
          </a:custGeom>
          <a:solidFill>
            <a:srgbClr val="FFC94D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28"/>
          <p:cNvSpPr/>
          <p:nvPr/>
        </p:nvSpPr>
        <p:spPr>
          <a:xfrm>
            <a:off x="1162050" y="4629150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41275" y="0"/>
                </a:moveTo>
                <a:lnTo>
                  <a:pt x="41275" y="0"/>
                </a:lnTo>
                <a:cubicBezTo>
                  <a:pt x="63918" y="0"/>
                  <a:pt x="82550" y="18632"/>
                  <a:pt x="82550" y="41275"/>
                </a:cubicBezTo>
                <a:lnTo>
                  <a:pt x="82550" y="41275"/>
                </a:lnTo>
                <a:cubicBezTo>
                  <a:pt x="82550" y="63918"/>
                  <a:pt x="63918" y="82550"/>
                  <a:pt x="41275" y="82550"/>
                </a:cubicBezTo>
                <a:lnTo>
                  <a:pt x="41275" y="82550"/>
                </a:lnTo>
                <a:cubicBezTo>
                  <a:pt x="18632" y="82550"/>
                  <a:pt x="0" y="63918"/>
                  <a:pt x="0" y="41275"/>
                </a:cubicBezTo>
                <a:lnTo>
                  <a:pt x="0" y="41275"/>
                </a:lnTo>
                <a:cubicBezTo>
                  <a:pt x="0" y="18632"/>
                  <a:pt x="18632" y="0"/>
                  <a:pt x="41275" y="0"/>
                </a:cubicBezTo>
                <a:close/>
              </a:path>
            </a:pathLst>
          </a:custGeom>
          <a:solidFill>
            <a:srgbClr val="17B89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29"/>
          <p:cNvSpPr/>
          <p:nvPr/>
        </p:nvSpPr>
        <p:spPr>
          <a:xfrm>
            <a:off x="1397000" y="4559300"/>
            <a:ext cx="2512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50" dirty="0">
                <a:solidFill>
                  <a:srgbClr val="F2F6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prompt_1.1 — meta-prompting</a:t>
            </a:r>
            <a:endParaRPr lang="th" sz="1200" dirty="0"/>
          </a:p>
        </p:txBody>
      </p:sp>
      <p:grpSp>
        <p:nvGrpSpPr>
          <p:cNvPr id="50" name="ma"/>
          <p:cNvGrpSpPr/>
          <p:nvPr/>
        </p:nvGrpSpPr>
        <p:grpSpPr>
          <a:xfrm>
            <a:off x="908050" y="5041900"/>
            <a:ext cx="5991820" cy="1314450"/>
            <a:chOff x="908050" y="5041900"/>
            <a:chExt cx="5991820" cy="1314450"/>
          </a:xfrm>
        </p:grpSpPr>
        <p:sp>
          <p:nvSpPr>
            <p:cNvPr id="51" name="Text 0"/>
            <p:cNvSpPr/>
            <p:nvPr/>
          </p:nvSpPr>
          <p:spPr>
            <a:xfrm>
              <a:off x="908050" y="5270500"/>
              <a:ext cx="4368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คุณคือ</a:t>
              </a:r>
              <a:endParaRPr lang="th" sz="1200" dirty="0"/>
            </a:p>
          </p:txBody>
        </p:sp>
        <p:sp>
          <p:nvSpPr>
            <p:cNvPr id="52" name="Text 1"/>
            <p:cNvSpPr/>
            <p:nvPr/>
          </p:nvSpPr>
          <p:spPr>
            <a:xfrm>
              <a:off x="3539827" y="5270500"/>
              <a:ext cx="80377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ประจำสาขา</a:t>
              </a:r>
              <a:endParaRPr lang="th" sz="1200" dirty="0"/>
            </a:p>
          </p:txBody>
        </p:sp>
        <p:sp>
          <p:nvSpPr>
            <p:cNvPr id="53" name="Text 2"/>
            <p:cNvSpPr/>
            <p:nvPr/>
          </p:nvSpPr>
          <p:spPr>
            <a:xfrm>
              <a:off x="908050" y="5727700"/>
              <a:ext cx="70991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ในรายวิชา</a:t>
              </a:r>
              <a:endParaRPr lang="th" sz="1200" dirty="0"/>
            </a:p>
          </p:txBody>
        </p:sp>
        <p:sp>
          <p:nvSpPr>
            <p:cNvPr id="54" name="Text 3"/>
            <p:cNvSpPr/>
            <p:nvPr/>
          </p:nvSpPr>
          <p:spPr>
            <a:xfrm>
              <a:off x="2710061" y="5727700"/>
              <a:ext cx="1265932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นักศึกษามักติดขัดที่</a:t>
              </a:r>
              <a:endParaRPr lang="th" sz="1200" dirty="0"/>
            </a:p>
          </p:txBody>
        </p:sp>
        <p:sp>
          <p:nvSpPr>
            <p:cNvPr id="55" name="Text 4"/>
            <p:cNvSpPr/>
            <p:nvPr/>
          </p:nvSpPr>
          <p:spPr>
            <a:xfrm>
              <a:off x="908050" y="6184900"/>
              <a:ext cx="567035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ออกแบบ</a:t>
              </a:r>
              <a:endParaRPr lang="th" sz="1200" dirty="0"/>
            </a:p>
          </p:txBody>
        </p:sp>
        <p:sp>
          <p:nvSpPr>
            <p:cNvPr id="56" name="Text 5"/>
            <p:cNvSpPr/>
            <p:nvPr/>
          </p:nvSpPr>
          <p:spPr>
            <a:xfrm>
              <a:off x="2572643" y="6184900"/>
              <a:ext cx="914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:</a:t>
              </a:r>
              <a:endParaRPr lang="th" sz="1200" dirty="0"/>
            </a:p>
          </p:txBody>
        </p:sp>
        <p:sp>
          <p:nvSpPr>
            <p:cNvPr id="57" name="Text 6"/>
            <p:cNvSpPr/>
            <p:nvPr/>
          </p:nvSpPr>
          <p:spPr>
            <a:xfrm>
              <a:off x="2755503" y="6184900"/>
              <a:ext cx="18295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1)</a:t>
              </a:r>
              <a:endParaRPr lang="th" sz="1200" dirty="0"/>
            </a:p>
          </p:txBody>
        </p:sp>
        <p:sp>
          <p:nvSpPr>
            <p:cNvPr id="58" name="Text 7"/>
            <p:cNvSpPr/>
            <p:nvPr/>
          </p:nvSpPr>
          <p:spPr>
            <a:xfrm>
              <a:off x="3029843" y="6184900"/>
              <a:ext cx="757634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เพื่อนเรียนรู้</a:t>
              </a:r>
              <a:endParaRPr lang="th" sz="1200" dirty="0"/>
            </a:p>
          </p:txBody>
        </p:sp>
        <p:sp>
          <p:nvSpPr>
            <p:cNvPr id="59" name="Text 8"/>
            <p:cNvSpPr/>
            <p:nvPr/>
          </p:nvSpPr>
          <p:spPr>
            <a:xfrm>
              <a:off x="3970337" y="6184900"/>
              <a:ext cx="18295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2)</a:t>
              </a:r>
              <a:endParaRPr lang="th" sz="1200" dirty="0"/>
            </a:p>
          </p:txBody>
        </p:sp>
        <p:sp>
          <p:nvSpPr>
            <p:cNvPr id="60" name="Text 9"/>
            <p:cNvSpPr/>
            <p:nvPr/>
          </p:nvSpPr>
          <p:spPr>
            <a:xfrm>
              <a:off x="4244677" y="6184900"/>
              <a:ext cx="121046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จำลองสถานการณ์</a:t>
              </a:r>
              <a:endParaRPr lang="th" sz="1200" dirty="0"/>
            </a:p>
          </p:txBody>
        </p:sp>
        <p:sp>
          <p:nvSpPr>
            <p:cNvPr id="61" name="Text 10"/>
            <p:cNvSpPr/>
            <p:nvPr/>
          </p:nvSpPr>
          <p:spPr>
            <a:xfrm>
              <a:off x="5637907" y="6184900"/>
              <a:ext cx="18305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3)</a:t>
              </a:r>
              <a:endParaRPr lang="th" sz="1200" dirty="0"/>
            </a:p>
          </p:txBody>
        </p:sp>
        <p:sp>
          <p:nvSpPr>
            <p:cNvPr id="62" name="Text 11"/>
            <p:cNvSpPr/>
            <p:nvPr/>
          </p:nvSpPr>
          <p:spPr>
            <a:xfrm>
              <a:off x="5912346" y="6184900"/>
              <a:ext cx="987524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DCE6F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ผู้ช่วยตรวจงาน</a:t>
              </a:r>
              <a:endParaRPr lang="th" sz="1200" dirty="0"/>
            </a:p>
          </p:txBody>
        </p:sp>
        <p:sp>
          <p:nvSpPr>
            <p:cNvPr id="63" name="Text 12"/>
            <p:cNvSpPr/>
            <p:nvPr/>
          </p:nvSpPr>
          <p:spPr>
            <a:xfrm>
              <a:off x="908050" y="5041900"/>
              <a:ext cx="914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#</a:t>
              </a:r>
              <a:endParaRPr lang="th" sz="1200" dirty="0"/>
            </a:p>
          </p:txBody>
        </p:sp>
        <p:sp>
          <p:nvSpPr>
            <p:cNvPr id="64" name="Text 13"/>
            <p:cNvSpPr/>
            <p:nvPr/>
          </p:nvSpPr>
          <p:spPr>
            <a:xfrm>
              <a:off x="1090910" y="5041900"/>
              <a:ext cx="48002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บทบาท</a:t>
              </a:r>
              <a:endParaRPr lang="th" sz="1200" dirty="0"/>
            </a:p>
          </p:txBody>
        </p:sp>
        <p:sp>
          <p:nvSpPr>
            <p:cNvPr id="65" name="Text 14"/>
            <p:cNvSpPr/>
            <p:nvPr/>
          </p:nvSpPr>
          <p:spPr>
            <a:xfrm>
              <a:off x="1436390" y="5270500"/>
              <a:ext cx="1188938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17B89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Instructional</a:t>
              </a:r>
              <a:endParaRPr lang="th" sz="1200" dirty="0"/>
            </a:p>
          </p:txBody>
        </p:sp>
        <p:sp>
          <p:nvSpPr>
            <p:cNvPr id="66" name="Text 15"/>
            <p:cNvSpPr/>
            <p:nvPr/>
          </p:nvSpPr>
          <p:spPr>
            <a:xfrm>
              <a:off x="2716709" y="5270500"/>
              <a:ext cx="731738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17B89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Designer</a:t>
              </a:r>
              <a:endParaRPr lang="th" sz="1200" dirty="0"/>
            </a:p>
          </p:txBody>
        </p:sp>
        <p:sp>
          <p:nvSpPr>
            <p:cNvPr id="67" name="Text 16"/>
            <p:cNvSpPr/>
            <p:nvPr/>
          </p:nvSpPr>
          <p:spPr>
            <a:xfrm>
              <a:off x="4435078" y="5270500"/>
              <a:ext cx="1086346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F5A623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[ระบุสาขาวิชา]</a:t>
              </a:r>
              <a:endParaRPr lang="th" sz="1200" dirty="0"/>
            </a:p>
          </p:txBody>
        </p:sp>
        <p:sp>
          <p:nvSpPr>
            <p:cNvPr id="68" name="Text 17"/>
            <p:cNvSpPr/>
            <p:nvPr/>
          </p:nvSpPr>
          <p:spPr>
            <a:xfrm>
              <a:off x="908050" y="5499100"/>
              <a:ext cx="914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#</a:t>
              </a:r>
              <a:endParaRPr lang="th" sz="1200" dirty="0"/>
            </a:p>
          </p:txBody>
        </p:sp>
        <p:sp>
          <p:nvSpPr>
            <p:cNvPr id="69" name="Text 18"/>
            <p:cNvSpPr/>
            <p:nvPr/>
          </p:nvSpPr>
          <p:spPr>
            <a:xfrm>
              <a:off x="1090910" y="5499100"/>
              <a:ext cx="78849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บริบทปัญหา</a:t>
              </a:r>
              <a:endParaRPr lang="th" sz="1200" dirty="0"/>
            </a:p>
          </p:txBody>
        </p:sp>
        <p:sp>
          <p:nvSpPr>
            <p:cNvPr id="70" name="Text 19"/>
            <p:cNvSpPr/>
            <p:nvPr/>
          </p:nvSpPr>
          <p:spPr>
            <a:xfrm>
              <a:off x="1709440" y="5727700"/>
              <a:ext cx="909241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F5A623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[ชื่อรายวิชา]</a:t>
              </a:r>
              <a:endParaRPr lang="th" sz="1200" dirty="0"/>
            </a:p>
          </p:txBody>
        </p:sp>
        <p:sp>
          <p:nvSpPr>
            <p:cNvPr id="71" name="Text 20"/>
            <p:cNvSpPr/>
            <p:nvPr/>
          </p:nvSpPr>
          <p:spPr>
            <a:xfrm>
              <a:off x="4067373" y="5727700"/>
              <a:ext cx="11480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F5A623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[จุดที่เรียนรู้ยาก]</a:t>
              </a:r>
              <a:endParaRPr lang="th" sz="1200" dirty="0"/>
            </a:p>
          </p:txBody>
        </p:sp>
        <p:sp>
          <p:nvSpPr>
            <p:cNvPr id="72" name="Text 21"/>
            <p:cNvSpPr/>
            <p:nvPr/>
          </p:nvSpPr>
          <p:spPr>
            <a:xfrm>
              <a:off x="908050" y="5956300"/>
              <a:ext cx="914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#</a:t>
              </a:r>
              <a:endParaRPr lang="th" sz="1200" dirty="0"/>
            </a:p>
          </p:txBody>
        </p:sp>
        <p:sp>
          <p:nvSpPr>
            <p:cNvPr id="73" name="Text 22"/>
            <p:cNvSpPr/>
            <p:nvPr/>
          </p:nvSpPr>
          <p:spPr>
            <a:xfrm>
              <a:off x="1090910" y="5956300"/>
              <a:ext cx="79255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0" i="0" dirty="0">
                  <a:solidFill>
                    <a:srgbClr val="8FA0BE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สิ่งที่ต้องการ</a:t>
              </a:r>
              <a:endParaRPr lang="th" sz="1200" dirty="0"/>
            </a:p>
          </p:txBody>
        </p:sp>
        <p:sp>
          <p:nvSpPr>
            <p:cNvPr id="74" name="Text 23"/>
            <p:cNvSpPr/>
            <p:nvPr/>
          </p:nvSpPr>
          <p:spPr>
            <a:xfrm>
              <a:off x="1566565" y="6184900"/>
              <a:ext cx="9148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17B89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5</a:t>
              </a:r>
              <a:endParaRPr lang="th" sz="1200" dirty="0"/>
            </a:p>
          </p:txBody>
        </p:sp>
        <p:sp>
          <p:nvSpPr>
            <p:cNvPr id="75" name="Text 24"/>
            <p:cNvSpPr/>
            <p:nvPr/>
          </p:nvSpPr>
          <p:spPr>
            <a:xfrm>
              <a:off x="1749425" y="6184900"/>
              <a:ext cx="274439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17B89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Use</a:t>
              </a:r>
              <a:endParaRPr lang="th" sz="1200" dirty="0"/>
            </a:p>
          </p:txBody>
        </p:sp>
        <p:sp>
          <p:nvSpPr>
            <p:cNvPr id="76" name="Text 25"/>
            <p:cNvSpPr/>
            <p:nvPr/>
          </p:nvSpPr>
          <p:spPr>
            <a:xfrm>
              <a:off x="2115245" y="6184900"/>
              <a:ext cx="457398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200" b="1" i="0" dirty="0">
                  <a:solidFill>
                    <a:srgbClr val="17B897"/>
                  </a:solidFill>
                  <a:latin typeface="Courier New" panose="02070309020205020404" pitchFamily="34" charset="0"/>
                  <a:ea typeface="Courier New" panose="02070309020205020404" pitchFamily="34" charset="-122"/>
                  <a:cs typeface="Courier New" pitchFamily="34" charset="-120"/>
                </a:rPr>
                <a:t>Cases</a:t>
              </a:r>
              <a:endParaRPr lang="th" sz="1200" dirty="0"/>
            </a:p>
          </p:txBody>
        </p:sp>
      </p:grpSp>
      <p:pic>
        <p:nvPicPr>
          <p:cNvPr id="7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9909" y="2894211"/>
            <a:ext cx="177800" cy="177800"/>
          </a:xfrm>
          <a:prstGeom prst="rect">
            <a:avLst/>
          </a:prstGeom>
        </p:spPr>
      </p:pic>
      <p:pic>
        <p:nvPicPr>
          <p:cNvPr id="7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3341" y="2894211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tile sx="100000" sy="10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698500" y="6127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001" y="0"/>
                  <a:pt x="76200" y="17199"/>
                  <a:pt x="76200" y="38100"/>
                </a:cubicBezTo>
                <a:lnTo>
                  <a:pt x="76200" y="38100"/>
                </a:lnTo>
                <a:cubicBezTo>
                  <a:pt x="76200" y="59001"/>
                  <a:pt x="59001" y="76200"/>
                  <a:pt x="38100" y="76200"/>
                </a:cubicBezTo>
                <a:lnTo>
                  <a:pt x="38100" y="76200"/>
                </a:lnTo>
                <a:cubicBezTo>
                  <a:pt x="17199" y="76200"/>
                  <a:pt x="0" y="59001"/>
                  <a:pt x="0" y="38100"/>
                </a:cubicBezTo>
                <a:lnTo>
                  <a:pt x="0" y="38100"/>
                </a:lnTo>
                <a:cubicBezTo>
                  <a:pt x="0" y="17199"/>
                  <a:pt x="17199" y="0"/>
                  <a:pt x="38100" y="0"/>
                </a:cubicBezTo>
                <a:close/>
              </a:path>
            </a:pathLst>
          </a:custGeom>
          <a:solidFill>
            <a:srgbClr val="17B897"/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1"/>
          <p:cNvSpPr/>
          <p:nvPr/>
        </p:nvSpPr>
        <p:spPr>
          <a:xfrm>
            <a:off x="863600" y="539750"/>
            <a:ext cx="1203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150" dirty="0">
                <a:solidFill>
                  <a:srgbClr val="1633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WORKSHOP 1</a:t>
            </a:r>
            <a:endParaRPr lang="th" sz="1200" dirty="0"/>
          </a:p>
        </p:txBody>
      </p:sp>
      <p:sp>
        <p:nvSpPr>
          <p:cNvPr id="3" name="Text 2"/>
          <p:cNvSpPr/>
          <p:nvPr/>
        </p:nvSpPr>
        <p:spPr>
          <a:xfrm>
            <a:off x="698500" y="787400"/>
            <a:ext cx="5376267" cy="6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3200" b="1" i="0" dirty="0">
                <a:solidFill>
                  <a:srgbClr val="2448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Use Case Blueprint Canvas</a:t>
            </a:r>
            <a:endParaRPr lang="th" sz="3200" dirty="0"/>
          </a:p>
        </p:txBody>
      </p:sp>
      <p:pic>
        <p:nvPicPr>
          <p:cNvPr id="4" name="CSS box-shadow raster out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498" y="485775"/>
            <a:ext cx="2609850" cy="1206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223" y="584200"/>
            <a:ext cx="2187277" cy="7810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423" y="854075"/>
            <a:ext cx="241300" cy="241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04698" y="647700"/>
            <a:ext cx="7948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F2F6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15 นาที</a:t>
            </a:r>
            <a:endParaRPr lang="th" sz="2000" dirty="0"/>
          </a:p>
        </p:txBody>
      </p:sp>
      <p:sp>
        <p:nvSpPr>
          <p:cNvPr id="8" name="Text 4"/>
          <p:cNvSpPr/>
          <p:nvPr/>
        </p:nvSpPr>
        <p:spPr>
          <a:xfrm>
            <a:off x="9804698" y="1009650"/>
            <a:ext cx="1485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0" i="0" dirty="0">
                <a:solidFill>
                  <a:srgbClr val="F2F6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กิจกรรมเดี่ยว / กลุ่มย่อย</a:t>
            </a:r>
            <a:endParaRPr lang="th" sz="1200" dirty="0"/>
          </a:p>
        </p:txBody>
      </p:sp>
      <p:sp>
        <p:nvSpPr>
          <p:cNvPr id="9" name="Shape 5"/>
          <p:cNvSpPr/>
          <p:nvPr/>
        </p:nvSpPr>
        <p:spPr>
          <a:xfrm>
            <a:off x="698500" y="1409700"/>
            <a:ext cx="800199" cy="355600"/>
          </a:xfrm>
          <a:custGeom>
            <a:avLst/>
            <a:gdLst/>
            <a:ahLst/>
            <a:cxnLst/>
            <a:rect l="l" t="t" r="r" b="b"/>
            <a:pathLst>
              <a:path w="800199" h="355600">
                <a:moveTo>
                  <a:pt x="177800" y="0"/>
                </a:moveTo>
                <a:lnTo>
                  <a:pt x="622399" y="0"/>
                </a:lnTo>
                <a:cubicBezTo>
                  <a:pt x="719937" y="0"/>
                  <a:pt x="800199" y="80262"/>
                  <a:pt x="800199" y="177800"/>
                </a:cubicBezTo>
                <a:lnTo>
                  <a:pt x="800199" y="177800"/>
                </a:lnTo>
                <a:cubicBezTo>
                  <a:pt x="800199" y="275338"/>
                  <a:pt x="719937" y="355600"/>
                  <a:pt x="622399" y="355600"/>
                </a:cubicBezTo>
                <a:lnTo>
                  <a:pt x="177800" y="355600"/>
                </a:lnTo>
                <a:cubicBezTo>
                  <a:pt x="80262" y="355600"/>
                  <a:pt x="0" y="275338"/>
                  <a:pt x="0" y="177800"/>
                </a:cubicBezTo>
                <a:lnTo>
                  <a:pt x="0" y="177800"/>
                </a:lnTo>
                <a:cubicBezTo>
                  <a:pt x="0" y="80262"/>
                  <a:pt x="80262" y="0"/>
                  <a:pt x="177800" y="0"/>
                </a:cubicBezTo>
                <a:close/>
              </a:path>
            </a:pathLst>
          </a:custGeom>
          <a:solidFill>
            <a:srgbClr val="17B897">
              <a:alpha val="15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041400" y="1473200"/>
            <a:ext cx="3302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dirty="0">
                <a:solidFill>
                  <a:srgbClr val="0E7F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โจทย์</a:t>
            </a:r>
            <a:endParaRPr lang="th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" y="1511300"/>
            <a:ext cx="152400" cy="152400"/>
          </a:xfrm>
          <a:prstGeom prst="rect">
            <a:avLst/>
          </a:prstGeom>
        </p:spPr>
      </p:pic>
      <p:grpSp>
        <p:nvGrpSpPr>
          <p:cNvPr id="12" name="ma"/>
          <p:cNvGrpSpPr/>
          <p:nvPr/>
        </p:nvGrpSpPr>
        <p:grpSpPr>
          <a:xfrm>
            <a:off x="1600299" y="1435100"/>
            <a:ext cx="6774458" cy="304800"/>
            <a:chOff x="1600299" y="1435100"/>
            <a:chExt cx="6774458" cy="304800"/>
          </a:xfrm>
        </p:grpSpPr>
        <p:sp>
          <p:nvSpPr>
            <p:cNvPr id="13" name="Text 0"/>
            <p:cNvSpPr/>
            <p:nvPr/>
          </p:nvSpPr>
          <p:spPr>
            <a:xfrm>
              <a:off x="1600299" y="1435100"/>
              <a:ext cx="1680468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ให้ Gemini ออกแบบ</a:t>
              </a:r>
              <a:endParaRPr lang="th" sz="1600" dirty="0"/>
            </a:p>
          </p:txBody>
        </p:sp>
        <p:sp>
          <p:nvSpPr>
            <p:cNvPr id="14" name="Text 1"/>
            <p:cNvSpPr/>
            <p:nvPr/>
          </p:nvSpPr>
          <p:spPr>
            <a:xfrm>
              <a:off x="4557316" y="1435100"/>
              <a:ext cx="3817441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0" i="0" dirty="0">
                  <a:solidFill>
                    <a:srgbClr val="55617A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ประจำวิชาของคุณ โดยแบ่งเป็น 3 บทบาทของ AI</a:t>
              </a:r>
              <a:endParaRPr lang="th" sz="1600" dirty="0"/>
            </a:p>
          </p:txBody>
        </p:sp>
        <p:sp>
          <p:nvSpPr>
            <p:cNvPr id="15" name="Text 2"/>
            <p:cNvSpPr/>
            <p:nvPr/>
          </p:nvSpPr>
          <p:spPr>
            <a:xfrm>
              <a:off x="3333651" y="1435100"/>
              <a:ext cx="1170880" cy="304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th" altLang="en-US" sz="1600" b="1" i="0" dirty="0">
                  <a:solidFill>
                    <a:srgbClr val="1A223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itchFamily="34" charset="-120"/>
                </a:rPr>
                <a:t>5 Use Cases</a:t>
              </a:r>
              <a:endParaRPr lang="th" sz="1600" dirty="0"/>
            </a:p>
          </p:txBody>
        </p:sp>
      </p:grpSp>
      <p:sp>
        <p:nvSpPr>
          <p:cNvPr id="16" name="CSS box-shadow background"/>
          <p:cNvSpPr/>
          <p:nvPr/>
        </p:nvSpPr>
        <p:spPr>
          <a:xfrm>
            <a:off x="698500" y="1905000"/>
            <a:ext cx="3488234" cy="2274391"/>
          </a:xfrm>
          <a:custGeom>
            <a:avLst/>
            <a:gdLst/>
            <a:ahLst/>
            <a:cxnLst/>
            <a:rect l="l" t="t" r="r" b="b"/>
            <a:pathLst>
              <a:path w="3488234" h="227439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2147391"/>
                </a:lnTo>
                <a:cubicBezTo>
                  <a:pt x="3488233" y="2217061"/>
                  <a:pt x="3430903" y="2274391"/>
                  <a:pt x="3361233" y="2274391"/>
                </a:cubicBezTo>
                <a:lnTo>
                  <a:pt x="127000" y="2274391"/>
                </a:lnTo>
                <a:cubicBezTo>
                  <a:pt x="57330" y="2274391"/>
                  <a:pt x="0" y="2217061"/>
                  <a:pt x="0" y="21473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1905000"/>
            <a:ext cx="3488234" cy="2274391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920750" y="21717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01600" y="0"/>
                </a:moveTo>
                <a:lnTo>
                  <a:pt x="381000" y="0"/>
                </a:lnTo>
                <a:cubicBezTo>
                  <a:pt x="436736" y="0"/>
                  <a:pt x="482600" y="45864"/>
                  <a:pt x="482600" y="101600"/>
                </a:cubicBezTo>
                <a:lnTo>
                  <a:pt x="482600" y="381000"/>
                </a:lnTo>
                <a:cubicBezTo>
                  <a:pt x="482600" y="436736"/>
                  <a:pt x="436736" y="482600"/>
                  <a:pt x="381000" y="482600"/>
                </a:cubicBezTo>
                <a:lnTo>
                  <a:pt x="101600" y="482600"/>
                </a:lnTo>
                <a:cubicBezTo>
                  <a:pt x="45864" y="482600"/>
                  <a:pt x="0" y="436736"/>
                  <a:pt x="0" y="3810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17B897">
              <a:alpha val="14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594" y="2305050"/>
            <a:ext cx="215900" cy="2159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20750" y="2743200"/>
            <a:ext cx="200362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เป็นเพื่อนเรียนรู้</a:t>
            </a:r>
            <a:endParaRPr lang="th" sz="2000" dirty="0"/>
          </a:p>
        </p:txBody>
      </p:sp>
      <p:sp>
        <p:nvSpPr>
          <p:cNvPr id="21" name="Text 10"/>
          <p:cNvSpPr/>
          <p:nvPr/>
        </p:nvSpPr>
        <p:spPr>
          <a:xfrm>
            <a:off x="920750" y="3161010"/>
            <a:ext cx="16481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Learning Companion</a:t>
            </a:r>
            <a:endParaRPr lang="th" sz="1200" dirty="0"/>
          </a:p>
        </p:txBody>
      </p:sp>
      <p:sp>
        <p:nvSpPr>
          <p:cNvPr id="22" name="Text 11"/>
          <p:cNvSpPr/>
          <p:nvPr/>
        </p:nvSpPr>
        <p:spPr>
          <a:xfrm>
            <a:off x="920750" y="3465810"/>
            <a:ext cx="286970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อธิบายแนวคิดที่ซับซ้อนและตอบคำถามเฉพาะ</a:t>
            </a:r>
            <a:endParaRPr lang="th" sz="1300" dirty="0"/>
          </a:p>
        </p:txBody>
      </p:sp>
      <p:sp>
        <p:nvSpPr>
          <p:cNvPr id="23" name="Text 12"/>
          <p:cNvSpPr/>
          <p:nvPr/>
        </p:nvSpPr>
        <p:spPr>
          <a:xfrm>
            <a:off x="920750" y="3705126"/>
            <a:ext cx="99050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บุคคลแบบทันที</a:t>
            </a:r>
            <a:endParaRPr lang="th" sz="1300" dirty="0"/>
          </a:p>
        </p:txBody>
      </p:sp>
      <p:sp>
        <p:nvSpPr>
          <p:cNvPr id="24" name="CSS box-shadow background"/>
          <p:cNvSpPr/>
          <p:nvPr/>
        </p:nvSpPr>
        <p:spPr>
          <a:xfrm>
            <a:off x="4351834" y="1905000"/>
            <a:ext cx="3488333" cy="2274391"/>
          </a:xfrm>
          <a:custGeom>
            <a:avLst/>
            <a:gdLst/>
            <a:ahLst/>
            <a:cxnLst/>
            <a:rect l="l" t="t" r="r" b="b"/>
            <a:pathLst>
              <a:path w="3488333" h="2274391">
                <a:moveTo>
                  <a:pt x="127000" y="0"/>
                </a:moveTo>
                <a:lnTo>
                  <a:pt x="3361333" y="0"/>
                </a:lnTo>
                <a:cubicBezTo>
                  <a:pt x="3431003" y="0"/>
                  <a:pt x="3488333" y="57330"/>
                  <a:pt x="3488333" y="127000"/>
                </a:cubicBezTo>
                <a:lnTo>
                  <a:pt x="3488333" y="2147391"/>
                </a:lnTo>
                <a:cubicBezTo>
                  <a:pt x="3488333" y="2217061"/>
                  <a:pt x="3431003" y="2274391"/>
                  <a:pt x="3361333" y="2274391"/>
                </a:cubicBezTo>
                <a:lnTo>
                  <a:pt x="127000" y="2274391"/>
                </a:lnTo>
                <a:cubicBezTo>
                  <a:pt x="57330" y="2274391"/>
                  <a:pt x="0" y="2217061"/>
                  <a:pt x="0" y="21473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1834" y="1905000"/>
            <a:ext cx="3488333" cy="2274391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574084" y="21717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01600" y="0"/>
                </a:moveTo>
                <a:lnTo>
                  <a:pt x="381000" y="0"/>
                </a:lnTo>
                <a:cubicBezTo>
                  <a:pt x="436736" y="0"/>
                  <a:pt x="482600" y="45864"/>
                  <a:pt x="482600" y="101600"/>
                </a:cubicBezTo>
                <a:lnTo>
                  <a:pt x="482600" y="381000"/>
                </a:lnTo>
                <a:cubicBezTo>
                  <a:pt x="482600" y="436736"/>
                  <a:pt x="436736" y="482600"/>
                  <a:pt x="381000" y="482600"/>
                </a:cubicBezTo>
                <a:lnTo>
                  <a:pt x="101600" y="482600"/>
                </a:lnTo>
                <a:cubicBezTo>
                  <a:pt x="45864" y="482600"/>
                  <a:pt x="0" y="436736"/>
                  <a:pt x="0" y="3810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24488F">
              <a:alpha val="12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927" y="2305050"/>
            <a:ext cx="215900" cy="2159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4574084" y="2743200"/>
            <a:ext cx="297209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เป็นตัวจำลองสถานการณ์</a:t>
            </a:r>
            <a:endParaRPr lang="th" sz="2000" dirty="0"/>
          </a:p>
        </p:txBody>
      </p:sp>
      <p:sp>
        <p:nvSpPr>
          <p:cNvPr id="29" name="Text 16"/>
          <p:cNvSpPr/>
          <p:nvPr/>
        </p:nvSpPr>
        <p:spPr>
          <a:xfrm>
            <a:off x="4574084" y="3161010"/>
            <a:ext cx="14997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Scenario Simulator</a:t>
            </a:r>
            <a:endParaRPr lang="th" sz="1200" dirty="0"/>
          </a:p>
        </p:txBody>
      </p:sp>
      <p:sp>
        <p:nvSpPr>
          <p:cNvPr id="30" name="Text 17"/>
          <p:cNvSpPr/>
          <p:nvPr/>
        </p:nvSpPr>
        <p:spPr>
          <a:xfrm>
            <a:off x="4574084" y="3465810"/>
            <a:ext cx="303311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สร้างโจทย์สถานการณ์จำลองสำหรับฝึกตัดสินใจ</a:t>
            </a:r>
            <a:endParaRPr lang="th" sz="1300" dirty="0"/>
          </a:p>
        </p:txBody>
      </p:sp>
      <p:sp>
        <p:nvSpPr>
          <p:cNvPr id="31" name="Text 18"/>
          <p:cNvSpPr/>
          <p:nvPr/>
        </p:nvSpPr>
        <p:spPr>
          <a:xfrm>
            <a:off x="4574084" y="3705126"/>
            <a:ext cx="84901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และแก้ปัญหา</a:t>
            </a:r>
            <a:endParaRPr lang="th" sz="1300" dirty="0"/>
          </a:p>
        </p:txBody>
      </p:sp>
      <p:sp>
        <p:nvSpPr>
          <p:cNvPr id="32" name="CSS box-shadow background"/>
          <p:cNvSpPr/>
          <p:nvPr/>
        </p:nvSpPr>
        <p:spPr>
          <a:xfrm>
            <a:off x="8005266" y="1905000"/>
            <a:ext cx="3488234" cy="2274391"/>
          </a:xfrm>
          <a:custGeom>
            <a:avLst/>
            <a:gdLst/>
            <a:ahLst/>
            <a:cxnLst/>
            <a:rect l="l" t="t" r="r" b="b"/>
            <a:pathLst>
              <a:path w="3488234" h="2274391">
                <a:moveTo>
                  <a:pt x="127000" y="0"/>
                </a:moveTo>
                <a:lnTo>
                  <a:pt x="3361233" y="0"/>
                </a:lnTo>
                <a:cubicBezTo>
                  <a:pt x="3430903" y="0"/>
                  <a:pt x="3488233" y="57330"/>
                  <a:pt x="3488233" y="127000"/>
                </a:cubicBezTo>
                <a:lnTo>
                  <a:pt x="3488233" y="2147391"/>
                </a:lnTo>
                <a:cubicBezTo>
                  <a:pt x="3488233" y="2217061"/>
                  <a:pt x="3430903" y="2274391"/>
                  <a:pt x="3361233" y="2274391"/>
                </a:cubicBezTo>
                <a:lnTo>
                  <a:pt x="127000" y="2274391"/>
                </a:lnTo>
                <a:cubicBezTo>
                  <a:pt x="57330" y="2274391"/>
                  <a:pt x="0" y="2217061"/>
                  <a:pt x="0" y="21473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41300" dist="114300" dir="5400000" algn="bl" rotWithShape="0">
              <a:srgbClr val="16336B">
                <a:alpha val="7059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5266" y="1905000"/>
            <a:ext cx="3488234" cy="2274391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8227516" y="21717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101600" y="0"/>
                </a:moveTo>
                <a:lnTo>
                  <a:pt x="381000" y="0"/>
                </a:lnTo>
                <a:cubicBezTo>
                  <a:pt x="436736" y="0"/>
                  <a:pt x="482600" y="45864"/>
                  <a:pt x="482600" y="101600"/>
                </a:cubicBezTo>
                <a:lnTo>
                  <a:pt x="482600" y="381000"/>
                </a:lnTo>
                <a:cubicBezTo>
                  <a:pt x="482600" y="436736"/>
                  <a:pt x="436736" y="482600"/>
                  <a:pt x="381000" y="482600"/>
                </a:cubicBezTo>
                <a:lnTo>
                  <a:pt x="101600" y="482600"/>
                </a:lnTo>
                <a:cubicBezTo>
                  <a:pt x="45864" y="482600"/>
                  <a:pt x="0" y="436736"/>
                  <a:pt x="0" y="381000"/>
                </a:cubicBezTo>
                <a:lnTo>
                  <a:pt x="0" y="101600"/>
                </a:lnTo>
                <a:cubicBezTo>
                  <a:pt x="0" y="45864"/>
                  <a:pt x="45864" y="0"/>
                  <a:pt x="101600" y="0"/>
                </a:cubicBezTo>
                <a:close/>
              </a:path>
            </a:pathLst>
          </a:custGeom>
          <a:solidFill>
            <a:srgbClr val="F5A623">
              <a:alpha val="16000"/>
            </a:srgbClr>
          </a:solidFill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7854" y="2305050"/>
            <a:ext cx="215900" cy="2159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8227516" y="2743200"/>
            <a:ext cx="235416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20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AI เป็นผู้ช่วยตรวจงาน</a:t>
            </a:r>
            <a:endParaRPr lang="th" sz="2000" dirty="0"/>
          </a:p>
        </p:txBody>
      </p:sp>
      <p:sp>
        <p:nvSpPr>
          <p:cNvPr id="37" name="Text 22"/>
          <p:cNvSpPr/>
          <p:nvPr/>
        </p:nvSpPr>
        <p:spPr>
          <a:xfrm>
            <a:off x="8227516" y="3161010"/>
            <a:ext cx="17107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200" b="1" i="0" kern="0" spc="25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Assessment Assistant</a:t>
            </a:r>
            <a:endParaRPr lang="th" sz="1200" dirty="0"/>
          </a:p>
        </p:txBody>
      </p:sp>
      <p:sp>
        <p:nvSpPr>
          <p:cNvPr id="38" name="Text 23"/>
          <p:cNvSpPr/>
          <p:nvPr/>
        </p:nvSpPr>
        <p:spPr>
          <a:xfrm>
            <a:off x="8227516" y="3465810"/>
            <a:ext cx="278001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ให้ฟีดแบ็กงานนักศึกษาตามเกณฑ์และชี้จุดที่</a:t>
            </a:r>
            <a:endParaRPr lang="th" sz="1300" dirty="0"/>
          </a:p>
        </p:txBody>
      </p:sp>
      <p:sp>
        <p:nvSpPr>
          <p:cNvPr id="39" name="Text 24"/>
          <p:cNvSpPr/>
          <p:nvPr/>
        </p:nvSpPr>
        <p:spPr>
          <a:xfrm>
            <a:off x="8227516" y="3705126"/>
            <a:ext cx="72052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300" b="0" i="0" dirty="0">
                <a:solidFill>
                  <a:srgbClr val="5561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ต้องพัฒนา</a:t>
            </a:r>
            <a:endParaRPr lang="th" sz="1300" dirty="0"/>
          </a:p>
        </p:txBody>
      </p:sp>
      <p:sp>
        <p:nvSpPr>
          <p:cNvPr id="40" name="Text 25"/>
          <p:cNvSpPr/>
          <p:nvPr/>
        </p:nvSpPr>
        <p:spPr>
          <a:xfrm>
            <a:off x="990600" y="4178300"/>
            <a:ext cx="48817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th" altLang="en-US" sz="1600" b="1" i="0" dirty="0">
                <a:solidFill>
                  <a:srgbClr val="1A22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itchFamily="34" charset="-120"/>
              </a:rPr>
              <a:t>ผลลัพธ์: ตารางพิมพ์เขียว Use Case ประจำวิชาของตนเอง</a:t>
            </a:r>
            <a:endParaRPr lang="th" sz="16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500" y="4229100"/>
            <a:ext cx="203200" cy="203200"/>
          </a:xfrm>
          <a:prstGeom prst="rect">
            <a:avLst/>
          </a:prstGeom>
        </p:spPr>
      </p:pic>
      <p:sp>
        <p:nvSpPr>
          <p:cNvPr id="42" name="CSS box-shadow background"/>
          <p:cNvSpPr/>
          <p:nvPr/>
        </p:nvSpPr>
        <p:spPr>
          <a:xfrm>
            <a:off x="698500" y="4610100"/>
            <a:ext cx="10795000" cy="2147391"/>
          </a:xfrm>
          <a:custGeom>
            <a:avLst/>
            <a:gdLst/>
            <a:ahLst/>
            <a:cxnLst/>
            <a:rect l="l" t="t" r="r" b="b"/>
            <a:pathLst>
              <a:path w="10795000" h="2147391">
                <a:moveTo>
                  <a:pt x="127000" y="0"/>
                </a:moveTo>
                <a:lnTo>
                  <a:pt x="10668000" y="0"/>
                </a:lnTo>
                <a:cubicBezTo>
                  <a:pt x="10737670" y="0"/>
                  <a:pt x="10795000" y="57330"/>
                  <a:pt x="10795000" y="127000"/>
                </a:cubicBezTo>
                <a:lnTo>
                  <a:pt x="10795000" y="2020391"/>
                </a:lnTo>
                <a:cubicBezTo>
                  <a:pt x="10795000" y="2090061"/>
                  <a:pt x="10737670" y="2147391"/>
                  <a:pt x="10668000" y="2147391"/>
                </a:cubicBezTo>
                <a:lnTo>
                  <a:pt x="127000" y="2147391"/>
                </a:lnTo>
                <a:cubicBezTo>
                  <a:pt x="57330" y="2147391"/>
                  <a:pt x="0" y="2090061"/>
                  <a:pt x="0" y="20203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 w="12700">
            <a:prstDash val="solid"/>
          </a:ln>
          <a:effectLst>
            <a:outerShdw blurRad="279400" dist="127000" dir="5400000" algn="bl" rotWithShape="0">
              <a:srgbClr val="16336B">
                <a:alpha val="7843"/>
              </a:srgbClr>
            </a:outerShdw>
          </a:effectLst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27"/>
          <p:cNvSpPr/>
          <p:nvPr/>
        </p:nvSpPr>
        <p:spPr>
          <a:xfrm>
            <a:off x="698500" y="4610100"/>
            <a:ext cx="10795000" cy="2147391"/>
          </a:xfrm>
          <a:custGeom>
            <a:avLst/>
            <a:gdLst/>
            <a:ahLst/>
            <a:cxnLst/>
            <a:rect l="l" t="t" r="r" b="b"/>
            <a:pathLst>
              <a:path w="10795000" h="2147391">
                <a:moveTo>
                  <a:pt x="127000" y="0"/>
                </a:moveTo>
                <a:lnTo>
                  <a:pt x="10668000" y="0"/>
                </a:lnTo>
                <a:cubicBezTo>
                  <a:pt x="10737670" y="0"/>
                  <a:pt x="10795000" y="57330"/>
                  <a:pt x="10795000" y="127000"/>
                </a:cubicBezTo>
                <a:lnTo>
                  <a:pt x="10795000" y="2020391"/>
                </a:lnTo>
                <a:cubicBezTo>
                  <a:pt x="10795000" y="2090061"/>
                  <a:pt x="10737670" y="2147391"/>
                  <a:pt x="10668000" y="2147391"/>
                </a:cubicBezTo>
                <a:lnTo>
                  <a:pt x="127000" y="2147391"/>
                </a:lnTo>
                <a:cubicBezTo>
                  <a:pt x="57330" y="2147391"/>
                  <a:pt x="0" y="2090061"/>
                  <a:pt x="0" y="2020391"/>
                </a:cubicBezTo>
                <a:lnTo>
                  <a:pt x="0" y="127000"/>
                </a:lnTo>
                <a:cubicBezTo>
                  <a:pt x="0" y="57330"/>
                  <a:pt x="57330" y="0"/>
                  <a:pt x="127000" y="0"/>
                </a:cubicBezTo>
                <a:close/>
              </a:path>
            </a:pathLst>
          </a:custGeom>
          <a:noFill/>
          <a:ln w="6350">
            <a:solidFill>
              <a:srgbClr val="DCE3EF"/>
            </a:solidFill>
            <a:prstDash val="solid"/>
          </a:ln>
        </p:spPr>
        <p:txBody>
          <a:bodyPr wrap="none" rtlCol="0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4616450"/>
            <a:ext cx="10782300" cy="2134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451</Words>
  <Application>Microsoft Office PowerPoint</Application>
  <PresentationFormat>Widescreen</PresentationFormat>
  <Paragraphs>130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by aippt</dc:title>
  <dc:subject>Generated by aippt</dc:subject>
  <dc:creator>aippt</dc:creator>
  <cp:lastModifiedBy>KHANCHAI SAE-TAE</cp:lastModifiedBy>
  <cp:revision>2</cp:revision>
  <dcterms:created xsi:type="dcterms:W3CDTF">2026-10-20T15:04:15Z</dcterms:created>
  <dcterms:modified xsi:type="dcterms:W3CDTF">2026-10-20T16:11:55Z</dcterms:modified>
</cp:coreProperties>
</file>